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9144000" cy="513892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8046720" cy="2011680"/>
          </a:xfrm>
          <a:prstGeom prst="rect">
            <a:avLst/>
          </a:prstGeom>
          <a:solidFill>
            <a:srgbClr val="00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7772400" cy="1828800"/>
          </a:xfrm>
          <a:prstGeom prst="rect">
            <a:avLst/>
          </a:prstGeom>
          <a:noFill/>
        </p:spPr>
        <p:txBody>
          <a:bodyPr wrap="square" lIns="45720" rIns="45720" tIns="18288" bIns="18288" anchor="t">
            <a:spAutoFit/>
          </a:bodyPr>
          <a:lstStyle/>
          <a:p>
            <a:pPr algn="l"/>
            <a:r>
              <a:rPr sz="2800" b="1" i="0">
                <a:solidFill>
                  <a:srgbClr val="FFFFFF"/>
                </a:solidFill>
                <a:latin typeface="Calibri"/>
              </a:rPr>
              <a:t>Blind Spot Paradox</a:t>
            </a:r>
          </a:p>
          <a:p>
            <a:pPr algn="l"/>
            <a:r>
              <a:rPr sz="2600" b="1" i="0">
                <a:solidFill>
                  <a:srgbClr val="FFFFFF"/>
                </a:solidFill>
                <a:latin typeface="Calibri"/>
              </a:rPr>
              <a:t>Manuscrit v65 figé</a:t>
            </a:r>
          </a:p>
          <a:p>
            <a:pPr algn="l"/>
            <a:r>
              <a:rPr sz="800" b="0" i="0">
                <a:solidFill>
                  <a:srgbClr val="FFFFFF"/>
                </a:solidFill>
                <a:latin typeface="Calibri"/>
              </a:rPr>
              <a:t/>
            </a:r>
          </a:p>
          <a:p>
            <a:pPr algn="l"/>
            <a:r>
              <a:rPr sz="1600" b="0" i="1">
                <a:solidFill>
                  <a:srgbClr val="FFFFFF"/>
                </a:solidFill>
                <a:latin typeface="Calibri"/>
              </a:rPr>
              <a:t>Huit faiblesses ICDM 2026 → huit réponses mesurées</a:t>
            </a:r>
          </a:p>
        </p:txBody>
      </p:sp>
      <p:sp>
        <p:nvSpPr>
          <p:cNvPr id="4" name="Rectangle 3"/>
          <p:cNvSpPr/>
          <p:nvPr/>
        </p:nvSpPr>
        <p:spPr>
          <a:xfrm>
            <a:off x="548640" y="2560320"/>
            <a:ext cx="8046720" cy="54864"/>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743200"/>
            <a:ext cx="9144000" cy="1645920"/>
          </a:xfrm>
          <a:prstGeom prst="rect">
            <a:avLst/>
          </a:prstGeom>
          <a:solidFill>
            <a:srgbClr val="3B6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834640"/>
            <a:ext cx="8046720" cy="420624"/>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871216"/>
            <a:ext cx="7863840" cy="347472"/>
          </a:xfrm>
          <a:prstGeom prst="rect">
            <a:avLst/>
          </a:prstGeom>
          <a:noFill/>
        </p:spPr>
        <p:txBody>
          <a:bodyPr wrap="square" lIns="45720" rIns="45720" tIns="18288" bIns="18288" anchor="ctr">
            <a:spAutoFit/>
          </a:bodyPr>
          <a:lstStyle/>
          <a:p>
            <a:pPr algn="l"/>
            <a:r>
              <a:rPr sz="1400" b="1" i="0">
                <a:solidFill>
                  <a:srgbClr val="FFFFFF"/>
                </a:solidFill>
                <a:latin typeface="Calibri"/>
              </a:rPr>
              <a:t>Point Hebdo C.S. du 28/09/2026</a:t>
            </a:r>
          </a:p>
        </p:txBody>
      </p:sp>
      <p:sp>
        <p:nvSpPr>
          <p:cNvPr id="8" name="TextBox 7"/>
          <p:cNvSpPr txBox="1"/>
          <p:nvPr/>
        </p:nvSpPr>
        <p:spPr>
          <a:xfrm>
            <a:off x="640080" y="3310128"/>
            <a:ext cx="7863840" cy="347472"/>
          </a:xfrm>
          <a:prstGeom prst="rect">
            <a:avLst/>
          </a:prstGeom>
          <a:noFill/>
        </p:spPr>
        <p:txBody>
          <a:bodyPr wrap="square" lIns="45720" rIns="45720" tIns="18288" bIns="18288" anchor="ctr">
            <a:spAutoFit/>
          </a:bodyPr>
          <a:lstStyle/>
          <a:p>
            <a:pPr algn="l"/>
            <a:r>
              <a:rPr sz="1200" b="0" i="0">
                <a:solidFill>
                  <a:srgbClr val="FFFFFF"/>
                </a:solidFill>
                <a:latin typeface="Calibri"/>
              </a:rPr>
              <a:t>R. Minato  —  Résultats, points ouverts, soumission</a:t>
            </a:r>
          </a:p>
        </p:txBody>
      </p:sp>
      <p:sp>
        <p:nvSpPr>
          <p:cNvPr id="9" name="TextBox 8"/>
          <p:cNvSpPr txBox="1"/>
          <p:nvPr/>
        </p:nvSpPr>
        <p:spPr>
          <a:xfrm>
            <a:off x="8229600" y="4800600"/>
            <a:ext cx="731520" cy="274320"/>
          </a:xfrm>
          <a:prstGeom prst="rect">
            <a:avLst/>
          </a:prstGeom>
          <a:noFill/>
        </p:spPr>
        <p:txBody>
          <a:bodyPr wrap="square" lIns="45720" rIns="45720" tIns="18288" bIns="18288" anchor="t">
            <a:spAutoFit/>
          </a:bodyPr>
          <a:lstStyle/>
          <a:p>
            <a:pPr algn="r"/>
            <a:r>
              <a:rPr sz="900" b="0" i="0">
                <a:solidFill>
                  <a:srgbClr val="FFFFFF"/>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Plan</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2</a:t>
            </a:r>
          </a:p>
        </p:txBody>
      </p:sp>
      <p:sp>
        <p:nvSpPr>
          <p:cNvPr id="5" name="Oval 4"/>
          <p:cNvSpPr/>
          <p:nvPr/>
        </p:nvSpPr>
        <p:spPr>
          <a:xfrm>
            <a:off x="457200" y="731520"/>
            <a:ext cx="502920" cy="502920"/>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731520"/>
            <a:ext cx="502920" cy="502920"/>
          </a:xfrm>
          <a:prstGeom prst="rect">
            <a:avLst/>
          </a:prstGeom>
          <a:noFill/>
        </p:spPr>
        <p:txBody>
          <a:bodyPr wrap="square" lIns="45720" rIns="45720" tIns="18288" bIns="18288" anchor="ctr">
            <a:spAutoFit/>
          </a:bodyPr>
          <a:lstStyle/>
          <a:p>
            <a:pPr algn="ctr"/>
            <a:r>
              <a:rPr sz="1800" b="1" i="0">
                <a:solidFill>
                  <a:srgbClr val="FFFFFF"/>
                </a:solidFill>
                <a:latin typeface="Calibri"/>
              </a:rPr>
              <a:t>A</a:t>
            </a:r>
          </a:p>
        </p:txBody>
      </p:sp>
      <p:sp>
        <p:nvSpPr>
          <p:cNvPr id="7" name="TextBox 6"/>
          <p:cNvSpPr txBox="1"/>
          <p:nvPr/>
        </p:nvSpPr>
        <p:spPr>
          <a:xfrm>
            <a:off x="1188720" y="713232"/>
            <a:ext cx="7315200" cy="292608"/>
          </a:xfrm>
          <a:prstGeom prst="rect">
            <a:avLst/>
          </a:prstGeom>
          <a:noFill/>
        </p:spPr>
        <p:txBody>
          <a:bodyPr wrap="square" lIns="45720" rIns="45720" tIns="18288" bIns="18288" anchor="t">
            <a:spAutoFit/>
          </a:bodyPr>
          <a:lstStyle/>
          <a:p>
            <a:pPr algn="l"/>
            <a:r>
              <a:rPr sz="1100" b="1" i="0">
                <a:solidFill>
                  <a:srgbClr val="2C3E50"/>
                </a:solidFill>
                <a:latin typeface="Calibri"/>
              </a:rPr>
              <a:t>A — Le point de départ</a:t>
            </a:r>
          </a:p>
        </p:txBody>
      </p:sp>
      <p:sp>
        <p:nvSpPr>
          <p:cNvPr id="8" name="TextBox 7"/>
          <p:cNvSpPr txBox="1"/>
          <p:nvPr/>
        </p:nvSpPr>
        <p:spPr>
          <a:xfrm>
            <a:off x="1188720" y="1005840"/>
            <a:ext cx="7315200" cy="274320"/>
          </a:xfrm>
          <a:prstGeom prst="rect">
            <a:avLst/>
          </a:prstGeom>
          <a:noFill/>
        </p:spPr>
        <p:txBody>
          <a:bodyPr wrap="square" lIns="45720" rIns="45720" tIns="18288" bIns="18288" anchor="t">
            <a:spAutoFit/>
          </a:bodyPr>
          <a:lstStyle/>
          <a:p>
            <a:pPr algn="l"/>
            <a:r>
              <a:rPr sz="900" b="0" i="0">
                <a:solidFill>
                  <a:srgbClr val="5D6D7E"/>
                </a:solidFill>
                <a:latin typeface="Calibri"/>
              </a:rPr>
              <a:t>Ce que les relecteurs ont reproché, et le vocabulaire pour en parler</a:t>
            </a:r>
          </a:p>
        </p:txBody>
      </p:sp>
      <p:sp>
        <p:nvSpPr>
          <p:cNvPr id="9" name="Oval 8"/>
          <p:cNvSpPr/>
          <p:nvPr/>
        </p:nvSpPr>
        <p:spPr>
          <a:xfrm>
            <a:off x="457200" y="1499616"/>
            <a:ext cx="502920" cy="502920"/>
          </a:xfrm>
          <a:prstGeom prst="ellipse">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499616"/>
            <a:ext cx="502920" cy="502920"/>
          </a:xfrm>
          <a:prstGeom prst="rect">
            <a:avLst/>
          </a:prstGeom>
          <a:noFill/>
        </p:spPr>
        <p:txBody>
          <a:bodyPr wrap="square" lIns="45720" rIns="45720" tIns="18288" bIns="18288" anchor="ctr">
            <a:spAutoFit/>
          </a:bodyPr>
          <a:lstStyle/>
          <a:p>
            <a:pPr algn="ctr"/>
            <a:r>
              <a:rPr sz="1800" b="1" i="0">
                <a:solidFill>
                  <a:srgbClr val="FFFFFF"/>
                </a:solidFill>
                <a:latin typeface="Calibri"/>
              </a:rPr>
              <a:t>B</a:t>
            </a:r>
          </a:p>
        </p:txBody>
      </p:sp>
      <p:sp>
        <p:nvSpPr>
          <p:cNvPr id="11" name="TextBox 10"/>
          <p:cNvSpPr txBox="1"/>
          <p:nvPr/>
        </p:nvSpPr>
        <p:spPr>
          <a:xfrm>
            <a:off x="1188720" y="1481328"/>
            <a:ext cx="7315200" cy="292608"/>
          </a:xfrm>
          <a:prstGeom prst="rect">
            <a:avLst/>
          </a:prstGeom>
          <a:noFill/>
        </p:spPr>
        <p:txBody>
          <a:bodyPr wrap="square" lIns="45720" rIns="45720" tIns="18288" bIns="18288" anchor="t">
            <a:spAutoFit/>
          </a:bodyPr>
          <a:lstStyle/>
          <a:p>
            <a:pPr algn="l"/>
            <a:r>
              <a:rPr sz="1100" b="1" i="0">
                <a:solidFill>
                  <a:srgbClr val="2C3E50"/>
                </a:solidFill>
                <a:latin typeface="Calibri"/>
              </a:rPr>
              <a:t>B — Tableau de bord</a:t>
            </a:r>
          </a:p>
        </p:txBody>
      </p:sp>
      <p:sp>
        <p:nvSpPr>
          <p:cNvPr id="12" name="TextBox 11"/>
          <p:cNvSpPr txBox="1"/>
          <p:nvPr/>
        </p:nvSpPr>
        <p:spPr>
          <a:xfrm>
            <a:off x="1188720" y="1773936"/>
            <a:ext cx="7315200" cy="274320"/>
          </a:xfrm>
          <a:prstGeom prst="rect">
            <a:avLst/>
          </a:prstGeom>
          <a:noFill/>
        </p:spPr>
        <p:txBody>
          <a:bodyPr wrap="square" lIns="45720" rIns="45720" tIns="18288" bIns="18288" anchor="t">
            <a:spAutoFit/>
          </a:bodyPr>
          <a:lstStyle/>
          <a:p>
            <a:pPr algn="l"/>
            <a:r>
              <a:rPr sz="900" b="0" i="0">
                <a:solidFill>
                  <a:srgbClr val="5D6D7E"/>
                </a:solidFill>
                <a:latin typeface="Calibri"/>
              </a:rPr>
              <a:t>Huit faiblesses, huit chantiers, huit résultats</a:t>
            </a:r>
          </a:p>
        </p:txBody>
      </p:sp>
      <p:sp>
        <p:nvSpPr>
          <p:cNvPr id="13" name="Oval 12"/>
          <p:cNvSpPr/>
          <p:nvPr/>
        </p:nvSpPr>
        <p:spPr>
          <a:xfrm>
            <a:off x="457200" y="2267712"/>
            <a:ext cx="502920" cy="5029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267712"/>
            <a:ext cx="502920" cy="502920"/>
          </a:xfrm>
          <a:prstGeom prst="rect">
            <a:avLst/>
          </a:prstGeom>
          <a:noFill/>
        </p:spPr>
        <p:txBody>
          <a:bodyPr wrap="square" lIns="45720" rIns="45720" tIns="18288" bIns="18288" anchor="ctr">
            <a:spAutoFit/>
          </a:bodyPr>
          <a:lstStyle/>
          <a:p>
            <a:pPr algn="ctr"/>
            <a:r>
              <a:rPr sz="1800" b="1" i="0">
                <a:solidFill>
                  <a:srgbClr val="FFFFFF"/>
                </a:solidFill>
                <a:latin typeface="Calibri"/>
              </a:rPr>
              <a:t>C</a:t>
            </a:r>
          </a:p>
        </p:txBody>
      </p:sp>
      <p:sp>
        <p:nvSpPr>
          <p:cNvPr id="15" name="TextBox 14"/>
          <p:cNvSpPr txBox="1"/>
          <p:nvPr/>
        </p:nvSpPr>
        <p:spPr>
          <a:xfrm>
            <a:off x="1188720" y="2249424"/>
            <a:ext cx="7315200" cy="292608"/>
          </a:xfrm>
          <a:prstGeom prst="rect">
            <a:avLst/>
          </a:prstGeom>
          <a:noFill/>
        </p:spPr>
        <p:txBody>
          <a:bodyPr wrap="square" lIns="45720" rIns="45720" tIns="18288" bIns="18288" anchor="t">
            <a:spAutoFit/>
          </a:bodyPr>
          <a:lstStyle/>
          <a:p>
            <a:pPr algn="l"/>
            <a:r>
              <a:rPr sz="1100" b="1" i="0">
                <a:solidFill>
                  <a:srgbClr val="2C3E50"/>
                </a:solidFill>
                <a:latin typeface="Calibri"/>
              </a:rPr>
              <a:t>C — Résultats, point par point</a:t>
            </a:r>
          </a:p>
        </p:txBody>
      </p:sp>
      <p:sp>
        <p:nvSpPr>
          <p:cNvPr id="16" name="TextBox 15"/>
          <p:cNvSpPr txBox="1"/>
          <p:nvPr/>
        </p:nvSpPr>
        <p:spPr>
          <a:xfrm>
            <a:off x="1188720" y="2542032"/>
            <a:ext cx="7315200" cy="274320"/>
          </a:xfrm>
          <a:prstGeom prst="rect">
            <a:avLst/>
          </a:prstGeom>
          <a:noFill/>
        </p:spPr>
        <p:txBody>
          <a:bodyPr wrap="square" lIns="45720" rIns="45720" tIns="18288" bIns="18288" anchor="t">
            <a:spAutoFit/>
          </a:bodyPr>
          <a:lstStyle/>
          <a:p>
            <a:pPr algn="l"/>
            <a:r>
              <a:rPr sz="900" b="0" i="0">
                <a:solidFill>
                  <a:srgbClr val="5D6D7E"/>
                </a:solidFill>
                <a:latin typeface="Calibri"/>
              </a:rPr>
              <a:t>Ce qui répond, ce qui dépasse la demande, ce qui surprend</a:t>
            </a:r>
          </a:p>
        </p:txBody>
      </p:sp>
      <p:sp>
        <p:nvSpPr>
          <p:cNvPr id="17" name="Oval 16"/>
          <p:cNvSpPr/>
          <p:nvPr/>
        </p:nvSpPr>
        <p:spPr>
          <a:xfrm>
            <a:off x="457200" y="3035808"/>
            <a:ext cx="502920" cy="502920"/>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035808"/>
            <a:ext cx="502920" cy="502920"/>
          </a:xfrm>
          <a:prstGeom prst="rect">
            <a:avLst/>
          </a:prstGeom>
          <a:noFill/>
        </p:spPr>
        <p:txBody>
          <a:bodyPr wrap="square" lIns="45720" rIns="45720" tIns="18288" bIns="18288" anchor="ctr">
            <a:spAutoFit/>
          </a:bodyPr>
          <a:lstStyle/>
          <a:p>
            <a:pPr algn="ctr"/>
            <a:r>
              <a:rPr sz="1800" b="1" i="0">
                <a:solidFill>
                  <a:srgbClr val="FFFFFF"/>
                </a:solidFill>
                <a:latin typeface="Calibri"/>
              </a:rPr>
              <a:t>D</a:t>
            </a:r>
          </a:p>
        </p:txBody>
      </p:sp>
      <p:sp>
        <p:nvSpPr>
          <p:cNvPr id="19" name="TextBox 18"/>
          <p:cNvSpPr txBox="1"/>
          <p:nvPr/>
        </p:nvSpPr>
        <p:spPr>
          <a:xfrm>
            <a:off x="1188720" y="3017520"/>
            <a:ext cx="7315200" cy="292608"/>
          </a:xfrm>
          <a:prstGeom prst="rect">
            <a:avLst/>
          </a:prstGeom>
          <a:noFill/>
        </p:spPr>
        <p:txBody>
          <a:bodyPr wrap="square" lIns="45720" rIns="45720" tIns="18288" bIns="18288" anchor="t">
            <a:spAutoFit/>
          </a:bodyPr>
          <a:lstStyle/>
          <a:p>
            <a:pPr algn="l"/>
            <a:r>
              <a:rPr sz="1100" b="1" i="0">
                <a:solidFill>
                  <a:srgbClr val="2C3E50"/>
                </a:solidFill>
                <a:latin typeface="Calibri"/>
              </a:rPr>
              <a:t>D — Ce qui reste</a:t>
            </a:r>
          </a:p>
        </p:txBody>
      </p:sp>
      <p:sp>
        <p:nvSpPr>
          <p:cNvPr id="20" name="TextBox 19"/>
          <p:cNvSpPr txBox="1"/>
          <p:nvPr/>
        </p:nvSpPr>
        <p:spPr>
          <a:xfrm>
            <a:off x="1188720" y="3310128"/>
            <a:ext cx="7315200" cy="274320"/>
          </a:xfrm>
          <a:prstGeom prst="rect">
            <a:avLst/>
          </a:prstGeom>
          <a:noFill/>
        </p:spPr>
        <p:txBody>
          <a:bodyPr wrap="square" lIns="45720" rIns="45720" tIns="18288" bIns="18288" anchor="t">
            <a:spAutoFit/>
          </a:bodyPr>
          <a:lstStyle/>
          <a:p>
            <a:pPr algn="l"/>
            <a:r>
              <a:rPr sz="900" b="0" i="0">
                <a:solidFill>
                  <a:srgbClr val="5D6D7E"/>
                </a:solidFill>
                <a:latin typeface="Calibri"/>
              </a:rPr>
              <a:t>En suspens et à ré-auditer</a:t>
            </a:r>
          </a:p>
        </p:txBody>
      </p:sp>
      <p:sp>
        <p:nvSpPr>
          <p:cNvPr id="21" name="Oval 20"/>
          <p:cNvSpPr/>
          <p:nvPr/>
        </p:nvSpPr>
        <p:spPr>
          <a:xfrm>
            <a:off x="457200" y="3803904"/>
            <a:ext cx="502920" cy="50292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803904"/>
            <a:ext cx="502920" cy="502920"/>
          </a:xfrm>
          <a:prstGeom prst="rect">
            <a:avLst/>
          </a:prstGeom>
          <a:noFill/>
        </p:spPr>
        <p:txBody>
          <a:bodyPr wrap="square" lIns="45720" rIns="45720" tIns="18288" bIns="18288" anchor="ctr">
            <a:spAutoFit/>
          </a:bodyPr>
          <a:lstStyle/>
          <a:p>
            <a:pPr algn="ctr"/>
            <a:r>
              <a:rPr sz="1800" b="1" i="0">
                <a:solidFill>
                  <a:srgbClr val="FFFFFF"/>
                </a:solidFill>
                <a:latin typeface="Calibri"/>
              </a:rPr>
              <a:t>E</a:t>
            </a:r>
          </a:p>
        </p:txBody>
      </p:sp>
      <p:sp>
        <p:nvSpPr>
          <p:cNvPr id="23" name="TextBox 22"/>
          <p:cNvSpPr txBox="1"/>
          <p:nvPr/>
        </p:nvSpPr>
        <p:spPr>
          <a:xfrm>
            <a:off x="1188720" y="3785616"/>
            <a:ext cx="7315200" cy="292608"/>
          </a:xfrm>
          <a:prstGeom prst="rect">
            <a:avLst/>
          </a:prstGeom>
          <a:noFill/>
        </p:spPr>
        <p:txBody>
          <a:bodyPr wrap="square" lIns="45720" rIns="45720" tIns="18288" bIns="18288" anchor="t">
            <a:spAutoFit/>
          </a:bodyPr>
          <a:lstStyle/>
          <a:p>
            <a:pPr algn="l"/>
            <a:r>
              <a:rPr sz="1100" b="1" i="0">
                <a:solidFill>
                  <a:srgbClr val="2C3E50"/>
                </a:solidFill>
                <a:latin typeface="Calibri"/>
              </a:rPr>
              <a:t>E — Publication</a:t>
            </a:r>
          </a:p>
        </p:txBody>
      </p:sp>
      <p:sp>
        <p:nvSpPr>
          <p:cNvPr id="24" name="TextBox 23"/>
          <p:cNvSpPr txBox="1"/>
          <p:nvPr/>
        </p:nvSpPr>
        <p:spPr>
          <a:xfrm>
            <a:off x="1188720" y="4078224"/>
            <a:ext cx="7315200" cy="274320"/>
          </a:xfrm>
          <a:prstGeom prst="rect">
            <a:avLst/>
          </a:prstGeom>
          <a:noFill/>
        </p:spPr>
        <p:txBody>
          <a:bodyPr wrap="square" lIns="45720" rIns="45720" tIns="18288" bIns="18288" anchor="t">
            <a:spAutoFit/>
          </a:bodyPr>
          <a:lstStyle/>
          <a:p>
            <a:pPr algn="l"/>
            <a:r>
              <a:rPr sz="900" b="0" i="0">
                <a:solidFill>
                  <a:srgbClr val="5D6D7E"/>
                </a:solidFill>
                <a:latin typeface="Calibri"/>
              </a:rPr>
              <a:t>Revue cible et solutions de repli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371600"/>
            <a:ext cx="9144000" cy="237744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691640"/>
            <a:ext cx="1371600" cy="1371600"/>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91640"/>
            <a:ext cx="1371600" cy="1371600"/>
          </a:xfrm>
          <a:prstGeom prst="rect">
            <a:avLst/>
          </a:prstGeom>
          <a:noFill/>
        </p:spPr>
        <p:txBody>
          <a:bodyPr wrap="square" lIns="45720" rIns="45720" tIns="18288" bIns="18288" anchor="ctr">
            <a:spAutoFit/>
          </a:bodyPr>
          <a:lstStyle/>
          <a:p>
            <a:pPr algn="ctr"/>
            <a:r>
              <a:rPr sz="4200" b="1" i="0">
                <a:solidFill>
                  <a:srgbClr val="FFFFFF"/>
                </a:solidFill>
                <a:latin typeface="Calibri"/>
              </a:rPr>
              <a:t>A</a:t>
            </a:r>
          </a:p>
        </p:txBody>
      </p:sp>
      <p:sp>
        <p:nvSpPr>
          <p:cNvPr id="5" name="TextBox 4"/>
          <p:cNvSpPr txBox="1"/>
          <p:nvPr/>
        </p:nvSpPr>
        <p:spPr>
          <a:xfrm>
            <a:off x="2926080" y="1874519"/>
            <a:ext cx="5486400" cy="548640"/>
          </a:xfrm>
          <a:prstGeom prst="rect">
            <a:avLst/>
          </a:prstGeom>
          <a:noFill/>
        </p:spPr>
        <p:txBody>
          <a:bodyPr wrap="square" lIns="45720" rIns="45720" tIns="18288" bIns="18288" anchor="t">
            <a:spAutoFit/>
          </a:bodyPr>
          <a:lstStyle/>
          <a:p>
            <a:pPr algn="l"/>
            <a:r>
              <a:rPr sz="2600" b="1" i="0">
                <a:solidFill>
                  <a:srgbClr val="FFFFFF"/>
                </a:solidFill>
                <a:latin typeface="Calibri"/>
              </a:rPr>
              <a:t>Le point de départ</a:t>
            </a:r>
          </a:p>
        </p:txBody>
      </p:sp>
      <p:sp>
        <p:nvSpPr>
          <p:cNvPr id="6" name="TextBox 5"/>
          <p:cNvSpPr txBox="1"/>
          <p:nvPr/>
        </p:nvSpPr>
        <p:spPr>
          <a:xfrm>
            <a:off x="2926080" y="2697480"/>
            <a:ext cx="5486400" cy="731520"/>
          </a:xfrm>
          <a:prstGeom prst="rect">
            <a:avLst/>
          </a:prstGeom>
          <a:noFill/>
        </p:spPr>
        <p:txBody>
          <a:bodyPr wrap="square" lIns="45720" rIns="45720" tIns="18288" bIns="18288" anchor="t">
            <a:spAutoFit/>
          </a:bodyPr>
          <a:lstStyle/>
          <a:p>
            <a:pPr algn="l"/>
            <a:r>
              <a:rPr sz="1200" b="0" i="0">
                <a:solidFill>
                  <a:srgbClr val="D5DBDB"/>
                </a:solidFill>
                <a:latin typeface="Calibri"/>
              </a:rPr>
              <a:t>Quatre relecteurs, deux rejets fermes, deux avis marginaux  ·  Phénomène jugé intéressant, théorie jugée insuffisante</a:t>
            </a:r>
          </a:p>
        </p:txBody>
      </p:sp>
      <p:sp>
        <p:nvSpPr>
          <p:cNvPr id="7" name="TextBox 6"/>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Ce que les relecteurs ont reproché</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4</a:t>
            </a:r>
          </a:p>
        </p:txBody>
      </p:sp>
      <p:sp>
        <p:nvSpPr>
          <p:cNvPr id="5" name="Rectangle 4"/>
          <p:cNvSpPr/>
          <p:nvPr/>
        </p:nvSpPr>
        <p:spPr>
          <a:xfrm>
            <a:off x="274320" y="658368"/>
            <a:ext cx="594360" cy="2743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8368"/>
            <a:ext cx="594360" cy="274320"/>
          </a:xfrm>
          <a:prstGeom prst="rect">
            <a:avLst/>
          </a:prstGeom>
          <a:noFill/>
        </p:spPr>
        <p:txBody>
          <a:bodyPr wrap="square" lIns="45720" rIns="45720" tIns="18288" bIns="18288" anchor="ctr">
            <a:spAutoFit/>
          </a:bodyPr>
          <a:lstStyle/>
          <a:p>
            <a:pPr algn="ctr"/>
            <a:r>
              <a:rPr sz="900" b="1" i="0">
                <a:solidFill>
                  <a:srgbClr val="FFFFFF"/>
                </a:solidFill>
                <a:latin typeface="Calibri"/>
              </a:rPr>
              <a:t>#</a:t>
            </a:r>
          </a:p>
        </p:txBody>
      </p:sp>
      <p:sp>
        <p:nvSpPr>
          <p:cNvPr id="7" name="Rectangle 6"/>
          <p:cNvSpPr/>
          <p:nvPr/>
        </p:nvSpPr>
        <p:spPr>
          <a:xfrm>
            <a:off x="868680" y="658368"/>
            <a:ext cx="5943600" cy="2743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58368"/>
            <a:ext cx="5943600" cy="274320"/>
          </a:xfrm>
          <a:prstGeom prst="rect">
            <a:avLst/>
          </a:prstGeom>
          <a:noFill/>
        </p:spPr>
        <p:txBody>
          <a:bodyPr wrap="square" lIns="45720" rIns="45720" tIns="18288" bIns="18288" anchor="ctr">
            <a:spAutoFit/>
          </a:bodyPr>
          <a:lstStyle/>
          <a:p>
            <a:pPr algn="l"/>
            <a:r>
              <a:rPr sz="900" b="1" i="0">
                <a:solidFill>
                  <a:srgbClr val="FFFFFF"/>
                </a:solidFill>
                <a:latin typeface="Calibri"/>
              </a:rPr>
              <a:t>  Faiblesse</a:t>
            </a:r>
          </a:p>
        </p:txBody>
      </p:sp>
      <p:sp>
        <p:nvSpPr>
          <p:cNvPr id="9" name="Rectangle 8"/>
          <p:cNvSpPr/>
          <p:nvPr/>
        </p:nvSpPr>
        <p:spPr>
          <a:xfrm>
            <a:off x="6812280" y="658368"/>
            <a:ext cx="2057400" cy="2743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658368"/>
            <a:ext cx="2057400" cy="274320"/>
          </a:xfrm>
          <a:prstGeom prst="rect">
            <a:avLst/>
          </a:prstGeom>
          <a:noFill/>
        </p:spPr>
        <p:txBody>
          <a:bodyPr wrap="square" lIns="45720" rIns="45720" tIns="18288" bIns="18288" anchor="ctr">
            <a:spAutoFit/>
          </a:bodyPr>
          <a:lstStyle/>
          <a:p>
            <a:pPr algn="l"/>
            <a:r>
              <a:rPr sz="900" b="1" i="0">
                <a:solidFill>
                  <a:srgbClr val="FFFFFF"/>
                </a:solidFill>
                <a:latin typeface="Calibri"/>
              </a:rPr>
              <a:t>  Origine</a:t>
            </a:r>
          </a:p>
        </p:txBody>
      </p:sp>
      <p:sp>
        <p:nvSpPr>
          <p:cNvPr id="11" name="Rectangle 10"/>
          <p:cNvSpPr/>
          <p:nvPr/>
        </p:nvSpPr>
        <p:spPr>
          <a:xfrm>
            <a:off x="274320" y="932688"/>
            <a:ext cx="859536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932688"/>
            <a:ext cx="594360" cy="402336"/>
          </a:xfrm>
          <a:prstGeom prst="rect">
            <a:avLst/>
          </a:prstGeom>
          <a:noFill/>
        </p:spPr>
        <p:txBody>
          <a:bodyPr wrap="square" lIns="45720" rIns="45720" tIns="18288" bIns="18288" anchor="ctr">
            <a:spAutoFit/>
          </a:bodyPr>
          <a:lstStyle/>
          <a:p>
            <a:pPr algn="ctr"/>
            <a:r>
              <a:rPr sz="900" b="1" i="0">
                <a:solidFill>
                  <a:srgbClr val="E08000"/>
                </a:solidFill>
                <a:latin typeface="Calibri"/>
              </a:rPr>
              <a:t>W1</a:t>
            </a:r>
          </a:p>
        </p:txBody>
      </p:sp>
      <p:sp>
        <p:nvSpPr>
          <p:cNvPr id="13" name="TextBox 12"/>
          <p:cNvSpPr txBox="1"/>
          <p:nvPr/>
        </p:nvSpPr>
        <p:spPr>
          <a:xfrm>
            <a:off x="868680" y="932688"/>
            <a:ext cx="5943600" cy="402336"/>
          </a:xfrm>
          <a:prstGeom prst="rect">
            <a:avLst/>
          </a:prstGeom>
          <a:noFill/>
        </p:spPr>
        <p:txBody>
          <a:bodyPr wrap="square" lIns="45720" rIns="45720" tIns="18288" bIns="18288" anchor="t">
            <a:spAutoFit/>
          </a:bodyPr>
          <a:lstStyle/>
          <a:p>
            <a:pPr algn="l"/>
            <a:r>
              <a:rPr sz="800" b="0" i="0">
                <a:solidFill>
                  <a:srgbClr val="5D6D7E"/>
                </a:solidFill>
                <a:latin typeface="Calibri"/>
              </a:rPr>
              <a:t>La borne centrale supprime un terme positif d'une inégalité, ignore la remise à zéro du compteur, et conclut à une probabilité d'alarme nulle à horizon infini</a:t>
            </a:r>
          </a:p>
        </p:txBody>
      </p:sp>
      <p:sp>
        <p:nvSpPr>
          <p:cNvPr id="14" name="TextBox 13"/>
          <p:cNvSpPr txBox="1"/>
          <p:nvPr/>
        </p:nvSpPr>
        <p:spPr>
          <a:xfrm>
            <a:off x="6812280" y="932688"/>
            <a:ext cx="2057400" cy="402336"/>
          </a:xfrm>
          <a:prstGeom prst="rect">
            <a:avLst/>
          </a:prstGeom>
          <a:noFill/>
        </p:spPr>
        <p:txBody>
          <a:bodyPr wrap="square" lIns="45720" rIns="45720" tIns="18288" bIns="18288" anchor="ctr">
            <a:spAutoFit/>
          </a:bodyPr>
          <a:lstStyle/>
          <a:p>
            <a:pPr algn="l"/>
            <a:r>
              <a:rPr sz="800" b="0" i="0">
                <a:solidFill>
                  <a:srgbClr val="2C3E50"/>
                </a:solidFill>
                <a:latin typeface="Calibri"/>
              </a:rPr>
              <a:t>3 relecteurs</a:t>
            </a:r>
          </a:p>
        </p:txBody>
      </p:sp>
      <p:sp>
        <p:nvSpPr>
          <p:cNvPr id="15" name="Rectangle 14"/>
          <p:cNvSpPr/>
          <p:nvPr/>
        </p:nvSpPr>
        <p:spPr>
          <a:xfrm>
            <a:off x="274320" y="1335024"/>
            <a:ext cx="8595360" cy="402336"/>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1335024"/>
            <a:ext cx="594360" cy="402336"/>
          </a:xfrm>
          <a:prstGeom prst="rect">
            <a:avLst/>
          </a:prstGeom>
          <a:noFill/>
        </p:spPr>
        <p:txBody>
          <a:bodyPr wrap="square" lIns="45720" rIns="45720" tIns="18288" bIns="18288" anchor="ctr">
            <a:spAutoFit/>
          </a:bodyPr>
          <a:lstStyle/>
          <a:p>
            <a:pPr algn="ctr"/>
            <a:r>
              <a:rPr sz="900" b="1" i="0">
                <a:solidFill>
                  <a:srgbClr val="E08000"/>
                </a:solidFill>
                <a:latin typeface="Calibri"/>
              </a:rPr>
              <a:t>W2</a:t>
            </a:r>
          </a:p>
        </p:txBody>
      </p:sp>
      <p:sp>
        <p:nvSpPr>
          <p:cNvPr id="17" name="TextBox 16"/>
          <p:cNvSpPr txBox="1"/>
          <p:nvPr/>
        </p:nvSpPr>
        <p:spPr>
          <a:xfrm>
            <a:off x="868680" y="1335024"/>
            <a:ext cx="5943600" cy="402336"/>
          </a:xfrm>
          <a:prstGeom prst="rect">
            <a:avLst/>
          </a:prstGeom>
          <a:noFill/>
        </p:spPr>
        <p:txBody>
          <a:bodyPr wrap="square" lIns="45720" rIns="45720" tIns="18288" bIns="18288" anchor="t">
            <a:spAutoFit/>
          </a:bodyPr>
          <a:lstStyle/>
          <a:p>
            <a:pPr algn="l"/>
            <a:r>
              <a:rPr sz="800" b="0" i="0">
                <a:solidFill>
                  <a:srgbClr val="5D6D7E"/>
                </a:solidFill>
                <a:latin typeface="Calibri"/>
              </a:rPr>
              <a:t>La course entre adaptation et détection compare une variable aléatoire à une constante ; la borne d'indépendance entre arbres est affirmée, pas démontrée</a:t>
            </a:r>
          </a:p>
        </p:txBody>
      </p:sp>
      <p:sp>
        <p:nvSpPr>
          <p:cNvPr id="18" name="TextBox 17"/>
          <p:cNvSpPr txBox="1"/>
          <p:nvPr/>
        </p:nvSpPr>
        <p:spPr>
          <a:xfrm>
            <a:off x="6812280" y="1335024"/>
            <a:ext cx="2057400" cy="402336"/>
          </a:xfrm>
          <a:prstGeom prst="rect">
            <a:avLst/>
          </a:prstGeom>
          <a:noFill/>
        </p:spPr>
        <p:txBody>
          <a:bodyPr wrap="square" lIns="45720" rIns="45720" tIns="18288" bIns="18288" anchor="ctr">
            <a:spAutoFit/>
          </a:bodyPr>
          <a:lstStyle/>
          <a:p>
            <a:pPr algn="l"/>
            <a:r>
              <a:rPr sz="800" b="0" i="0">
                <a:solidFill>
                  <a:srgbClr val="2C3E50"/>
                </a:solidFill>
                <a:latin typeface="Calibri"/>
              </a:rPr>
              <a:t>3 relecteurs</a:t>
            </a:r>
          </a:p>
        </p:txBody>
      </p:sp>
      <p:sp>
        <p:nvSpPr>
          <p:cNvPr id="19" name="Rectangle 18"/>
          <p:cNvSpPr/>
          <p:nvPr/>
        </p:nvSpPr>
        <p:spPr>
          <a:xfrm>
            <a:off x="274320" y="1737360"/>
            <a:ext cx="859536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1737360"/>
            <a:ext cx="594360" cy="402336"/>
          </a:xfrm>
          <a:prstGeom prst="rect">
            <a:avLst/>
          </a:prstGeom>
          <a:noFill/>
        </p:spPr>
        <p:txBody>
          <a:bodyPr wrap="square" lIns="45720" rIns="45720" tIns="18288" bIns="18288" anchor="ctr">
            <a:spAutoFit/>
          </a:bodyPr>
          <a:lstStyle/>
          <a:p>
            <a:pPr algn="ctr"/>
            <a:r>
              <a:rPr sz="900" b="1" i="0">
                <a:solidFill>
                  <a:srgbClr val="E08000"/>
                </a:solidFill>
                <a:latin typeface="Calibri"/>
              </a:rPr>
              <a:t>W3</a:t>
            </a:r>
          </a:p>
        </p:txBody>
      </p:sp>
      <p:sp>
        <p:nvSpPr>
          <p:cNvPr id="21" name="TextBox 20"/>
          <p:cNvSpPr txBox="1"/>
          <p:nvPr/>
        </p:nvSpPr>
        <p:spPr>
          <a:xfrm>
            <a:off x="868680" y="1737360"/>
            <a:ext cx="5943600" cy="402336"/>
          </a:xfrm>
          <a:prstGeom prst="rect">
            <a:avLst/>
          </a:prstGeom>
          <a:noFill/>
        </p:spPr>
        <p:txBody>
          <a:bodyPr wrap="square" lIns="45720" rIns="45720" tIns="18288" bIns="18288" anchor="t">
            <a:spAutoFit/>
          </a:bodyPr>
          <a:lstStyle/>
          <a:p>
            <a:pPr algn="l"/>
            <a:r>
              <a:rPr sz="800" b="0" i="0">
                <a:solidFill>
                  <a:srgbClr val="5D6D7E"/>
                </a:solidFill>
                <a:latin typeface="Calibri"/>
              </a:rPr>
              <a:t>L'adaptation de la forêt est datée au premier arbre remplacé ; aucune trajectoire synchronisée ne relie remplacement, erreur et statistique du moniteur</a:t>
            </a:r>
          </a:p>
        </p:txBody>
      </p:sp>
      <p:sp>
        <p:nvSpPr>
          <p:cNvPr id="22" name="TextBox 21"/>
          <p:cNvSpPr txBox="1"/>
          <p:nvPr/>
        </p:nvSpPr>
        <p:spPr>
          <a:xfrm>
            <a:off x="6812280" y="1737360"/>
            <a:ext cx="2057400" cy="402336"/>
          </a:xfrm>
          <a:prstGeom prst="rect">
            <a:avLst/>
          </a:prstGeom>
          <a:noFill/>
        </p:spPr>
        <p:txBody>
          <a:bodyPr wrap="square" lIns="45720" rIns="45720" tIns="18288" bIns="18288" anchor="ctr">
            <a:spAutoFit/>
          </a:bodyPr>
          <a:lstStyle/>
          <a:p>
            <a:pPr algn="l"/>
            <a:r>
              <a:rPr sz="800" b="0" i="0">
                <a:solidFill>
                  <a:srgbClr val="2C3E50"/>
                </a:solidFill>
                <a:latin typeface="Calibri"/>
              </a:rPr>
              <a:t>3 relecteurs</a:t>
            </a:r>
          </a:p>
        </p:txBody>
      </p:sp>
      <p:sp>
        <p:nvSpPr>
          <p:cNvPr id="23" name="Rectangle 22"/>
          <p:cNvSpPr/>
          <p:nvPr/>
        </p:nvSpPr>
        <p:spPr>
          <a:xfrm>
            <a:off x="274320" y="2139696"/>
            <a:ext cx="8595360" cy="402336"/>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2139696"/>
            <a:ext cx="594360" cy="402336"/>
          </a:xfrm>
          <a:prstGeom prst="rect">
            <a:avLst/>
          </a:prstGeom>
          <a:noFill/>
        </p:spPr>
        <p:txBody>
          <a:bodyPr wrap="square" lIns="45720" rIns="45720" tIns="18288" bIns="18288" anchor="ctr">
            <a:spAutoFit/>
          </a:bodyPr>
          <a:lstStyle/>
          <a:p>
            <a:pPr algn="ctr"/>
            <a:r>
              <a:rPr sz="900" b="1" i="0">
                <a:solidFill>
                  <a:srgbClr val="E08000"/>
                </a:solidFill>
                <a:latin typeface="Calibri"/>
              </a:rPr>
              <a:t>W4</a:t>
            </a:r>
          </a:p>
        </p:txBody>
      </p:sp>
      <p:sp>
        <p:nvSpPr>
          <p:cNvPr id="25" name="TextBox 24"/>
          <p:cNvSpPr txBox="1"/>
          <p:nvPr/>
        </p:nvSpPr>
        <p:spPr>
          <a:xfrm>
            <a:off x="868680" y="2139696"/>
            <a:ext cx="5943600" cy="402336"/>
          </a:xfrm>
          <a:prstGeom prst="rect">
            <a:avLst/>
          </a:prstGeom>
          <a:noFill/>
        </p:spPr>
        <p:txBody>
          <a:bodyPr wrap="square" lIns="45720" rIns="45720" tIns="18288" bIns="18288" anchor="t">
            <a:spAutoFit/>
          </a:bodyPr>
          <a:lstStyle/>
          <a:p>
            <a:pPr algn="l"/>
            <a:r>
              <a:rPr sz="800" b="0" i="0">
                <a:solidFill>
                  <a:srgbClr val="5D6D7E"/>
                </a:solidFill>
                <a:latin typeface="Calibri"/>
              </a:rPr>
              <a:t>Le principe de découplage est énoncé en « si et seulement si », que les données du papier réfutent ; sa condition mêle une horloge et un seuil, propres à deux familles différentes</a:t>
            </a:r>
          </a:p>
        </p:txBody>
      </p:sp>
      <p:sp>
        <p:nvSpPr>
          <p:cNvPr id="26" name="TextBox 25"/>
          <p:cNvSpPr txBox="1"/>
          <p:nvPr/>
        </p:nvSpPr>
        <p:spPr>
          <a:xfrm>
            <a:off x="6812280" y="2139696"/>
            <a:ext cx="2057400" cy="402336"/>
          </a:xfrm>
          <a:prstGeom prst="rect">
            <a:avLst/>
          </a:prstGeom>
          <a:noFill/>
        </p:spPr>
        <p:txBody>
          <a:bodyPr wrap="square" lIns="45720" rIns="45720" tIns="18288" bIns="18288" anchor="ctr">
            <a:spAutoFit/>
          </a:bodyPr>
          <a:lstStyle/>
          <a:p>
            <a:pPr algn="l"/>
            <a:r>
              <a:rPr sz="800" b="0" i="0">
                <a:solidFill>
                  <a:srgbClr val="2C3E50"/>
                </a:solidFill>
                <a:latin typeface="Calibri"/>
              </a:rPr>
              <a:t>2 relecteurs</a:t>
            </a:r>
          </a:p>
        </p:txBody>
      </p:sp>
      <p:sp>
        <p:nvSpPr>
          <p:cNvPr id="27" name="Rectangle 26"/>
          <p:cNvSpPr/>
          <p:nvPr/>
        </p:nvSpPr>
        <p:spPr>
          <a:xfrm>
            <a:off x="274320" y="2542032"/>
            <a:ext cx="8595360" cy="402336"/>
          </a:xfrm>
          <a:prstGeom prst="rect">
            <a:avLst/>
          </a:prstGeom>
          <a:solidFill>
            <a:srgbClr val="FF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2542032"/>
            <a:ext cx="45720" cy="40233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 y="2542032"/>
            <a:ext cx="594360" cy="402336"/>
          </a:xfrm>
          <a:prstGeom prst="rect">
            <a:avLst/>
          </a:prstGeom>
          <a:noFill/>
        </p:spPr>
        <p:txBody>
          <a:bodyPr wrap="square" lIns="45720" rIns="45720" tIns="18288" bIns="18288" anchor="ctr">
            <a:spAutoFit/>
          </a:bodyPr>
          <a:lstStyle/>
          <a:p>
            <a:pPr algn="ctr"/>
            <a:r>
              <a:rPr sz="900" b="1" i="0">
                <a:solidFill>
                  <a:srgbClr val="E08000"/>
                </a:solidFill>
                <a:latin typeface="Calibri"/>
              </a:rPr>
              <a:t>W5</a:t>
            </a:r>
          </a:p>
        </p:txBody>
      </p:sp>
      <p:sp>
        <p:nvSpPr>
          <p:cNvPr id="30" name="TextBox 29"/>
          <p:cNvSpPr txBox="1"/>
          <p:nvPr/>
        </p:nvSpPr>
        <p:spPr>
          <a:xfrm>
            <a:off x="868680" y="2542032"/>
            <a:ext cx="5943600" cy="402336"/>
          </a:xfrm>
          <a:prstGeom prst="rect">
            <a:avLst/>
          </a:prstGeom>
          <a:noFill/>
        </p:spPr>
        <p:txBody>
          <a:bodyPr wrap="square" lIns="45720" rIns="45720" tIns="18288" bIns="18288" anchor="t">
            <a:spAutoFit/>
          </a:bodyPr>
          <a:lstStyle/>
          <a:p>
            <a:pPr algn="l"/>
            <a:r>
              <a:rPr sz="800" b="0" i="0">
                <a:solidFill>
                  <a:srgbClr val="5D6D7E"/>
                </a:solidFill>
                <a:latin typeface="Calibri"/>
              </a:rPr>
              <a:t>Pourquoi surveiller de l'extérieur un modèle qui se répare seul ? L'architecture n'est pas motivée</a:t>
            </a:r>
          </a:p>
        </p:txBody>
      </p:sp>
      <p:sp>
        <p:nvSpPr>
          <p:cNvPr id="31" name="TextBox 30"/>
          <p:cNvSpPr txBox="1"/>
          <p:nvPr/>
        </p:nvSpPr>
        <p:spPr>
          <a:xfrm>
            <a:off x="6812280" y="2542032"/>
            <a:ext cx="2057400" cy="402336"/>
          </a:xfrm>
          <a:prstGeom prst="rect">
            <a:avLst/>
          </a:prstGeom>
          <a:noFill/>
        </p:spPr>
        <p:txBody>
          <a:bodyPr wrap="square" lIns="45720" rIns="45720" tIns="18288" bIns="18288" anchor="ctr">
            <a:spAutoFit/>
          </a:bodyPr>
          <a:lstStyle/>
          <a:p>
            <a:pPr algn="l"/>
            <a:r>
              <a:rPr sz="800" b="0" i="0">
                <a:solidFill>
                  <a:srgbClr val="2C3E50"/>
                </a:solidFill>
                <a:latin typeface="Calibri"/>
              </a:rPr>
              <a:t>1 relecteur, </a:t>
            </a:r>
            <a:r>
              <a:rPr sz="800" b="1" i="0">
                <a:solidFill>
                  <a:srgbClr val="C0392B"/>
                </a:solidFill>
                <a:latin typeface="Calibri"/>
              </a:rPr>
              <a:t>avec veto</a:t>
            </a:r>
          </a:p>
        </p:txBody>
      </p:sp>
      <p:sp>
        <p:nvSpPr>
          <p:cNvPr id="32" name="Rectangle 31"/>
          <p:cNvSpPr/>
          <p:nvPr/>
        </p:nvSpPr>
        <p:spPr>
          <a:xfrm>
            <a:off x="274320" y="2944368"/>
            <a:ext cx="8595360" cy="402336"/>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2944368"/>
            <a:ext cx="594360" cy="402336"/>
          </a:xfrm>
          <a:prstGeom prst="rect">
            <a:avLst/>
          </a:prstGeom>
          <a:noFill/>
        </p:spPr>
        <p:txBody>
          <a:bodyPr wrap="square" lIns="45720" rIns="45720" tIns="18288" bIns="18288" anchor="ctr">
            <a:spAutoFit/>
          </a:bodyPr>
          <a:lstStyle/>
          <a:p>
            <a:pPr algn="ctr"/>
            <a:r>
              <a:rPr sz="900" b="1" i="0">
                <a:solidFill>
                  <a:srgbClr val="E08000"/>
                </a:solidFill>
                <a:latin typeface="Calibri"/>
              </a:rPr>
              <a:t>W6</a:t>
            </a:r>
          </a:p>
        </p:txBody>
      </p:sp>
      <p:sp>
        <p:nvSpPr>
          <p:cNvPr id="34" name="TextBox 33"/>
          <p:cNvSpPr txBox="1"/>
          <p:nvPr/>
        </p:nvSpPr>
        <p:spPr>
          <a:xfrm>
            <a:off x="868680" y="2944368"/>
            <a:ext cx="5943600" cy="402336"/>
          </a:xfrm>
          <a:prstGeom prst="rect">
            <a:avLst/>
          </a:prstGeom>
          <a:noFill/>
        </p:spPr>
        <p:txBody>
          <a:bodyPr wrap="square" lIns="45720" rIns="45720" tIns="18288" bIns="18288" anchor="t">
            <a:spAutoFit/>
          </a:bodyPr>
          <a:lstStyle/>
          <a:p>
            <a:pPr algn="l"/>
            <a:r>
              <a:rPr sz="800" b="0" i="0">
                <a:solidFill>
                  <a:srgbClr val="5D6D7E"/>
                </a:solidFill>
                <a:latin typeface="Calibri"/>
              </a:rPr>
              <a:t>Le phénomène est-il un artefact d'une bibliothèque, d'un classifieur et d'un détecteur uniques ?</a:t>
            </a:r>
          </a:p>
        </p:txBody>
      </p:sp>
      <p:sp>
        <p:nvSpPr>
          <p:cNvPr id="35" name="TextBox 34"/>
          <p:cNvSpPr txBox="1"/>
          <p:nvPr/>
        </p:nvSpPr>
        <p:spPr>
          <a:xfrm>
            <a:off x="6812280" y="2944368"/>
            <a:ext cx="2057400" cy="402336"/>
          </a:xfrm>
          <a:prstGeom prst="rect">
            <a:avLst/>
          </a:prstGeom>
          <a:noFill/>
        </p:spPr>
        <p:txBody>
          <a:bodyPr wrap="square" lIns="45720" rIns="45720" tIns="18288" bIns="18288" anchor="ctr">
            <a:spAutoFit/>
          </a:bodyPr>
          <a:lstStyle/>
          <a:p>
            <a:pPr algn="l"/>
            <a:r>
              <a:rPr sz="800" b="0" i="0">
                <a:solidFill>
                  <a:srgbClr val="2C3E50"/>
                </a:solidFill>
                <a:latin typeface="Calibri"/>
              </a:rPr>
              <a:t>2 relecteurs</a:t>
            </a:r>
          </a:p>
        </p:txBody>
      </p:sp>
      <p:sp>
        <p:nvSpPr>
          <p:cNvPr id="36" name="Rectangle 35"/>
          <p:cNvSpPr/>
          <p:nvPr/>
        </p:nvSpPr>
        <p:spPr>
          <a:xfrm>
            <a:off x="274320" y="3346704"/>
            <a:ext cx="859536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 y="3346704"/>
            <a:ext cx="594360" cy="402336"/>
          </a:xfrm>
          <a:prstGeom prst="rect">
            <a:avLst/>
          </a:prstGeom>
          <a:noFill/>
        </p:spPr>
        <p:txBody>
          <a:bodyPr wrap="square" lIns="45720" rIns="45720" tIns="18288" bIns="18288" anchor="ctr">
            <a:spAutoFit/>
          </a:bodyPr>
          <a:lstStyle/>
          <a:p>
            <a:pPr algn="ctr"/>
            <a:r>
              <a:rPr sz="900" b="1" i="0">
                <a:solidFill>
                  <a:srgbClr val="E08000"/>
                </a:solidFill>
                <a:latin typeface="Calibri"/>
              </a:rPr>
              <a:t>W7</a:t>
            </a:r>
          </a:p>
        </p:txBody>
      </p:sp>
      <p:sp>
        <p:nvSpPr>
          <p:cNvPr id="38" name="TextBox 37"/>
          <p:cNvSpPr txBox="1"/>
          <p:nvPr/>
        </p:nvSpPr>
        <p:spPr>
          <a:xfrm>
            <a:off x="868680" y="3346704"/>
            <a:ext cx="5943600" cy="402336"/>
          </a:xfrm>
          <a:prstGeom prst="rect">
            <a:avLst/>
          </a:prstGeom>
          <a:noFill/>
        </p:spPr>
        <p:txBody>
          <a:bodyPr wrap="square" lIns="45720" rIns="45720" tIns="18288" bIns="18288" anchor="t">
            <a:spAutoFit/>
          </a:bodyPr>
          <a:lstStyle/>
          <a:p>
            <a:pPr algn="l"/>
            <a:r>
              <a:rPr sz="800" b="0" i="0">
                <a:solidFill>
                  <a:srgbClr val="5D6D7E"/>
                </a:solidFill>
                <a:latin typeface="Calibri"/>
              </a:rPr>
              <a:t>L'immunité d'un détecteur à fenêtres est déclarée structurelle sur un balayage partiel</a:t>
            </a:r>
          </a:p>
        </p:txBody>
      </p:sp>
      <p:sp>
        <p:nvSpPr>
          <p:cNvPr id="39" name="TextBox 38"/>
          <p:cNvSpPr txBox="1"/>
          <p:nvPr/>
        </p:nvSpPr>
        <p:spPr>
          <a:xfrm>
            <a:off x="6812280" y="3346704"/>
            <a:ext cx="2057400" cy="402336"/>
          </a:xfrm>
          <a:prstGeom prst="rect">
            <a:avLst/>
          </a:prstGeom>
          <a:noFill/>
        </p:spPr>
        <p:txBody>
          <a:bodyPr wrap="square" lIns="45720" rIns="45720" tIns="18288" bIns="18288" anchor="ctr">
            <a:spAutoFit/>
          </a:bodyPr>
          <a:lstStyle/>
          <a:p>
            <a:pPr algn="l"/>
            <a:r>
              <a:rPr sz="800" b="0" i="0">
                <a:solidFill>
                  <a:srgbClr val="2C3E50"/>
                </a:solidFill>
                <a:latin typeface="Calibri"/>
              </a:rPr>
              <a:t>1 relecteur</a:t>
            </a:r>
          </a:p>
        </p:txBody>
      </p:sp>
      <p:sp>
        <p:nvSpPr>
          <p:cNvPr id="40" name="Rectangle 39"/>
          <p:cNvSpPr/>
          <p:nvPr/>
        </p:nvSpPr>
        <p:spPr>
          <a:xfrm>
            <a:off x="274320" y="3749039"/>
            <a:ext cx="8595360" cy="402336"/>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3749039"/>
            <a:ext cx="594360" cy="402336"/>
          </a:xfrm>
          <a:prstGeom prst="rect">
            <a:avLst/>
          </a:prstGeom>
          <a:noFill/>
        </p:spPr>
        <p:txBody>
          <a:bodyPr wrap="square" lIns="45720" rIns="45720" tIns="18288" bIns="18288" anchor="ctr">
            <a:spAutoFit/>
          </a:bodyPr>
          <a:lstStyle/>
          <a:p>
            <a:pPr algn="ctr"/>
            <a:r>
              <a:rPr sz="900" b="1" i="0">
                <a:solidFill>
                  <a:srgbClr val="E08000"/>
                </a:solidFill>
                <a:latin typeface="Calibri"/>
              </a:rPr>
              <a:t>W8</a:t>
            </a:r>
          </a:p>
        </p:txBody>
      </p:sp>
      <p:sp>
        <p:nvSpPr>
          <p:cNvPr id="42" name="TextBox 41"/>
          <p:cNvSpPr txBox="1"/>
          <p:nvPr/>
        </p:nvSpPr>
        <p:spPr>
          <a:xfrm>
            <a:off x="868680" y="3749039"/>
            <a:ext cx="5943600" cy="402336"/>
          </a:xfrm>
          <a:prstGeom prst="rect">
            <a:avLst/>
          </a:prstGeom>
          <a:noFill/>
        </p:spPr>
        <p:txBody>
          <a:bodyPr wrap="square" lIns="45720" rIns="45720" tIns="18288" bIns="18288" anchor="t">
            <a:spAutoFit/>
          </a:bodyPr>
          <a:lstStyle/>
          <a:p>
            <a:pPr algn="l"/>
            <a:r>
              <a:rPr sz="800" b="0" i="0">
                <a:solidFill>
                  <a:srgbClr val="5D6D7E"/>
                </a:solidFill>
                <a:latin typeface="Calibri"/>
              </a:rPr>
              <a:t>Validité externe, protocole statistique incomplet, écarts entre le manuscrit et son code public</a:t>
            </a:r>
          </a:p>
        </p:txBody>
      </p:sp>
      <p:sp>
        <p:nvSpPr>
          <p:cNvPr id="43" name="TextBox 42"/>
          <p:cNvSpPr txBox="1"/>
          <p:nvPr/>
        </p:nvSpPr>
        <p:spPr>
          <a:xfrm>
            <a:off x="6812280" y="3749039"/>
            <a:ext cx="2057400" cy="402336"/>
          </a:xfrm>
          <a:prstGeom prst="rect">
            <a:avLst/>
          </a:prstGeom>
          <a:noFill/>
        </p:spPr>
        <p:txBody>
          <a:bodyPr wrap="square" lIns="45720" rIns="45720" tIns="18288" bIns="18288" anchor="ctr">
            <a:spAutoFit/>
          </a:bodyPr>
          <a:lstStyle/>
          <a:p>
            <a:pPr algn="l"/>
            <a:r>
              <a:rPr sz="800" b="0" i="0">
                <a:solidFill>
                  <a:srgbClr val="2C3E50"/>
                </a:solidFill>
                <a:latin typeface="Calibri"/>
              </a:rPr>
              <a:t>1 relecteur</a:t>
            </a:r>
          </a:p>
        </p:txBody>
      </p:sp>
      <p:sp>
        <p:nvSpPr>
          <p:cNvPr id="44" name="Rectangle 43"/>
          <p:cNvSpPr/>
          <p:nvPr/>
        </p:nvSpPr>
        <p:spPr>
          <a:xfrm>
            <a:off x="274320" y="4434840"/>
            <a:ext cx="8595360" cy="246888"/>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4320" y="4434840"/>
            <a:ext cx="8595360" cy="246888"/>
          </a:xfrm>
          <a:prstGeom prst="rect">
            <a:avLst/>
          </a:prstGeom>
          <a:noFill/>
        </p:spPr>
        <p:txBody>
          <a:bodyPr wrap="square" lIns="45720" rIns="45720" tIns="18288" bIns="18288" anchor="ctr">
            <a:spAutoFit/>
          </a:bodyPr>
          <a:lstStyle/>
          <a:p>
            <a:pPr algn="ctr"/>
            <a:r>
              <a:rPr sz="900" b="1" i="0">
                <a:solidFill>
                  <a:srgbClr val="E08000"/>
                </a:solidFill>
                <a:latin typeface="Calibri"/>
              </a:rPr>
              <a:t>★ Les scores : technique −4 / −4 / −2 / −2. Deux relecteurs se déclarent d'expertise haute ; l'un d'eux rejette la prémisse elle-même.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Le vocabulaire, une fois pour toutes</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5</a:t>
            </a:r>
          </a:p>
        </p:txBody>
      </p:sp>
      <p:sp>
        <p:nvSpPr>
          <p:cNvPr id="5" name="Rectangle 4"/>
          <p:cNvSpPr/>
          <p:nvPr/>
        </p:nvSpPr>
        <p:spPr>
          <a:xfrm>
            <a:off x="274320" y="658368"/>
            <a:ext cx="8595360" cy="1133856"/>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76656"/>
            <a:ext cx="8412480" cy="201168"/>
          </a:xfrm>
          <a:prstGeom prst="rect">
            <a:avLst/>
          </a:prstGeom>
          <a:noFill/>
        </p:spPr>
        <p:txBody>
          <a:bodyPr wrap="square" lIns="45720" rIns="45720" tIns="18288" bIns="18288" anchor="t">
            <a:spAutoFit/>
          </a:bodyPr>
          <a:lstStyle/>
          <a:p>
            <a:pPr algn="l"/>
            <a:r>
              <a:rPr sz="950" b="1" i="0">
                <a:solidFill>
                  <a:srgbClr val="00748C"/>
                </a:solidFill>
                <a:latin typeface="Calibri"/>
              </a:rPr>
              <a:t>Le flux et le classifieur</a:t>
            </a:r>
          </a:p>
        </p:txBody>
      </p:sp>
      <p:sp>
        <p:nvSpPr>
          <p:cNvPr id="7" name="TextBox 6"/>
          <p:cNvSpPr txBox="1"/>
          <p:nvPr/>
        </p:nvSpPr>
        <p:spPr>
          <a:xfrm>
            <a:off x="365760" y="896112"/>
            <a:ext cx="8412480" cy="859536"/>
          </a:xfrm>
          <a:prstGeom prst="rect">
            <a:avLst/>
          </a:prstGeom>
          <a:noFill/>
        </p:spPr>
        <p:txBody>
          <a:bodyPr wrap="square" lIns="45720" rIns="45720" tIns="18288" bIns="18288" anchor="t">
            <a:spAutoFit/>
          </a:bodyPr>
          <a:lstStyle/>
          <a:p>
            <a:pPr algn="l"/>
            <a:r>
              <a:rPr sz="850" b="1" i="0">
                <a:solidFill>
                  <a:srgbClr val="2C3E50"/>
                </a:solidFill>
                <a:latin typeface="Calibri"/>
              </a:rPr>
              <a:t>e_t</a:t>
            </a:r>
            <a:r>
              <a:rPr sz="850" b="0" i="0">
                <a:solidFill>
                  <a:srgbClr val="5D6D7E"/>
                </a:solidFill>
                <a:latin typeface="Calibri"/>
              </a:rPr>
              <a:t> — erreur de prédiction au pas de temps t, valant 0 ou 1</a:t>
            </a:r>
          </a:p>
          <a:p>
            <a:pPr algn="l"/>
            <a:r>
              <a:rPr sz="850" b="1" i="0">
                <a:solidFill>
                  <a:srgbClr val="2C3E50"/>
                </a:solidFill>
                <a:latin typeface="Calibri"/>
              </a:rPr>
              <a:t>p_0</a:t>
            </a:r>
            <a:r>
              <a:rPr sz="850" b="0" i="0">
                <a:solidFill>
                  <a:srgbClr val="5D6D7E"/>
                </a:solidFill>
                <a:latin typeface="Calibri"/>
              </a:rPr>
              <a:t> — taux d'erreur avant la rupture</a:t>
            </a:r>
          </a:p>
          <a:p>
            <a:pPr algn="l"/>
            <a:r>
              <a:rPr sz="850" b="1" i="0">
                <a:solidFill>
                  <a:srgbClr val="2C3E50"/>
                </a:solidFill>
                <a:latin typeface="Calibri"/>
              </a:rPr>
              <a:t>τ*</a:t>
            </a:r>
            <a:r>
              <a:rPr sz="850" b="0" i="0">
                <a:solidFill>
                  <a:srgbClr val="5D6D7E"/>
                </a:solidFill>
                <a:latin typeface="Calibri"/>
              </a:rPr>
              <a:t> — instant de la rupture ; Δe — saut du taux d'erreur qu'elle provoque</a:t>
            </a:r>
          </a:p>
          <a:p>
            <a:pPr algn="l"/>
            <a:r>
              <a:rPr sz="850" b="1" i="0">
                <a:solidFill>
                  <a:srgbClr val="2C3E50"/>
                </a:solidFill>
                <a:latin typeface="Calibri"/>
              </a:rPr>
              <a:t>M</a:t>
            </a:r>
            <a:r>
              <a:rPr sz="850" b="0" i="0">
                <a:solidFill>
                  <a:srgbClr val="5D6D7E"/>
                </a:solidFill>
                <a:latin typeface="Calibri"/>
              </a:rPr>
              <a:t> — nombre d'arbres de la forêt ; τ_ARF — instant du premier arbre remplacé</a:t>
            </a:r>
          </a:p>
          <a:p>
            <a:pPr algn="l"/>
            <a:r>
              <a:rPr sz="850" b="1" i="0">
                <a:solidFill>
                  <a:srgbClr val="2C3E50"/>
                </a:solidFill>
                <a:latin typeface="Calibri"/>
              </a:rPr>
              <a:t>τ_erase</a:t>
            </a:r>
            <a:r>
              <a:rPr sz="850" b="0" i="0">
                <a:solidFill>
                  <a:srgbClr val="5D6D7E"/>
                </a:solidFill>
                <a:latin typeface="Calibri"/>
              </a:rPr>
              <a:t> — instant où l'erreur moyenne repasse sous p_0 + δ_P</a:t>
            </a:r>
          </a:p>
          <a:p>
            <a:pPr algn="l"/>
            <a:r>
              <a:rPr sz="850" b="1" i="0">
                <a:solidFill>
                  <a:srgbClr val="2C3E50"/>
                </a:solidFill>
                <a:latin typeface="Calibri"/>
              </a:rPr>
              <a:t>W</a:t>
            </a:r>
            <a:r>
              <a:rPr sz="850" b="0" i="0">
                <a:solidFill>
                  <a:srgbClr val="5D6D7E"/>
                </a:solidFill>
                <a:latin typeface="Calibri"/>
              </a:rPr>
              <a:t> — durée du transitoire exploitable, de τ* à τ_erase</a:t>
            </a:r>
          </a:p>
        </p:txBody>
      </p:sp>
      <p:sp>
        <p:nvSpPr>
          <p:cNvPr id="8" name="Rectangle 7"/>
          <p:cNvSpPr/>
          <p:nvPr/>
        </p:nvSpPr>
        <p:spPr>
          <a:xfrm>
            <a:off x="274320" y="1847088"/>
            <a:ext cx="8595360" cy="859536"/>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865376"/>
            <a:ext cx="8412480" cy="201168"/>
          </a:xfrm>
          <a:prstGeom prst="rect">
            <a:avLst/>
          </a:prstGeom>
          <a:noFill/>
        </p:spPr>
        <p:txBody>
          <a:bodyPr wrap="square" lIns="45720" rIns="45720" tIns="18288" bIns="18288" anchor="t">
            <a:spAutoFit/>
          </a:bodyPr>
          <a:lstStyle/>
          <a:p>
            <a:pPr algn="l"/>
            <a:r>
              <a:rPr sz="950" b="1" i="0">
                <a:solidFill>
                  <a:srgbClr val="E08000"/>
                </a:solidFill>
                <a:latin typeface="Calibri"/>
              </a:rPr>
              <a:t>Le moniteur externe</a:t>
            </a:r>
          </a:p>
        </p:txBody>
      </p:sp>
      <p:sp>
        <p:nvSpPr>
          <p:cNvPr id="10" name="TextBox 9"/>
          <p:cNvSpPr txBox="1"/>
          <p:nvPr/>
        </p:nvSpPr>
        <p:spPr>
          <a:xfrm>
            <a:off x="365760" y="2084831"/>
            <a:ext cx="8412480" cy="585216"/>
          </a:xfrm>
          <a:prstGeom prst="rect">
            <a:avLst/>
          </a:prstGeom>
          <a:noFill/>
        </p:spPr>
        <p:txBody>
          <a:bodyPr wrap="square" lIns="45720" rIns="45720" tIns="18288" bIns="18288" anchor="t">
            <a:spAutoFit/>
          </a:bodyPr>
          <a:lstStyle/>
          <a:p>
            <a:pPr algn="l"/>
            <a:r>
              <a:rPr sz="850" b="1" i="0">
                <a:solidFill>
                  <a:srgbClr val="2C3E50"/>
                </a:solidFill>
                <a:latin typeface="Calibri"/>
              </a:rPr>
              <a:t>δ_P</a:t>
            </a:r>
            <a:r>
              <a:rPr sz="850" b="0" i="0">
                <a:solidFill>
                  <a:srgbClr val="5D6D7E"/>
                </a:solidFill>
                <a:latin typeface="Calibri"/>
              </a:rPr>
              <a:t> — tolérance : l'excès d'erreur en deçà duquel le moniteur n'accumule rien</a:t>
            </a:r>
          </a:p>
          <a:p>
            <a:pPr algn="l"/>
            <a:r>
              <a:rPr sz="850" b="1" i="0">
                <a:solidFill>
                  <a:srgbClr val="2C3E50"/>
                </a:solidFill>
                <a:latin typeface="Calibri"/>
              </a:rPr>
              <a:t>S_t</a:t>
            </a:r>
            <a:r>
              <a:rPr sz="850" b="0" i="0">
                <a:solidFill>
                  <a:srgbClr val="5D6D7E"/>
                </a:solidFill>
                <a:latin typeface="Calibri"/>
              </a:rPr>
              <a:t> — compteur cumulé, remis à zéro dès qu'il passe sous zéro</a:t>
            </a:r>
          </a:p>
          <a:p>
            <a:pPr algn="l"/>
            <a:r>
              <a:rPr sz="850" b="1" i="0">
                <a:solidFill>
                  <a:srgbClr val="2C3E50"/>
                </a:solidFill>
                <a:latin typeface="Calibri"/>
              </a:rPr>
              <a:t>λ</a:t>
            </a:r>
            <a:r>
              <a:rPr sz="850" b="0" i="0">
                <a:solidFill>
                  <a:srgbClr val="5D6D7E"/>
                </a:solidFill>
                <a:latin typeface="Calibri"/>
              </a:rPr>
              <a:t> — seuil d'alarme ; α — niveau de fausse alarme ; ARL₀ — temps moyen avant fausse alarme</a:t>
            </a:r>
          </a:p>
          <a:p>
            <a:pPr algn="l"/>
            <a:r>
              <a:rPr sz="850" b="1" i="0">
                <a:solidFill>
                  <a:srgbClr val="2C3E50"/>
                </a:solidFill>
                <a:latin typeface="Calibri"/>
              </a:rPr>
              <a:t>τ_det</a:t>
            </a:r>
            <a:r>
              <a:rPr sz="850" b="0" i="0">
                <a:solidFill>
                  <a:srgbClr val="5D6D7E"/>
                </a:solidFill>
                <a:latin typeface="Calibri"/>
              </a:rPr>
              <a:t> — instant de l'alarme</a:t>
            </a:r>
          </a:p>
        </p:txBody>
      </p:sp>
      <p:sp>
        <p:nvSpPr>
          <p:cNvPr id="11" name="Rectangle 10"/>
          <p:cNvSpPr/>
          <p:nvPr/>
        </p:nvSpPr>
        <p:spPr>
          <a:xfrm>
            <a:off x="274320" y="2761488"/>
            <a:ext cx="8595360" cy="804672"/>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761488"/>
            <a:ext cx="45720" cy="804672"/>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2779776"/>
            <a:ext cx="8366760" cy="201168"/>
          </a:xfrm>
          <a:prstGeom prst="rect">
            <a:avLst/>
          </a:prstGeom>
          <a:noFill/>
        </p:spPr>
        <p:txBody>
          <a:bodyPr wrap="square" lIns="45720" rIns="45720" tIns="18288" bIns="18288" anchor="t">
            <a:spAutoFit/>
          </a:bodyPr>
          <a:lstStyle/>
          <a:p>
            <a:pPr algn="l"/>
            <a:r>
              <a:rPr sz="950" b="1" i="0">
                <a:solidFill>
                  <a:srgbClr val="27AE60"/>
                </a:solidFill>
                <a:latin typeface="Calibri"/>
              </a:rPr>
              <a:t>Les deux grandeurs que l'article introduit</a:t>
            </a:r>
          </a:p>
        </p:txBody>
      </p:sp>
      <p:sp>
        <p:nvSpPr>
          <p:cNvPr id="14" name="TextBox 13"/>
          <p:cNvSpPr txBox="1"/>
          <p:nvPr/>
        </p:nvSpPr>
        <p:spPr>
          <a:xfrm>
            <a:off x="411480" y="2999232"/>
            <a:ext cx="8366760" cy="530352"/>
          </a:xfrm>
          <a:prstGeom prst="rect">
            <a:avLst/>
          </a:prstGeom>
          <a:noFill/>
        </p:spPr>
        <p:txBody>
          <a:bodyPr wrap="square" lIns="45720" rIns="45720" tIns="18288" bIns="18288" anchor="t">
            <a:spAutoFit/>
          </a:bodyPr>
          <a:lstStyle/>
          <a:p>
            <a:pPr algn="l"/>
            <a:r>
              <a:rPr sz="850" b="1" i="0">
                <a:solidFill>
                  <a:srgbClr val="2C3E50"/>
                </a:solidFill>
                <a:latin typeface="Calibri"/>
              </a:rPr>
              <a:t>A</a:t>
            </a:r>
            <a:r>
              <a:rPr sz="850" b="0" i="0">
                <a:solidFill>
                  <a:srgbClr val="5D6D7E"/>
                </a:solidFill>
                <a:latin typeface="Calibri"/>
              </a:rPr>
              <a:t> — budget de preuve : l'excès d'erreur intégré que l'adaptation laisse au moniteur</a:t>
            </a:r>
          </a:p>
          <a:p>
            <a:pPr algn="l"/>
            <a:r>
              <a:rPr sz="850" b="1" i="0">
                <a:solidFill>
                  <a:srgbClr val="2C3E50"/>
                </a:solidFill>
                <a:latin typeface="Calibri"/>
              </a:rPr>
              <a:t>R(D, ε, α)</a:t>
            </a:r>
            <a:r>
              <a:rPr sz="850" b="0" i="0">
                <a:solidFill>
                  <a:srgbClr val="5D6D7E"/>
                </a:solidFill>
                <a:latin typeface="Calibri"/>
              </a:rPr>
              <a:t> — exigence de preuve du moniteur D : ce qu'il lui faut pour alarmer avec probabilité 1 − ε au niveau α</a:t>
            </a:r>
          </a:p>
        </p:txBody>
      </p:sp>
      <p:sp>
        <p:nvSpPr>
          <p:cNvPr id="15" name="Rectangle 14"/>
          <p:cNvSpPr/>
          <p:nvPr/>
        </p:nvSpPr>
        <p:spPr>
          <a:xfrm>
            <a:off x="274320" y="3657600"/>
            <a:ext cx="8595360" cy="47548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3657600"/>
            <a:ext cx="8595360" cy="475488"/>
          </a:xfrm>
          <a:prstGeom prst="rect">
            <a:avLst/>
          </a:prstGeom>
          <a:noFill/>
        </p:spPr>
        <p:txBody>
          <a:bodyPr wrap="square" lIns="45720" rIns="45720" tIns="18288" bIns="18288" anchor="ctr">
            <a:spAutoFit/>
          </a:bodyPr>
          <a:lstStyle/>
          <a:p>
            <a:pPr algn="ctr"/>
            <a:r>
              <a:rPr sz="1000" b="0" i="1">
                <a:solidFill>
                  <a:srgbClr val="2D3748"/>
                </a:solidFill>
                <a:latin typeface="Calibri"/>
              </a:rPr>
              <a:t>S_t = max(0 ; S_{t−1} + (e_t − p_0) − δ_P)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371600"/>
            <a:ext cx="9144000" cy="237744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691640"/>
            <a:ext cx="1371600" cy="137160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91640"/>
            <a:ext cx="1371600" cy="1371600"/>
          </a:xfrm>
          <a:prstGeom prst="rect">
            <a:avLst/>
          </a:prstGeom>
          <a:noFill/>
        </p:spPr>
        <p:txBody>
          <a:bodyPr wrap="square" lIns="45720" rIns="45720" tIns="18288" bIns="18288" anchor="ctr">
            <a:spAutoFit/>
          </a:bodyPr>
          <a:lstStyle/>
          <a:p>
            <a:pPr algn="ctr"/>
            <a:r>
              <a:rPr sz="4200" b="1" i="0">
                <a:solidFill>
                  <a:srgbClr val="FFFFFF"/>
                </a:solidFill>
                <a:latin typeface="Calibri"/>
              </a:rPr>
              <a:t>B</a:t>
            </a:r>
          </a:p>
        </p:txBody>
      </p:sp>
      <p:sp>
        <p:nvSpPr>
          <p:cNvPr id="5" name="TextBox 4"/>
          <p:cNvSpPr txBox="1"/>
          <p:nvPr/>
        </p:nvSpPr>
        <p:spPr>
          <a:xfrm>
            <a:off x="2926080" y="1874519"/>
            <a:ext cx="5486400" cy="548640"/>
          </a:xfrm>
          <a:prstGeom prst="rect">
            <a:avLst/>
          </a:prstGeom>
          <a:noFill/>
        </p:spPr>
        <p:txBody>
          <a:bodyPr wrap="square" lIns="45720" rIns="45720" tIns="18288" bIns="18288" anchor="t">
            <a:spAutoFit/>
          </a:bodyPr>
          <a:lstStyle/>
          <a:p>
            <a:pPr algn="l"/>
            <a:r>
              <a:rPr sz="2600" b="1" i="0">
                <a:solidFill>
                  <a:srgbClr val="FFFFFF"/>
                </a:solidFill>
                <a:latin typeface="Calibri"/>
              </a:rPr>
              <a:t>Tableau de bord</a:t>
            </a:r>
          </a:p>
        </p:txBody>
      </p:sp>
      <p:sp>
        <p:nvSpPr>
          <p:cNvPr id="6" name="TextBox 5"/>
          <p:cNvSpPr txBox="1"/>
          <p:nvPr/>
        </p:nvSpPr>
        <p:spPr>
          <a:xfrm>
            <a:off x="2926080" y="2697480"/>
            <a:ext cx="5486400" cy="731520"/>
          </a:xfrm>
          <a:prstGeom prst="rect">
            <a:avLst/>
          </a:prstGeom>
          <a:noFill/>
        </p:spPr>
        <p:txBody>
          <a:bodyPr wrap="square" lIns="45720" rIns="45720" tIns="18288" bIns="18288" anchor="t">
            <a:spAutoFit/>
          </a:bodyPr>
          <a:lstStyle/>
          <a:p>
            <a:pPr algn="l"/>
            <a:r>
              <a:rPr sz="1200" b="0" i="0">
                <a:solidFill>
                  <a:srgbClr val="D5DBDB"/>
                </a:solidFill>
                <a:latin typeface="Calibri"/>
              </a:rPr>
              <a:t>Huit faiblesses, huit chantiers, huit résultats  ·  Manuscrit figé, audit adversarial à lancer</a:t>
            </a:r>
          </a:p>
        </p:txBody>
      </p:sp>
      <p:sp>
        <p:nvSpPr>
          <p:cNvPr id="7" name="TextBox 6"/>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État du travail — W1 à W4</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7</a:t>
            </a:r>
          </a:p>
        </p:txBody>
      </p:sp>
      <p:sp>
        <p:nvSpPr>
          <p:cNvPr id="5" name="Rectangle 4"/>
          <p:cNvSpPr/>
          <p:nvPr/>
        </p:nvSpPr>
        <p:spPr>
          <a:xfrm>
            <a:off x="274320" y="658368"/>
            <a:ext cx="1554480" cy="2743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8368"/>
            <a:ext cx="1554480" cy="274320"/>
          </a:xfrm>
          <a:prstGeom prst="rect">
            <a:avLst/>
          </a:prstGeom>
          <a:noFill/>
        </p:spPr>
        <p:txBody>
          <a:bodyPr wrap="square" lIns="45720" rIns="45720" tIns="18288" bIns="18288" anchor="ctr">
            <a:spAutoFit/>
          </a:bodyPr>
          <a:lstStyle/>
          <a:p>
            <a:pPr algn="l"/>
            <a:r>
              <a:rPr sz="900" b="1" i="0">
                <a:solidFill>
                  <a:srgbClr val="FFFFFF"/>
                </a:solidFill>
                <a:latin typeface="Calibri"/>
              </a:rPr>
              <a:t>  Faiblesse</a:t>
            </a:r>
          </a:p>
        </p:txBody>
      </p:sp>
      <p:sp>
        <p:nvSpPr>
          <p:cNvPr id="7" name="Rectangle 6"/>
          <p:cNvSpPr/>
          <p:nvPr/>
        </p:nvSpPr>
        <p:spPr>
          <a:xfrm>
            <a:off x="1828800" y="658368"/>
            <a:ext cx="3520440" cy="2743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658368"/>
            <a:ext cx="3520440" cy="274320"/>
          </a:xfrm>
          <a:prstGeom prst="rect">
            <a:avLst/>
          </a:prstGeom>
          <a:noFill/>
        </p:spPr>
        <p:txBody>
          <a:bodyPr wrap="square" lIns="45720" rIns="45720" tIns="18288" bIns="18288" anchor="ctr">
            <a:spAutoFit/>
          </a:bodyPr>
          <a:lstStyle/>
          <a:p>
            <a:pPr algn="l"/>
            <a:r>
              <a:rPr sz="900" b="1" i="0">
                <a:solidFill>
                  <a:srgbClr val="FFFFFF"/>
                </a:solidFill>
                <a:latin typeface="Calibri"/>
              </a:rPr>
              <a:t>  Travail réalisé</a:t>
            </a:r>
          </a:p>
        </p:txBody>
      </p:sp>
      <p:sp>
        <p:nvSpPr>
          <p:cNvPr id="9" name="Rectangle 8"/>
          <p:cNvSpPr/>
          <p:nvPr/>
        </p:nvSpPr>
        <p:spPr>
          <a:xfrm>
            <a:off x="5349240" y="658368"/>
            <a:ext cx="3520440" cy="2743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49240" y="658368"/>
            <a:ext cx="3520440" cy="274320"/>
          </a:xfrm>
          <a:prstGeom prst="rect">
            <a:avLst/>
          </a:prstGeom>
          <a:noFill/>
        </p:spPr>
        <p:txBody>
          <a:bodyPr wrap="square" lIns="45720" rIns="45720" tIns="18288" bIns="18288" anchor="ctr">
            <a:spAutoFit/>
          </a:bodyPr>
          <a:lstStyle/>
          <a:p>
            <a:pPr algn="l"/>
            <a:r>
              <a:rPr sz="900" b="1" i="0">
                <a:solidFill>
                  <a:srgbClr val="FFFFFF"/>
                </a:solidFill>
                <a:latin typeface="Calibri"/>
              </a:rPr>
              <a:t>  Résultat</a:t>
            </a:r>
          </a:p>
        </p:txBody>
      </p:sp>
      <p:sp>
        <p:nvSpPr>
          <p:cNvPr id="11" name="Rectangle 10"/>
          <p:cNvSpPr/>
          <p:nvPr/>
        </p:nvSpPr>
        <p:spPr>
          <a:xfrm>
            <a:off x="274320" y="932688"/>
            <a:ext cx="8595360" cy="8961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969264"/>
            <a:ext cx="1463039" cy="822960"/>
          </a:xfrm>
          <a:prstGeom prst="rect">
            <a:avLst/>
          </a:prstGeom>
          <a:noFill/>
        </p:spPr>
        <p:txBody>
          <a:bodyPr wrap="square" lIns="45720" rIns="45720" tIns="18288" bIns="18288" anchor="t">
            <a:spAutoFit/>
          </a:bodyPr>
          <a:lstStyle/>
          <a:p>
            <a:pPr algn="l"/>
            <a:r>
              <a:rPr sz="800" b="1" i="0">
                <a:solidFill>
                  <a:srgbClr val="2C3E50"/>
                </a:solidFill>
                <a:latin typeface="Calibri"/>
              </a:rPr>
              <a:t>W1 — Borne centrale invalide</a:t>
            </a:r>
          </a:p>
        </p:txBody>
      </p:sp>
      <p:sp>
        <p:nvSpPr>
          <p:cNvPr id="13" name="TextBox 12"/>
          <p:cNvSpPr txBox="1"/>
          <p:nvPr/>
        </p:nvSpPr>
        <p:spPr>
          <a:xfrm>
            <a:off x="1874519" y="969264"/>
            <a:ext cx="3429000" cy="822960"/>
          </a:xfrm>
          <a:prstGeom prst="rect">
            <a:avLst/>
          </a:prstGeom>
          <a:noFill/>
        </p:spPr>
        <p:txBody>
          <a:bodyPr wrap="square" lIns="45720" rIns="45720" tIns="18288" bIns="18288" anchor="t">
            <a:spAutoFit/>
          </a:bodyPr>
          <a:lstStyle/>
          <a:p>
            <a:pPr algn="l"/>
            <a:r>
              <a:rPr sz="800" b="0" i="0">
                <a:solidFill>
                  <a:srgbClr val="5D6D7E"/>
                </a:solidFill>
                <a:latin typeface="Calibri"/>
              </a:rPr>
              <a:t>Preuve refaite : inégalité maximale de Doob, concentration d'Azuma–Hoeffding, réunion sur les remises à zéro. Horizon infini traité par le temps moyen avant fausse alarme</a:t>
            </a:r>
          </a:p>
        </p:txBody>
      </p:sp>
      <p:sp>
        <p:nvSpPr>
          <p:cNvPr id="14" name="TextBox 13"/>
          <p:cNvSpPr txBox="1"/>
          <p:nvPr/>
        </p:nvSpPr>
        <p:spPr>
          <a:xfrm>
            <a:off x="5394959" y="969264"/>
            <a:ext cx="3429000" cy="822960"/>
          </a:xfrm>
          <a:prstGeom prst="rect">
            <a:avLst/>
          </a:prstGeom>
          <a:noFill/>
        </p:spPr>
        <p:txBody>
          <a:bodyPr wrap="square" lIns="45720" rIns="45720" tIns="18288" bIns="18288" anchor="t">
            <a:spAutoFit/>
          </a:bodyPr>
          <a:lstStyle/>
          <a:p>
            <a:pPr algn="l"/>
            <a:r>
              <a:rPr sz="800" b="1" i="0">
                <a:solidFill>
                  <a:srgbClr val="2C3E50"/>
                </a:solidFill>
                <a:latin typeface="Calibri"/>
              </a:rPr>
              <a:t>Terminé.</a:t>
            </a:r>
            <a:r>
              <a:rPr sz="800" b="0" i="0">
                <a:solidFill>
                  <a:srgbClr val="5D6D7E"/>
                </a:solidFill>
                <a:latin typeface="Calibri"/>
              </a:rPr>
              <a:t> Borne valide, terme de fluctuation conservé. </a:t>
            </a:r>
            <a:r>
              <a:rPr sz="800" b="1" i="0">
                <a:solidFill>
                  <a:srgbClr val="2C3E50"/>
                </a:solidFill>
                <a:latin typeface="Calibri"/>
              </a:rPr>
              <a:t>Et elle est vide presque partout</a:t>
            </a:r>
            <a:r>
              <a:rPr sz="800" b="0" i="0">
                <a:solidFill>
                  <a:srgbClr val="5D6D7E"/>
                </a:solidFill>
                <a:latin typeface="Calibri"/>
              </a:rPr>
              <a:t> : informative sur 32 couples (λ, Δe) sur 240. Le résultat porteur devient un certificat déterministe sur le budget mesuré</a:t>
            </a:r>
          </a:p>
        </p:txBody>
      </p:sp>
      <p:sp>
        <p:nvSpPr>
          <p:cNvPr id="15" name="Rectangle 14"/>
          <p:cNvSpPr/>
          <p:nvPr/>
        </p:nvSpPr>
        <p:spPr>
          <a:xfrm>
            <a:off x="274320" y="1828800"/>
            <a:ext cx="8595360" cy="896112"/>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1865376"/>
            <a:ext cx="1463039" cy="822960"/>
          </a:xfrm>
          <a:prstGeom prst="rect">
            <a:avLst/>
          </a:prstGeom>
          <a:noFill/>
        </p:spPr>
        <p:txBody>
          <a:bodyPr wrap="square" lIns="45720" rIns="45720" tIns="18288" bIns="18288" anchor="t">
            <a:spAutoFit/>
          </a:bodyPr>
          <a:lstStyle/>
          <a:p>
            <a:pPr algn="l"/>
            <a:r>
              <a:rPr sz="800" b="1" i="0">
                <a:solidFill>
                  <a:srgbClr val="2C3E50"/>
                </a:solidFill>
                <a:latin typeface="Calibri"/>
              </a:rPr>
              <a:t>W2 — Course mal posée, indépendance non démontrée</a:t>
            </a:r>
          </a:p>
        </p:txBody>
      </p:sp>
      <p:sp>
        <p:nvSpPr>
          <p:cNvPr id="17" name="TextBox 16"/>
          <p:cNvSpPr txBox="1"/>
          <p:nvPr/>
        </p:nvSpPr>
        <p:spPr>
          <a:xfrm>
            <a:off x="1874519" y="1865376"/>
            <a:ext cx="3429000" cy="822960"/>
          </a:xfrm>
          <a:prstGeom prst="rect">
            <a:avLst/>
          </a:prstGeom>
          <a:noFill/>
        </p:spPr>
        <p:txBody>
          <a:bodyPr wrap="square" lIns="45720" rIns="45720" tIns="18288" bIns="18288" anchor="t">
            <a:spAutoFit/>
          </a:bodyPr>
          <a:lstStyle/>
          <a:p>
            <a:pPr algn="l"/>
            <a:r>
              <a:rPr sz="800" b="0" i="0">
                <a:solidFill>
                  <a:srgbClr val="5D6D7E"/>
                </a:solidFill>
                <a:latin typeface="Calibri"/>
              </a:rPr>
              <a:t>Course reformulée en risques concurrents avec censure. Deux bornes : une sans hypothèse de dépendance, une sous indépendance conditionnelle</a:t>
            </a:r>
          </a:p>
        </p:txBody>
      </p:sp>
      <p:sp>
        <p:nvSpPr>
          <p:cNvPr id="18" name="TextBox 17"/>
          <p:cNvSpPr txBox="1"/>
          <p:nvPr/>
        </p:nvSpPr>
        <p:spPr>
          <a:xfrm>
            <a:off x="5394959" y="1865376"/>
            <a:ext cx="3429000" cy="822960"/>
          </a:xfrm>
          <a:prstGeom prst="rect">
            <a:avLst/>
          </a:prstGeom>
          <a:noFill/>
        </p:spPr>
        <p:txBody>
          <a:bodyPr wrap="square" lIns="45720" rIns="45720" tIns="18288" bIns="18288" anchor="t">
            <a:spAutoFit/>
          </a:bodyPr>
          <a:lstStyle/>
          <a:p>
            <a:pPr algn="l"/>
            <a:r>
              <a:rPr sz="800" b="1" i="0">
                <a:solidFill>
                  <a:srgbClr val="2C3E50"/>
                </a:solidFill>
                <a:latin typeface="Calibri"/>
              </a:rPr>
              <a:t>Terminé.</a:t>
            </a:r>
            <a:r>
              <a:rPr sz="800" b="0" i="0">
                <a:solidFill>
                  <a:srgbClr val="5D6D7E"/>
                </a:solidFill>
                <a:latin typeface="Calibri"/>
              </a:rPr>
              <a:t> L'indépendance conditionnelle est </a:t>
            </a:r>
            <a:r>
              <a:rPr sz="800" b="1" i="0">
                <a:solidFill>
                  <a:srgbClr val="2C3E50"/>
                </a:solidFill>
                <a:latin typeface="Calibri"/>
              </a:rPr>
              <a:t>réfutée par le code</a:t>
            </a:r>
            <a:r>
              <a:rPr sz="800" b="0" i="0">
                <a:solidFill>
                  <a:srgbClr val="5D6D7E"/>
                </a:solidFill>
                <a:latin typeface="Calibri"/>
              </a:rPr>
              <a:t> — la forêt partage un seul générateur aléatoire. La borne sans hypothèse porte seule, elle sature, la taille critique d'ensemble est retirée</a:t>
            </a:r>
          </a:p>
        </p:txBody>
      </p:sp>
      <p:sp>
        <p:nvSpPr>
          <p:cNvPr id="19" name="Rectangle 18"/>
          <p:cNvSpPr/>
          <p:nvPr/>
        </p:nvSpPr>
        <p:spPr>
          <a:xfrm>
            <a:off x="274320" y="2724912"/>
            <a:ext cx="8595360" cy="8961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2761488"/>
            <a:ext cx="1463039" cy="822960"/>
          </a:xfrm>
          <a:prstGeom prst="rect">
            <a:avLst/>
          </a:prstGeom>
          <a:noFill/>
        </p:spPr>
        <p:txBody>
          <a:bodyPr wrap="square" lIns="45720" rIns="45720" tIns="18288" bIns="18288" anchor="t">
            <a:spAutoFit/>
          </a:bodyPr>
          <a:lstStyle/>
          <a:p>
            <a:pPr algn="l"/>
            <a:r>
              <a:rPr sz="800" b="1" i="0">
                <a:solidFill>
                  <a:srgbClr val="2C3E50"/>
                </a:solidFill>
                <a:latin typeface="Calibri"/>
              </a:rPr>
              <a:t>W3 — Métrique d'adaptation, pas de trajectoires</a:t>
            </a:r>
          </a:p>
        </p:txBody>
      </p:sp>
      <p:sp>
        <p:nvSpPr>
          <p:cNvPr id="21" name="TextBox 20"/>
          <p:cNvSpPr txBox="1"/>
          <p:nvPr/>
        </p:nvSpPr>
        <p:spPr>
          <a:xfrm>
            <a:off x="1874519" y="2761488"/>
            <a:ext cx="3429000" cy="822960"/>
          </a:xfrm>
          <a:prstGeom prst="rect">
            <a:avLst/>
          </a:prstGeom>
          <a:noFill/>
        </p:spPr>
        <p:txBody>
          <a:bodyPr wrap="square" lIns="45720" rIns="45720" tIns="18288" bIns="18288" anchor="t">
            <a:spAutoFit/>
          </a:bodyPr>
          <a:lstStyle/>
          <a:p>
            <a:pPr algn="l"/>
            <a:r>
              <a:rPr sz="800" b="0" i="0">
                <a:solidFill>
                  <a:srgbClr val="5D6D7E"/>
                </a:solidFill>
                <a:latin typeface="Calibri"/>
              </a:rPr>
              <a:t>Famille de temps d'adaptation définie et instrumentée. Bras contrefactuels partageant flux, histoire et bifurcation</a:t>
            </a:r>
          </a:p>
        </p:txBody>
      </p:sp>
      <p:sp>
        <p:nvSpPr>
          <p:cNvPr id="22" name="TextBox 21"/>
          <p:cNvSpPr txBox="1"/>
          <p:nvPr/>
        </p:nvSpPr>
        <p:spPr>
          <a:xfrm>
            <a:off x="5394959" y="2761488"/>
            <a:ext cx="3429000" cy="822960"/>
          </a:xfrm>
          <a:prstGeom prst="rect">
            <a:avLst/>
          </a:prstGeom>
          <a:noFill/>
        </p:spPr>
        <p:txBody>
          <a:bodyPr wrap="square" lIns="45720" rIns="45720" tIns="18288" bIns="18288" anchor="t">
            <a:spAutoFit/>
          </a:bodyPr>
          <a:lstStyle/>
          <a:p>
            <a:pPr algn="l"/>
            <a:r>
              <a:rPr sz="800" b="1" i="0">
                <a:solidFill>
                  <a:srgbClr val="2C3E50"/>
                </a:solidFill>
                <a:latin typeface="Calibri"/>
              </a:rPr>
              <a:t>Terminé.</a:t>
            </a:r>
            <a:r>
              <a:rPr sz="800" b="0" i="0">
                <a:solidFill>
                  <a:srgbClr val="5D6D7E"/>
                </a:solidFill>
                <a:latin typeface="Calibri"/>
              </a:rPr>
              <a:t> L'effacement vient à </a:t>
            </a:r>
            <a:r>
              <a:rPr sz="800" b="1" i="0">
                <a:solidFill>
                  <a:srgbClr val="2C3E50"/>
                </a:solidFill>
                <a:latin typeface="Calibri"/>
              </a:rPr>
              <a:t>98,6 %</a:t>
            </a:r>
            <a:r>
              <a:rPr sz="800" b="0" i="0">
                <a:solidFill>
                  <a:srgbClr val="5D6D7E"/>
                </a:solidFill>
                <a:latin typeface="Calibri"/>
              </a:rPr>
              <a:t> de l'apprentissage ordinaire des arbres survivants. Le premier remplacement pèse </a:t>
            </a:r>
            <a:r>
              <a:rPr sz="800" b="1" i="0">
                <a:solidFill>
                  <a:srgbClr val="2C3E50"/>
                </a:solidFill>
                <a:latin typeface="Calibri"/>
              </a:rPr>
              <a:t>0,71 %</a:t>
            </a:r>
            <a:r>
              <a:rPr sz="800" b="0" i="0">
                <a:solidFill>
                  <a:srgbClr val="5D6D7E"/>
                </a:solidFill>
                <a:latin typeface="Calibri"/>
              </a:rPr>
              <a:t> du volume — et </a:t>
            </a:r>
            <a:r>
              <a:rPr sz="800" b="1" i="0">
                <a:solidFill>
                  <a:srgbClr val="2C3E50"/>
                </a:solidFill>
                <a:latin typeface="Calibri"/>
              </a:rPr>
              <a:t>31 points</a:t>
            </a:r>
            <a:r>
              <a:rPr sz="800" b="0" i="0">
                <a:solidFill>
                  <a:srgbClr val="5D6D7E"/>
                </a:solidFill>
                <a:latin typeface="Calibri"/>
              </a:rPr>
              <a:t> de taux de détection</a:t>
            </a:r>
          </a:p>
        </p:txBody>
      </p:sp>
      <p:sp>
        <p:nvSpPr>
          <p:cNvPr id="23" name="Rectangle 22"/>
          <p:cNvSpPr/>
          <p:nvPr/>
        </p:nvSpPr>
        <p:spPr>
          <a:xfrm>
            <a:off x="274320" y="3621024"/>
            <a:ext cx="8595360" cy="896112"/>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3657600"/>
            <a:ext cx="1463039" cy="822960"/>
          </a:xfrm>
          <a:prstGeom prst="rect">
            <a:avLst/>
          </a:prstGeom>
          <a:noFill/>
        </p:spPr>
        <p:txBody>
          <a:bodyPr wrap="square" lIns="45720" rIns="45720" tIns="18288" bIns="18288" anchor="t">
            <a:spAutoFit/>
          </a:bodyPr>
          <a:lstStyle/>
          <a:p>
            <a:pPr algn="l"/>
            <a:r>
              <a:rPr sz="800" b="1" i="0">
                <a:solidFill>
                  <a:srgbClr val="2C3E50"/>
                </a:solidFill>
                <a:latin typeface="Calibri"/>
              </a:rPr>
              <a:t>W4 — « Si et seulement si » réfuté, condition hybride</a:t>
            </a:r>
          </a:p>
        </p:txBody>
      </p:sp>
      <p:sp>
        <p:nvSpPr>
          <p:cNvPr id="25" name="TextBox 24"/>
          <p:cNvSpPr txBox="1"/>
          <p:nvPr/>
        </p:nvSpPr>
        <p:spPr>
          <a:xfrm>
            <a:off x="1874519" y="3657600"/>
            <a:ext cx="3429000" cy="822960"/>
          </a:xfrm>
          <a:prstGeom prst="rect">
            <a:avLst/>
          </a:prstGeom>
          <a:noFill/>
        </p:spPr>
        <p:txBody>
          <a:bodyPr wrap="square" lIns="45720" rIns="45720" tIns="18288" bIns="18288" anchor="t">
            <a:spAutoFit/>
          </a:bodyPr>
          <a:lstStyle/>
          <a:p>
            <a:pPr algn="l"/>
            <a:r>
              <a:rPr sz="800" b="0" i="0">
                <a:solidFill>
                  <a:srgbClr val="5D6D7E"/>
                </a:solidFill>
                <a:latin typeface="Calibri"/>
              </a:rPr>
              <a:t>Biconditionnel retiré. Condition suffisante de calibration, exprimée en budget contre exigence, indépendante de la famille de détecteur</a:t>
            </a:r>
          </a:p>
        </p:txBody>
      </p:sp>
      <p:sp>
        <p:nvSpPr>
          <p:cNvPr id="26" name="TextBox 25"/>
          <p:cNvSpPr txBox="1"/>
          <p:nvPr/>
        </p:nvSpPr>
        <p:spPr>
          <a:xfrm>
            <a:off x="5394959" y="3657600"/>
            <a:ext cx="3429000" cy="822960"/>
          </a:xfrm>
          <a:prstGeom prst="rect">
            <a:avLst/>
          </a:prstGeom>
          <a:noFill/>
        </p:spPr>
        <p:txBody>
          <a:bodyPr wrap="square" lIns="45720" rIns="45720" tIns="18288" bIns="18288" anchor="t">
            <a:spAutoFit/>
          </a:bodyPr>
          <a:lstStyle/>
          <a:p>
            <a:pPr algn="l"/>
            <a:r>
              <a:rPr sz="800" b="1" i="0">
                <a:solidFill>
                  <a:srgbClr val="2C3E50"/>
                </a:solidFill>
                <a:latin typeface="Calibri"/>
              </a:rPr>
              <a:t>Terminé.</a:t>
            </a:r>
            <a:r>
              <a:rPr sz="800" b="0" i="0">
                <a:solidFill>
                  <a:srgbClr val="5D6D7E"/>
                </a:solidFill>
                <a:latin typeface="Calibri"/>
              </a:rPr>
              <a:t> Plancher de détectabilité mesuré </a:t>
            </a:r>
            <a:r>
              <a:rPr sz="800" b="1" i="0">
                <a:solidFill>
                  <a:srgbClr val="2C3E50"/>
                </a:solidFill>
                <a:latin typeface="Calibri"/>
              </a:rPr>
              <a:t>Δe_c = 0,120</a:t>
            </a:r>
            <a:r>
              <a:rPr sz="800" b="0" i="0">
                <a:solidFill>
                  <a:srgbClr val="5D6D7E"/>
                </a:solidFill>
                <a:latin typeface="Calibri"/>
              </a:rPr>
              <a:t> ; seuil opérationnel </a:t>
            </a:r>
            <a:r>
              <a:rPr sz="800" b="1" i="0">
                <a:solidFill>
                  <a:srgbClr val="2C3E50"/>
                </a:solidFill>
                <a:latin typeface="Calibri"/>
              </a:rPr>
              <a:t>λ_op = 21,9</a:t>
            </a:r>
            <a:r>
              <a:rPr sz="800" b="0" i="0">
                <a:solidFill>
                  <a:srgbClr val="5D6D7E"/>
                </a:solidFill>
                <a:latin typeface="Calibri"/>
              </a:rPr>
              <a:t>. Deux prédicats publiés au lieu d'un, chacun avec son mécanisme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État du travail — W5 à W8</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8</a:t>
            </a:r>
          </a:p>
        </p:txBody>
      </p:sp>
      <p:sp>
        <p:nvSpPr>
          <p:cNvPr id="5" name="Rectangle 4"/>
          <p:cNvSpPr/>
          <p:nvPr/>
        </p:nvSpPr>
        <p:spPr>
          <a:xfrm>
            <a:off x="274320" y="658368"/>
            <a:ext cx="1554480" cy="2743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8368"/>
            <a:ext cx="1554480" cy="274320"/>
          </a:xfrm>
          <a:prstGeom prst="rect">
            <a:avLst/>
          </a:prstGeom>
          <a:noFill/>
        </p:spPr>
        <p:txBody>
          <a:bodyPr wrap="square" lIns="45720" rIns="45720" tIns="18288" bIns="18288" anchor="ctr">
            <a:spAutoFit/>
          </a:bodyPr>
          <a:lstStyle/>
          <a:p>
            <a:pPr algn="l"/>
            <a:r>
              <a:rPr sz="900" b="1" i="0">
                <a:solidFill>
                  <a:srgbClr val="FFFFFF"/>
                </a:solidFill>
                <a:latin typeface="Calibri"/>
              </a:rPr>
              <a:t>  Faiblesse</a:t>
            </a:r>
          </a:p>
        </p:txBody>
      </p:sp>
      <p:sp>
        <p:nvSpPr>
          <p:cNvPr id="7" name="Rectangle 6"/>
          <p:cNvSpPr/>
          <p:nvPr/>
        </p:nvSpPr>
        <p:spPr>
          <a:xfrm>
            <a:off x="1828800" y="658368"/>
            <a:ext cx="3520440" cy="2743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658368"/>
            <a:ext cx="3520440" cy="274320"/>
          </a:xfrm>
          <a:prstGeom prst="rect">
            <a:avLst/>
          </a:prstGeom>
          <a:noFill/>
        </p:spPr>
        <p:txBody>
          <a:bodyPr wrap="square" lIns="45720" rIns="45720" tIns="18288" bIns="18288" anchor="ctr">
            <a:spAutoFit/>
          </a:bodyPr>
          <a:lstStyle/>
          <a:p>
            <a:pPr algn="l"/>
            <a:r>
              <a:rPr sz="900" b="1" i="0">
                <a:solidFill>
                  <a:srgbClr val="FFFFFF"/>
                </a:solidFill>
                <a:latin typeface="Calibri"/>
              </a:rPr>
              <a:t>  Travail réalisé</a:t>
            </a:r>
          </a:p>
        </p:txBody>
      </p:sp>
      <p:sp>
        <p:nvSpPr>
          <p:cNvPr id="9" name="Rectangle 8"/>
          <p:cNvSpPr/>
          <p:nvPr/>
        </p:nvSpPr>
        <p:spPr>
          <a:xfrm>
            <a:off x="5349240" y="658368"/>
            <a:ext cx="3520440" cy="2743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49240" y="658368"/>
            <a:ext cx="3520440" cy="274320"/>
          </a:xfrm>
          <a:prstGeom prst="rect">
            <a:avLst/>
          </a:prstGeom>
          <a:noFill/>
        </p:spPr>
        <p:txBody>
          <a:bodyPr wrap="square" lIns="45720" rIns="45720" tIns="18288" bIns="18288" anchor="ctr">
            <a:spAutoFit/>
          </a:bodyPr>
          <a:lstStyle/>
          <a:p>
            <a:pPr algn="l"/>
            <a:r>
              <a:rPr sz="900" b="1" i="0">
                <a:solidFill>
                  <a:srgbClr val="FFFFFF"/>
                </a:solidFill>
                <a:latin typeface="Calibri"/>
              </a:rPr>
              <a:t>  Résultat</a:t>
            </a:r>
          </a:p>
        </p:txBody>
      </p:sp>
      <p:sp>
        <p:nvSpPr>
          <p:cNvPr id="11" name="Rectangle 10"/>
          <p:cNvSpPr/>
          <p:nvPr/>
        </p:nvSpPr>
        <p:spPr>
          <a:xfrm>
            <a:off x="274320" y="932688"/>
            <a:ext cx="8595360" cy="8046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969264"/>
            <a:ext cx="1463039" cy="731520"/>
          </a:xfrm>
          <a:prstGeom prst="rect">
            <a:avLst/>
          </a:prstGeom>
          <a:noFill/>
        </p:spPr>
        <p:txBody>
          <a:bodyPr wrap="square" lIns="45720" rIns="45720" tIns="18288" bIns="18288" anchor="t">
            <a:spAutoFit/>
          </a:bodyPr>
          <a:lstStyle/>
          <a:p>
            <a:pPr algn="l"/>
            <a:r>
              <a:rPr sz="800" b="1" i="0">
                <a:solidFill>
                  <a:srgbClr val="2C3E50"/>
                </a:solidFill>
                <a:latin typeface="Calibri"/>
              </a:rPr>
              <a:t>W5 — Architecture non motivée</a:t>
            </a:r>
          </a:p>
        </p:txBody>
      </p:sp>
      <p:sp>
        <p:nvSpPr>
          <p:cNvPr id="13" name="TextBox 12"/>
          <p:cNvSpPr txBox="1"/>
          <p:nvPr/>
        </p:nvSpPr>
        <p:spPr>
          <a:xfrm>
            <a:off x="1874519" y="969264"/>
            <a:ext cx="3429000" cy="731520"/>
          </a:xfrm>
          <a:prstGeom prst="rect">
            <a:avLst/>
          </a:prstGeom>
          <a:noFill/>
        </p:spPr>
        <p:txBody>
          <a:bodyPr wrap="square" lIns="45720" rIns="45720" tIns="18288" bIns="18288" anchor="t">
            <a:spAutoFit/>
          </a:bodyPr>
          <a:lstStyle/>
          <a:p>
            <a:pPr algn="l"/>
            <a:r>
              <a:rPr sz="800" b="0" i="0">
                <a:solidFill>
                  <a:srgbClr val="5D6D7E"/>
                </a:solidFill>
                <a:latin typeface="Calibri"/>
              </a:rPr>
              <a:t>Problème reformulé en détection de défaut sur un résidu endogène — le classifieur agit sur la grandeur même que le moniteur lit. Ancrage réglementaire et outillage de production</a:t>
            </a:r>
          </a:p>
        </p:txBody>
      </p:sp>
      <p:sp>
        <p:nvSpPr>
          <p:cNvPr id="14" name="TextBox 13"/>
          <p:cNvSpPr txBox="1"/>
          <p:nvPr/>
        </p:nvSpPr>
        <p:spPr>
          <a:xfrm>
            <a:off x="5394959" y="969264"/>
            <a:ext cx="3429000" cy="731520"/>
          </a:xfrm>
          <a:prstGeom prst="rect">
            <a:avLst/>
          </a:prstGeom>
          <a:noFill/>
        </p:spPr>
        <p:txBody>
          <a:bodyPr wrap="square" lIns="45720" rIns="45720" tIns="18288" bIns="18288" anchor="t">
            <a:spAutoFit/>
          </a:bodyPr>
          <a:lstStyle/>
          <a:p>
            <a:pPr algn="l"/>
            <a:r>
              <a:rPr sz="800" b="1" i="0">
                <a:solidFill>
                  <a:srgbClr val="2C3E50"/>
                </a:solidFill>
                <a:latin typeface="Calibri"/>
              </a:rPr>
              <a:t>Terminé.</a:t>
            </a:r>
            <a:r>
              <a:rPr sz="800" b="0" i="0">
                <a:solidFill>
                  <a:srgbClr val="5D6D7E"/>
                </a:solidFill>
                <a:latin typeface="Calibri"/>
              </a:rPr>
              <a:t> Le cadre existait depuis trente ans en automatique : un régulateur à action intégrale masque le défaut aux détecteurs à résidus. Le règlement européen sur l'IA nomme le danger</a:t>
            </a:r>
          </a:p>
        </p:txBody>
      </p:sp>
      <p:sp>
        <p:nvSpPr>
          <p:cNvPr id="15" name="Rectangle 14"/>
          <p:cNvSpPr/>
          <p:nvPr/>
        </p:nvSpPr>
        <p:spPr>
          <a:xfrm>
            <a:off x="274320" y="1737360"/>
            <a:ext cx="8595360" cy="804672"/>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1773936"/>
            <a:ext cx="1463039" cy="731520"/>
          </a:xfrm>
          <a:prstGeom prst="rect">
            <a:avLst/>
          </a:prstGeom>
          <a:noFill/>
        </p:spPr>
        <p:txBody>
          <a:bodyPr wrap="square" lIns="45720" rIns="45720" tIns="18288" bIns="18288" anchor="t">
            <a:spAutoFit/>
          </a:bodyPr>
          <a:lstStyle/>
          <a:p>
            <a:pPr algn="l"/>
            <a:r>
              <a:rPr sz="800" b="1" i="0">
                <a:solidFill>
                  <a:srgbClr val="2C3E50"/>
                </a:solidFill>
                <a:latin typeface="Calibri"/>
              </a:rPr>
              <a:t>W6 — Artefact de bibliothèque ?</a:t>
            </a:r>
          </a:p>
        </p:txBody>
      </p:sp>
      <p:sp>
        <p:nvSpPr>
          <p:cNvPr id="17" name="TextBox 16"/>
          <p:cNvSpPr txBox="1"/>
          <p:nvPr/>
        </p:nvSpPr>
        <p:spPr>
          <a:xfrm>
            <a:off x="1874519" y="1773936"/>
            <a:ext cx="3429000" cy="731520"/>
          </a:xfrm>
          <a:prstGeom prst="rect">
            <a:avLst/>
          </a:prstGeom>
          <a:noFill/>
        </p:spPr>
        <p:txBody>
          <a:bodyPr wrap="square" lIns="45720" rIns="45720" tIns="18288" bIns="18288" anchor="t">
            <a:spAutoFit/>
          </a:bodyPr>
          <a:lstStyle/>
          <a:p>
            <a:pPr algn="l"/>
            <a:r>
              <a:rPr sz="800" b="0" i="0">
                <a:solidFill>
                  <a:srgbClr val="5D6D7E"/>
                </a:solidFill>
                <a:latin typeface="Calibri"/>
              </a:rPr>
              <a:t>Autres mécanismes internes, seconde implémentation, second générateur à prior équilibré</a:t>
            </a:r>
          </a:p>
        </p:txBody>
      </p:sp>
      <p:sp>
        <p:nvSpPr>
          <p:cNvPr id="18" name="TextBox 17"/>
          <p:cNvSpPr txBox="1"/>
          <p:nvPr/>
        </p:nvSpPr>
        <p:spPr>
          <a:xfrm>
            <a:off x="5394959" y="1773936"/>
            <a:ext cx="3429000" cy="731520"/>
          </a:xfrm>
          <a:prstGeom prst="rect">
            <a:avLst/>
          </a:prstGeom>
          <a:noFill/>
        </p:spPr>
        <p:txBody>
          <a:bodyPr wrap="square" lIns="45720" rIns="45720" tIns="18288" bIns="18288" anchor="t">
            <a:spAutoFit/>
          </a:bodyPr>
          <a:lstStyle/>
          <a:p>
            <a:pPr algn="l"/>
            <a:r>
              <a:rPr sz="800" b="1" i="0">
                <a:solidFill>
                  <a:srgbClr val="2C3E50"/>
                </a:solidFill>
                <a:latin typeface="Calibri"/>
              </a:rPr>
              <a:t>Terminé.</a:t>
            </a:r>
            <a:r>
              <a:rPr sz="800" b="0" i="0">
                <a:solidFill>
                  <a:srgbClr val="5D6D7E"/>
                </a:solidFill>
                <a:latin typeface="Calibri"/>
              </a:rPr>
              <a:t> Le phénomène survit partout, mais il est </a:t>
            </a:r>
            <a:r>
              <a:rPr sz="800" b="1" i="0">
                <a:solidFill>
                  <a:srgbClr val="2C3E50"/>
                </a:solidFill>
                <a:latin typeface="Calibri"/>
              </a:rPr>
              <a:t>moins extrême</a:t>
            </a:r>
            <a:r>
              <a:rPr sz="800" b="0" i="0">
                <a:solidFill>
                  <a:srgbClr val="5D6D7E"/>
                </a:solidFill>
                <a:latin typeface="Calibri"/>
              </a:rPr>
              <a:t> que la grille publiée ne le disait : 0,99–1,00 de manqués sur la famille d'origine, </a:t>
            </a:r>
            <a:r>
              <a:rPr sz="800" b="1" i="0">
                <a:solidFill>
                  <a:srgbClr val="2C3E50"/>
                </a:solidFill>
                <a:latin typeface="Calibri"/>
              </a:rPr>
              <a:t>0,33–0,77</a:t>
            </a:r>
            <a:r>
              <a:rPr sz="800" b="0" i="0">
                <a:solidFill>
                  <a:srgbClr val="5D6D7E"/>
                </a:solidFill>
                <a:latin typeface="Calibri"/>
              </a:rPr>
              <a:t> sous le générateur corrigé</a:t>
            </a:r>
          </a:p>
        </p:txBody>
      </p:sp>
      <p:sp>
        <p:nvSpPr>
          <p:cNvPr id="19" name="Rectangle 18"/>
          <p:cNvSpPr/>
          <p:nvPr/>
        </p:nvSpPr>
        <p:spPr>
          <a:xfrm>
            <a:off x="274320" y="2542032"/>
            <a:ext cx="8595360" cy="8046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2578608"/>
            <a:ext cx="1463039" cy="731520"/>
          </a:xfrm>
          <a:prstGeom prst="rect">
            <a:avLst/>
          </a:prstGeom>
          <a:noFill/>
        </p:spPr>
        <p:txBody>
          <a:bodyPr wrap="square" lIns="45720" rIns="45720" tIns="18288" bIns="18288" anchor="t">
            <a:spAutoFit/>
          </a:bodyPr>
          <a:lstStyle/>
          <a:p>
            <a:pPr algn="l"/>
            <a:r>
              <a:rPr sz="800" b="1" i="0">
                <a:solidFill>
                  <a:srgbClr val="2C3E50"/>
                </a:solidFill>
                <a:latin typeface="Calibri"/>
              </a:rPr>
              <a:t>W7 — Immunité surinterprétée</a:t>
            </a:r>
          </a:p>
        </p:txBody>
      </p:sp>
      <p:sp>
        <p:nvSpPr>
          <p:cNvPr id="21" name="TextBox 20"/>
          <p:cNvSpPr txBox="1"/>
          <p:nvPr/>
        </p:nvSpPr>
        <p:spPr>
          <a:xfrm>
            <a:off x="1874519" y="2578608"/>
            <a:ext cx="3429000" cy="731520"/>
          </a:xfrm>
          <a:prstGeom prst="rect">
            <a:avLst/>
          </a:prstGeom>
          <a:noFill/>
        </p:spPr>
        <p:txBody>
          <a:bodyPr wrap="square" lIns="45720" rIns="45720" tIns="18288" bIns="18288" anchor="t">
            <a:spAutoFit/>
          </a:bodyPr>
          <a:lstStyle/>
          <a:p>
            <a:pPr algn="l"/>
            <a:r>
              <a:rPr sz="800" b="0" i="0">
                <a:solidFill>
                  <a:srgbClr val="5D6D7E"/>
                </a:solidFill>
                <a:latin typeface="Calibri"/>
              </a:rPr>
              <a:t>Balayage complet, niveaux de fausse alarme égalisés, détecteur ré-armé à vif</a:t>
            </a:r>
          </a:p>
        </p:txBody>
      </p:sp>
      <p:sp>
        <p:nvSpPr>
          <p:cNvPr id="22" name="TextBox 21"/>
          <p:cNvSpPr txBox="1"/>
          <p:nvPr/>
        </p:nvSpPr>
        <p:spPr>
          <a:xfrm>
            <a:off x="5394959" y="2578608"/>
            <a:ext cx="3429000" cy="731520"/>
          </a:xfrm>
          <a:prstGeom prst="rect">
            <a:avLst/>
          </a:prstGeom>
          <a:noFill/>
        </p:spPr>
        <p:txBody>
          <a:bodyPr wrap="square" lIns="45720" rIns="45720" tIns="18288" bIns="18288" anchor="t">
            <a:spAutoFit/>
          </a:bodyPr>
          <a:lstStyle/>
          <a:p>
            <a:pPr algn="l"/>
            <a:r>
              <a:rPr sz="800" b="1" i="0">
                <a:solidFill>
                  <a:srgbClr val="2C3E50"/>
                </a:solidFill>
                <a:latin typeface="Calibri"/>
              </a:rPr>
              <a:t>Terminé, et retourné.</a:t>
            </a:r>
            <a:r>
              <a:rPr sz="800" b="0" i="0">
                <a:solidFill>
                  <a:srgbClr val="5D6D7E"/>
                </a:solidFill>
                <a:latin typeface="Calibri"/>
              </a:rPr>
              <a:t> À seuil publié, le détecteur à fenêtres est lu </a:t>
            </a:r>
            <a:r>
              <a:rPr sz="800" b="1" i="0">
                <a:solidFill>
                  <a:srgbClr val="2C3E50"/>
                </a:solidFill>
                <a:latin typeface="Calibri"/>
              </a:rPr>
              <a:t>4,5× plus permissif</a:t>
            </a:r>
            <a:r>
              <a:rPr sz="800" b="0" i="0">
                <a:solidFill>
                  <a:srgbClr val="5D6D7E"/>
                </a:solidFill>
                <a:latin typeface="Calibri"/>
              </a:rPr>
              <a:t> que le cumulatif. Sur flux à socle d'erreur non nul, il alarme </a:t>
            </a:r>
            <a:r>
              <a:rPr sz="800" b="1" i="0">
                <a:solidFill>
                  <a:srgbClr val="2C3E50"/>
                </a:solidFill>
                <a:latin typeface="Calibri"/>
              </a:rPr>
              <a:t>avant même la rupture</a:t>
            </a:r>
            <a:r>
              <a:rPr sz="800" b="0" i="0">
                <a:solidFill>
                  <a:srgbClr val="5D6D7E"/>
                </a:solidFill>
                <a:latin typeface="Calibri"/>
              </a:rPr>
              <a:t>, à tous les niveaux</a:t>
            </a:r>
          </a:p>
        </p:txBody>
      </p:sp>
      <p:sp>
        <p:nvSpPr>
          <p:cNvPr id="23" name="Rectangle 22"/>
          <p:cNvSpPr/>
          <p:nvPr/>
        </p:nvSpPr>
        <p:spPr>
          <a:xfrm>
            <a:off x="274320" y="3346704"/>
            <a:ext cx="8595360" cy="804672"/>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3383280"/>
            <a:ext cx="1463039" cy="731520"/>
          </a:xfrm>
          <a:prstGeom prst="rect">
            <a:avLst/>
          </a:prstGeom>
          <a:noFill/>
        </p:spPr>
        <p:txBody>
          <a:bodyPr wrap="square" lIns="45720" rIns="45720" tIns="18288" bIns="18288" anchor="t">
            <a:spAutoFit/>
          </a:bodyPr>
          <a:lstStyle/>
          <a:p>
            <a:pPr algn="l"/>
            <a:r>
              <a:rPr sz="800" b="1" i="0">
                <a:solidFill>
                  <a:srgbClr val="2C3E50"/>
                </a:solidFill>
                <a:latin typeface="Calibri"/>
              </a:rPr>
              <a:t>W8 — Validité externe, protocole, cohérence</a:t>
            </a:r>
          </a:p>
        </p:txBody>
      </p:sp>
      <p:sp>
        <p:nvSpPr>
          <p:cNvPr id="25" name="TextBox 24"/>
          <p:cNvSpPr txBox="1"/>
          <p:nvPr/>
        </p:nvSpPr>
        <p:spPr>
          <a:xfrm>
            <a:off x="1874519" y="3383280"/>
            <a:ext cx="3429000" cy="731520"/>
          </a:xfrm>
          <a:prstGeom prst="rect">
            <a:avLst/>
          </a:prstGeom>
          <a:noFill/>
        </p:spPr>
        <p:txBody>
          <a:bodyPr wrap="square" lIns="45720" rIns="45720" tIns="18288" bIns="18288" anchor="t">
            <a:spAutoFit/>
          </a:bodyPr>
          <a:lstStyle/>
          <a:p>
            <a:pPr algn="l"/>
            <a:r>
              <a:rPr sz="800" b="0" i="0">
                <a:solidFill>
                  <a:srgbClr val="5D6D7E"/>
                </a:solidFill>
                <a:latin typeface="Calibri"/>
              </a:rPr>
              <a:t>Section protocole complète. Oracle sur classifieur gelé. Correction pour comparaisons multiples. Gel des empreintes</a:t>
            </a:r>
          </a:p>
        </p:txBody>
      </p:sp>
      <p:sp>
        <p:nvSpPr>
          <p:cNvPr id="26" name="TextBox 25"/>
          <p:cNvSpPr txBox="1"/>
          <p:nvPr/>
        </p:nvSpPr>
        <p:spPr>
          <a:xfrm>
            <a:off x="5394959" y="3383280"/>
            <a:ext cx="3429000" cy="731520"/>
          </a:xfrm>
          <a:prstGeom prst="rect">
            <a:avLst/>
          </a:prstGeom>
          <a:noFill/>
        </p:spPr>
        <p:txBody>
          <a:bodyPr wrap="square" lIns="45720" rIns="45720" tIns="18288" bIns="18288" anchor="t">
            <a:spAutoFit/>
          </a:bodyPr>
          <a:lstStyle/>
          <a:p>
            <a:pPr algn="l"/>
            <a:r>
              <a:rPr sz="800" b="1" i="0">
                <a:solidFill>
                  <a:srgbClr val="2C3E50"/>
                </a:solidFill>
                <a:latin typeface="Calibri"/>
              </a:rPr>
              <a:t>Terminé.</a:t>
            </a:r>
            <a:r>
              <a:rPr sz="800" b="0" i="0">
                <a:solidFill>
                  <a:srgbClr val="5D6D7E"/>
                </a:solidFill>
                <a:latin typeface="Calibri"/>
              </a:rPr>
              <a:t> L'écart de </a:t>
            </a:r>
            <a:r>
              <a:rPr sz="800" b="1" i="0">
                <a:solidFill>
                  <a:srgbClr val="2C3E50"/>
                </a:solidFill>
                <a:latin typeface="Calibri"/>
              </a:rPr>
              <a:t>10,6×</a:t>
            </a:r>
            <a:r>
              <a:rPr sz="800" b="0" i="0">
                <a:solidFill>
                  <a:srgbClr val="5D6D7E"/>
                </a:solidFill>
                <a:latin typeface="Calibri"/>
              </a:rPr>
              <a:t> sur données réelles tombe à </a:t>
            </a:r>
            <a:r>
              <a:rPr sz="800" b="1" i="0">
                <a:solidFill>
                  <a:srgbClr val="2C3E50"/>
                </a:solidFill>
                <a:latin typeface="Calibri"/>
              </a:rPr>
              <a:t>1,27</a:t>
            </a:r>
            <a:r>
              <a:rPr sz="800" b="0" i="0">
                <a:solidFill>
                  <a:srgbClr val="5D6D7E"/>
                </a:solidFill>
                <a:latin typeface="Calibri"/>
              </a:rPr>
              <a:t> à budget égal : 90 % venait du seuil. Un jeu de données requalifié en témoin négatif, prouvé</a:t>
            </a:r>
          </a:p>
        </p:txBody>
      </p:sp>
      <p:sp>
        <p:nvSpPr>
          <p:cNvPr id="27" name="Rectangle 26"/>
          <p:cNvSpPr/>
          <p:nvPr/>
        </p:nvSpPr>
        <p:spPr>
          <a:xfrm>
            <a:off x="274320" y="4434840"/>
            <a:ext cx="8595360" cy="246888"/>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4434840"/>
            <a:ext cx="8595360" cy="246888"/>
          </a:xfrm>
          <a:prstGeom prst="rect">
            <a:avLst/>
          </a:prstGeom>
          <a:noFill/>
        </p:spPr>
        <p:txBody>
          <a:bodyPr wrap="square" lIns="45720" rIns="45720" tIns="18288" bIns="18288" anchor="ctr">
            <a:spAutoFit/>
          </a:bodyPr>
          <a:lstStyle/>
          <a:p>
            <a:pPr algn="ctr"/>
            <a:r>
              <a:rPr sz="900" b="1" i="0">
                <a:solidFill>
                  <a:srgbClr val="E08000"/>
                </a:solidFill>
                <a:latin typeface="Calibri"/>
              </a:rPr>
              <a:t>★ Manuscrit figé le 27/09 : 64 pages, 192 tests au vert, PDF reproductible à l'octet. Reste l'audit adversarial.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371600"/>
            <a:ext cx="9144000" cy="237744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691640"/>
            <a:ext cx="1371600" cy="1371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91640"/>
            <a:ext cx="1371600" cy="1371600"/>
          </a:xfrm>
          <a:prstGeom prst="rect">
            <a:avLst/>
          </a:prstGeom>
          <a:noFill/>
        </p:spPr>
        <p:txBody>
          <a:bodyPr wrap="square" lIns="45720" rIns="45720" tIns="18288" bIns="18288" anchor="ctr">
            <a:spAutoFit/>
          </a:bodyPr>
          <a:lstStyle/>
          <a:p>
            <a:pPr algn="ctr"/>
            <a:r>
              <a:rPr sz="4200" b="1" i="0">
                <a:solidFill>
                  <a:srgbClr val="FFFFFF"/>
                </a:solidFill>
                <a:latin typeface="Calibri"/>
              </a:rPr>
              <a:t>C</a:t>
            </a:r>
          </a:p>
        </p:txBody>
      </p:sp>
      <p:sp>
        <p:nvSpPr>
          <p:cNvPr id="5" name="TextBox 4"/>
          <p:cNvSpPr txBox="1"/>
          <p:nvPr/>
        </p:nvSpPr>
        <p:spPr>
          <a:xfrm>
            <a:off x="2926080" y="1874519"/>
            <a:ext cx="5486400" cy="548640"/>
          </a:xfrm>
          <a:prstGeom prst="rect">
            <a:avLst/>
          </a:prstGeom>
          <a:noFill/>
        </p:spPr>
        <p:txBody>
          <a:bodyPr wrap="square" lIns="45720" rIns="45720" tIns="18288" bIns="18288" anchor="t">
            <a:spAutoFit/>
          </a:bodyPr>
          <a:lstStyle/>
          <a:p>
            <a:pPr algn="l"/>
            <a:r>
              <a:rPr sz="2600" b="1" i="0">
                <a:solidFill>
                  <a:srgbClr val="FFFFFF"/>
                </a:solidFill>
                <a:latin typeface="Calibri"/>
              </a:rPr>
              <a:t>Résultats, point par point</a:t>
            </a:r>
          </a:p>
        </p:txBody>
      </p:sp>
      <p:sp>
        <p:nvSpPr>
          <p:cNvPr id="6" name="TextBox 5"/>
          <p:cNvSpPr txBox="1"/>
          <p:nvPr/>
        </p:nvSpPr>
        <p:spPr>
          <a:xfrm>
            <a:off x="2926080" y="2697480"/>
            <a:ext cx="5486400" cy="731520"/>
          </a:xfrm>
          <a:prstGeom prst="rect">
            <a:avLst/>
          </a:prstGeom>
          <a:noFill/>
        </p:spPr>
        <p:txBody>
          <a:bodyPr wrap="square" lIns="45720" rIns="45720" tIns="18288" bIns="18288" anchor="t">
            <a:spAutoFit/>
          </a:bodyPr>
          <a:lstStyle/>
          <a:p>
            <a:pPr algn="l"/>
            <a:r>
              <a:rPr sz="1200" b="0" i="0">
                <a:solidFill>
                  <a:srgbClr val="D5DBDB"/>
                </a:solidFill>
                <a:latin typeface="Calibri"/>
              </a:rPr>
              <a:t>Ce qui répond à la demande, ce qui la dépasse, ce qui surprend</a:t>
            </a:r>
          </a:p>
        </p:txBody>
      </p:sp>
      <p:sp>
        <p:nvSpPr>
          <p:cNvPr id="7" name="TextBox 6"/>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W1 — La borne réparée, et ce qu'elle apprend</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10</a:t>
            </a:r>
          </a:p>
        </p:txBody>
      </p:sp>
      <p:sp>
        <p:nvSpPr>
          <p:cNvPr id="5" name="TextBox 4"/>
          <p:cNvSpPr txBox="1"/>
          <p:nvPr/>
        </p:nvSpPr>
        <p:spPr>
          <a:xfrm>
            <a:off x="274320" y="658368"/>
            <a:ext cx="4160520" cy="219456"/>
          </a:xfrm>
          <a:prstGeom prst="rect">
            <a:avLst/>
          </a:prstGeom>
          <a:noFill/>
        </p:spPr>
        <p:txBody>
          <a:bodyPr wrap="square" lIns="45720" rIns="45720" tIns="18288" bIns="18288" anchor="t">
            <a:spAutoFit/>
          </a:bodyPr>
          <a:lstStyle/>
          <a:p>
            <a:pPr algn="l"/>
            <a:r>
              <a:rPr sz="950" b="1" i="0">
                <a:solidFill>
                  <a:srgbClr val="00748C"/>
                </a:solidFill>
                <a:latin typeface="Calibri"/>
              </a:rPr>
              <a:t>Le reproche, en une phrase</a:t>
            </a:r>
          </a:p>
        </p:txBody>
      </p:sp>
      <p:sp>
        <p:nvSpPr>
          <p:cNvPr id="6" name="TextBox 5"/>
          <p:cNvSpPr txBox="1"/>
          <p:nvPr/>
        </p:nvSpPr>
        <p:spPr>
          <a:xfrm>
            <a:off x="274320" y="877824"/>
            <a:ext cx="4160520" cy="457200"/>
          </a:xfrm>
          <a:prstGeom prst="rect">
            <a:avLst/>
          </a:prstGeom>
          <a:noFill/>
        </p:spPr>
        <p:txBody>
          <a:bodyPr wrap="square" lIns="45720" rIns="45720" tIns="18288" bIns="18288" anchor="t">
            <a:spAutoFit/>
          </a:bodyPr>
          <a:lstStyle/>
          <a:p>
            <a:pPr algn="l"/>
            <a:r>
              <a:rPr sz="800" b="0" i="0">
                <a:solidFill>
                  <a:srgbClr val="5D6D7E"/>
                </a:solidFill>
                <a:latin typeface="Calibri"/>
              </a:rPr>
              <a:t>La preuve écrivait E[max] ≤ dérive + fluctuation, puis gardait la dérive seule. Supprimer un terme positif d'une borne supérieure n'est pas permis.</a:t>
            </a:r>
          </a:p>
        </p:txBody>
      </p:sp>
      <p:sp>
        <p:nvSpPr>
          <p:cNvPr id="7" name="TextBox 6"/>
          <p:cNvSpPr txBox="1"/>
          <p:nvPr/>
        </p:nvSpPr>
        <p:spPr>
          <a:xfrm>
            <a:off x="274320" y="1353312"/>
            <a:ext cx="4160520" cy="219456"/>
          </a:xfrm>
          <a:prstGeom prst="rect">
            <a:avLst/>
          </a:prstGeom>
          <a:noFill/>
        </p:spPr>
        <p:txBody>
          <a:bodyPr wrap="square" lIns="45720" rIns="45720" tIns="18288" bIns="18288" anchor="t">
            <a:spAutoFit/>
          </a:bodyPr>
          <a:lstStyle/>
          <a:p>
            <a:pPr algn="l"/>
            <a:r>
              <a:rPr sz="950" b="1" i="0">
                <a:solidFill>
                  <a:srgbClr val="00748C"/>
                </a:solidFill>
                <a:latin typeface="Calibri"/>
              </a:rPr>
              <a:t>Ce que nous avons fait</a:t>
            </a:r>
          </a:p>
        </p:txBody>
      </p:sp>
      <p:sp>
        <p:nvSpPr>
          <p:cNvPr id="8" name="TextBox 7"/>
          <p:cNvSpPr txBox="1"/>
          <p:nvPr/>
        </p:nvSpPr>
        <p:spPr>
          <a:xfrm>
            <a:off x="274320" y="1572768"/>
            <a:ext cx="4160520" cy="1463040"/>
          </a:xfrm>
          <a:prstGeom prst="rect">
            <a:avLst/>
          </a:prstGeom>
          <a:noFill/>
        </p:spPr>
        <p:txBody>
          <a:bodyPr wrap="square" lIns="45720" rIns="45720" tIns="18288" bIns="18288" anchor="t">
            <a:spAutoFit/>
          </a:bodyPr>
          <a:lstStyle/>
          <a:p>
            <a:pPr algn="l"/>
            <a:r>
              <a:rPr sz="800" b="0" i="0">
                <a:solidFill>
                  <a:srgbClr val="5D6D7E"/>
                </a:solidFill>
                <a:latin typeface="Calibri"/>
              </a:rPr>
              <a:t>•  Le compteur se remet à zéro : franchir le seuil, c'est le franchir depuis </a:t>
            </a:r>
            <a:r>
              <a:rPr sz="800" b="1" i="0">
                <a:solidFill>
                  <a:srgbClr val="2C3E50"/>
                </a:solidFill>
                <a:latin typeface="Calibri"/>
              </a:rPr>
              <a:t>l'un quelconque</a:t>
            </a:r>
            <a:r>
              <a:rPr sz="800" b="0" i="0">
                <a:solidFill>
                  <a:srgbClr val="5D6D7E"/>
                </a:solidFill>
                <a:latin typeface="Calibri"/>
              </a:rPr>
              <a:t> des points de remise à zéro. Une réunion sur ces points, puis l'inégalité maximale de Doob, puis la concentration d'Azuma–Hoeffding pour des incréments bornés.</a:t>
            </a:r>
          </a:p>
          <a:p>
            <a:pPr algn="l"/>
            <a:r>
              <a:rPr sz="800" b="0" i="0">
                <a:solidFill>
                  <a:srgbClr val="5D6D7E"/>
                </a:solidFill>
                <a:latin typeface="Calibri"/>
              </a:rPr>
              <a:t>•  Le terme de fluctuation reste. Il vaut √((W/2)·ln(W/ε)) et il </a:t>
            </a:r>
            <a:r>
              <a:rPr sz="800" b="1" i="0">
                <a:solidFill>
                  <a:srgbClr val="2C3E50"/>
                </a:solidFill>
                <a:latin typeface="Calibri"/>
              </a:rPr>
              <a:t>domine</a:t>
            </a:r>
            <a:r>
              <a:rPr sz="800" b="0" i="0">
                <a:solidFill>
                  <a:srgbClr val="5D6D7E"/>
                </a:solidFill>
                <a:latin typeface="Calibri"/>
              </a:rPr>
              <a:t> en régime de dérive faible.</a:t>
            </a:r>
          </a:p>
          <a:p>
            <a:pPr algn="l"/>
            <a:r>
              <a:rPr sz="800" b="0" i="0">
                <a:solidFill>
                  <a:srgbClr val="5D6D7E"/>
                </a:solidFill>
                <a:latin typeface="Calibri"/>
              </a:rPr>
              <a:t>•  L'énoncé à horizon infini est remplacé par le temps moyen avant fausse alarme, qui croît exponentiellement avec le seuil. Après récupération, toute alarme est une fausse alarme de taux 1/ARL₀ : elle ne dit rien de la dérive.</a:t>
            </a:r>
          </a:p>
        </p:txBody>
      </p:sp>
      <p:sp>
        <p:nvSpPr>
          <p:cNvPr id="9" name="TextBox 8"/>
          <p:cNvSpPr txBox="1"/>
          <p:nvPr/>
        </p:nvSpPr>
        <p:spPr>
          <a:xfrm>
            <a:off x="274320" y="3127248"/>
            <a:ext cx="4160520" cy="219456"/>
          </a:xfrm>
          <a:prstGeom prst="rect">
            <a:avLst/>
          </a:prstGeom>
          <a:noFill/>
        </p:spPr>
        <p:txBody>
          <a:bodyPr wrap="square" lIns="45720" rIns="45720" tIns="18288" bIns="18288" anchor="t">
            <a:spAutoFit/>
          </a:bodyPr>
          <a:lstStyle/>
          <a:p>
            <a:pPr algn="l"/>
            <a:r>
              <a:rPr sz="950" b="1" i="0">
                <a:solidFill>
                  <a:srgbClr val="00748C"/>
                </a:solidFill>
                <a:latin typeface="Calibri"/>
              </a:rPr>
              <a:t>Le résultat inattendu</a:t>
            </a:r>
          </a:p>
        </p:txBody>
      </p:sp>
      <p:sp>
        <p:nvSpPr>
          <p:cNvPr id="10" name="TextBox 9"/>
          <p:cNvSpPr txBox="1"/>
          <p:nvPr/>
        </p:nvSpPr>
        <p:spPr>
          <a:xfrm>
            <a:off x="274320" y="3346704"/>
            <a:ext cx="4160520" cy="1325880"/>
          </a:xfrm>
          <a:prstGeom prst="rect">
            <a:avLst/>
          </a:prstGeom>
          <a:noFill/>
        </p:spPr>
        <p:txBody>
          <a:bodyPr wrap="square" lIns="45720" rIns="45720" tIns="18288" bIns="18288" anchor="t">
            <a:spAutoFit/>
          </a:bodyPr>
          <a:lstStyle/>
          <a:p>
            <a:pPr algn="l"/>
            <a:r>
              <a:rPr sz="800" b="0" i="0">
                <a:solidFill>
                  <a:srgbClr val="5D6D7E"/>
                </a:solidFill>
                <a:latin typeface="Calibri"/>
              </a:rPr>
              <a:t>•  Lue à la vraie durée du transitoire, la borne honnête est </a:t>
            </a:r>
            <a:r>
              <a:rPr sz="800" b="1" i="0">
                <a:solidFill>
                  <a:srgbClr val="2C3E50"/>
                </a:solidFill>
                <a:latin typeface="Calibri"/>
              </a:rPr>
              <a:t>vide presque partout</a:t>
            </a:r>
            <a:r>
              <a:rPr sz="800" b="0" i="0">
                <a:solidFill>
                  <a:srgbClr val="5D6D7E"/>
                </a:solidFill>
                <a:latin typeface="Calibri"/>
              </a:rPr>
              <a:t>. Informative sur 32 couples (λ, Δe) sur 240 testés.</a:t>
            </a:r>
          </a:p>
          <a:p>
            <a:pPr algn="l"/>
            <a:r>
              <a:rPr sz="800" b="0" i="0">
                <a:solidFill>
                  <a:srgbClr val="5D6D7E"/>
                </a:solidFill>
                <a:latin typeface="Calibri"/>
              </a:rPr>
              <a:t>•  Ce domaine étroit contient exactement le point d'opération où le certificat de famine est énoncé. Le papier le dit, et déplace le résultat porteur vers un </a:t>
            </a:r>
            <a:r>
              <a:rPr sz="800" b="1" i="0">
                <a:solidFill>
                  <a:srgbClr val="2C3E50"/>
                </a:solidFill>
                <a:latin typeface="Calibri"/>
              </a:rPr>
              <a:t>certificat déterministe</a:t>
            </a:r>
            <a:r>
              <a:rPr sz="800" b="0" i="0">
                <a:solidFill>
                  <a:srgbClr val="5D6D7E"/>
                </a:solidFill>
                <a:latin typeface="Calibri"/>
              </a:rPr>
              <a:t> : s'il existe une sous-fenêtre où l'aire excédentaire dépasse le seuil augmenté du coût de tolérance, l'alarme se déclenche nécessairement.</a:t>
            </a:r>
          </a:p>
        </p:txBody>
      </p:sp>
      <p:sp>
        <p:nvSpPr>
          <p:cNvPr id="11" name="Rectangle 10"/>
          <p:cNvSpPr/>
          <p:nvPr/>
        </p:nvSpPr>
        <p:spPr>
          <a:xfrm>
            <a:off x="4572000" y="658368"/>
            <a:ext cx="4297680" cy="841248"/>
          </a:xfrm>
          <a:prstGeom prst="rect">
            <a:avLst/>
          </a:prstGeom>
          <a:solidFill>
            <a:srgbClr val="FF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694944"/>
            <a:ext cx="4114800" cy="201168"/>
          </a:xfrm>
          <a:prstGeom prst="rect">
            <a:avLst/>
          </a:prstGeom>
          <a:noFill/>
        </p:spPr>
        <p:txBody>
          <a:bodyPr wrap="square" lIns="45720" rIns="45720" tIns="18288" bIns="18288" anchor="t">
            <a:spAutoFit/>
          </a:bodyPr>
          <a:lstStyle/>
          <a:p>
            <a:pPr algn="l"/>
            <a:r>
              <a:rPr sz="900" b="1" i="0">
                <a:solidFill>
                  <a:srgbClr val="C0392B"/>
                </a:solidFill>
                <a:latin typeface="Calibri"/>
              </a:rPr>
              <a:t>La preuve fautive</a:t>
            </a:r>
          </a:p>
        </p:txBody>
      </p:sp>
      <p:sp>
        <p:nvSpPr>
          <p:cNvPr id="13" name="TextBox 12"/>
          <p:cNvSpPr txBox="1"/>
          <p:nvPr/>
        </p:nvSpPr>
        <p:spPr>
          <a:xfrm>
            <a:off x="4663440" y="914400"/>
            <a:ext cx="4114800" cy="256032"/>
          </a:xfrm>
          <a:prstGeom prst="rect">
            <a:avLst/>
          </a:prstGeom>
          <a:noFill/>
        </p:spPr>
        <p:txBody>
          <a:bodyPr wrap="square" lIns="45720" rIns="45720" tIns="18288" bIns="18288" anchor="t">
            <a:spAutoFit/>
          </a:bodyPr>
          <a:lstStyle/>
          <a:p>
            <a:pPr algn="l"/>
            <a:r>
              <a:rPr sz="1000" b="0" i="1">
                <a:solidFill>
                  <a:srgbClr val="2D3748"/>
                </a:solidFill>
                <a:latin typeface="Calibri"/>
              </a:rPr>
              <a:t>E[max] ≤ μW + </a:t>
            </a:r>
            <a:r>
              <a:rPr sz="1000" b="0" i="1" strike="sngStrike">
                <a:solidFill>
                  <a:srgbClr val="C0392B"/>
                </a:solidFill>
                <a:latin typeface="Calibri"/>
              </a:rPr>
              <a:t>√((W/2)·ln(W/ε))</a:t>
            </a:r>
          </a:p>
        </p:txBody>
      </p:sp>
      <p:sp>
        <p:nvSpPr>
          <p:cNvPr id="14" name="TextBox 13"/>
          <p:cNvSpPr txBox="1"/>
          <p:nvPr/>
        </p:nvSpPr>
        <p:spPr>
          <a:xfrm>
            <a:off x="4663440" y="1188720"/>
            <a:ext cx="4114800" cy="219456"/>
          </a:xfrm>
          <a:prstGeom prst="rect">
            <a:avLst/>
          </a:prstGeom>
          <a:noFill/>
        </p:spPr>
        <p:txBody>
          <a:bodyPr wrap="square" lIns="45720" rIns="45720" tIns="18288" bIns="18288" anchor="t">
            <a:spAutoFit/>
          </a:bodyPr>
          <a:lstStyle/>
          <a:p>
            <a:pPr algn="l"/>
            <a:r>
              <a:rPr sz="800" b="0" i="1">
                <a:solidFill>
                  <a:srgbClr val="C0392B"/>
                </a:solidFill>
                <a:latin typeface="Calibri"/>
              </a:rPr>
              <a:t>terme supprimé — interdit</a:t>
            </a:r>
          </a:p>
        </p:txBody>
      </p:sp>
      <p:pic>
        <p:nvPicPr>
          <p:cNvPr id="15" name="Picture 14" descr="fig1_borne_deux_termes.png"/>
          <p:cNvPicPr>
            <a:picLocks noChangeAspect="1"/>
          </p:cNvPicPr>
          <p:nvPr/>
        </p:nvPicPr>
        <p:blipFill>
          <a:blip r:embed="rId2"/>
          <a:stretch>
            <a:fillRect/>
          </a:stretch>
        </p:blipFill>
        <p:spPr>
          <a:xfrm>
            <a:off x="4572000" y="1627632"/>
            <a:ext cx="4297680" cy="2057649"/>
          </a:xfrm>
          <a:prstGeom prst="rect">
            <a:avLst/>
          </a:prstGeom>
        </p:spPr>
      </p:pic>
      <p:sp>
        <p:nvSpPr>
          <p:cNvPr id="16" name="Rectangle 15"/>
          <p:cNvSpPr/>
          <p:nvPr/>
        </p:nvSpPr>
        <p:spPr>
          <a:xfrm>
            <a:off x="274320" y="3767328"/>
            <a:ext cx="4160520" cy="84124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813048"/>
            <a:ext cx="3977639" cy="237744"/>
          </a:xfrm>
          <a:prstGeom prst="rect">
            <a:avLst/>
          </a:prstGeom>
          <a:noFill/>
        </p:spPr>
        <p:txBody>
          <a:bodyPr wrap="square" lIns="45720" rIns="45720" tIns="18288" bIns="18288" anchor="t">
            <a:spAutoFit/>
          </a:bodyPr>
          <a:lstStyle/>
          <a:p>
            <a:pPr algn="l"/>
            <a:r>
              <a:rPr sz="1000" b="0" i="1">
                <a:solidFill>
                  <a:srgbClr val="2D3748"/>
                </a:solidFill>
                <a:latin typeface="Calibri"/>
              </a:rPr>
              <a:t>P(τ_det ≤ W) ≤ W · exp(−2·(λ − S_0 − μW)² / W)</a:t>
            </a:r>
          </a:p>
        </p:txBody>
      </p:sp>
      <p:sp>
        <p:nvSpPr>
          <p:cNvPr id="18" name="TextBox 17"/>
          <p:cNvSpPr txBox="1"/>
          <p:nvPr/>
        </p:nvSpPr>
        <p:spPr>
          <a:xfrm>
            <a:off x="365760" y="4059936"/>
            <a:ext cx="3977639" cy="512064"/>
          </a:xfrm>
          <a:prstGeom prst="rect">
            <a:avLst/>
          </a:prstGeom>
          <a:noFill/>
        </p:spPr>
        <p:txBody>
          <a:bodyPr wrap="square" lIns="45720" rIns="45720" tIns="18288" bIns="18288" anchor="t">
            <a:spAutoFit/>
          </a:bodyPr>
          <a:lstStyle/>
          <a:p>
            <a:pPr algn="l"/>
            <a:r>
              <a:rPr sz="750" b="0" i="0">
                <a:solidFill>
                  <a:srgbClr val="5D6D7E"/>
                </a:solidFill>
                <a:latin typeface="Calibri"/>
              </a:rPr>
              <a:t>La borne à horizon fini. μ = Δe − δ_P est le taux d'accumulation moyen ; S_0 : niveau du compteur à la rupture ; parenthèse à sa partie positive.</a:t>
            </a:r>
          </a:p>
        </p:txBody>
      </p:sp>
      <p:sp>
        <p:nvSpPr>
          <p:cNvPr id="19" name="Rectangle 18"/>
          <p:cNvSpPr/>
          <p:nvPr/>
        </p:nvSpPr>
        <p:spPr>
          <a:xfrm>
            <a:off x="4572000" y="3767328"/>
            <a:ext cx="4297680" cy="84124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3813048"/>
            <a:ext cx="4114800" cy="237744"/>
          </a:xfrm>
          <a:prstGeom prst="rect">
            <a:avLst/>
          </a:prstGeom>
          <a:noFill/>
        </p:spPr>
        <p:txBody>
          <a:bodyPr wrap="square" lIns="45720" rIns="45720" tIns="18288" bIns="18288" anchor="t">
            <a:spAutoFit/>
          </a:bodyPr>
          <a:lstStyle/>
          <a:p>
            <a:pPr algn="l"/>
            <a:r>
              <a:rPr sz="1000" b="0" i="1">
                <a:solidFill>
                  <a:srgbClr val="2D3748"/>
                </a:solidFill>
                <a:latin typeface="Calibri"/>
              </a:rPr>
              <a:t>S_max(H) = max_{0 ≤ k ≤ j ≤ H} [ A(k,j) − (j−k)·δ_P ]</a:t>
            </a:r>
          </a:p>
        </p:txBody>
      </p:sp>
      <p:sp>
        <p:nvSpPr>
          <p:cNvPr id="21" name="TextBox 20"/>
          <p:cNvSpPr txBox="1"/>
          <p:nvPr/>
        </p:nvSpPr>
        <p:spPr>
          <a:xfrm>
            <a:off x="4663440" y="4059936"/>
            <a:ext cx="4114800" cy="512064"/>
          </a:xfrm>
          <a:prstGeom prst="rect">
            <a:avLst/>
          </a:prstGeom>
          <a:noFill/>
        </p:spPr>
        <p:txBody>
          <a:bodyPr wrap="square" lIns="45720" rIns="45720" tIns="18288" bIns="18288" anchor="t">
            <a:spAutoFit/>
          </a:bodyPr>
          <a:lstStyle/>
          <a:p>
            <a:pPr algn="l"/>
            <a:r>
              <a:rPr sz="750" b="0" i="0">
                <a:solidFill>
                  <a:srgbClr val="5D6D7E"/>
                </a:solidFill>
                <a:latin typeface="Calibri"/>
              </a:rPr>
              <a:t>Le certificat déterministe, vrai sur chaque exécution prise isolément. A(k,j) : aire excédentaire entre les pas k et j.</a:t>
            </a:r>
          </a:p>
        </p:txBody>
      </p:sp>
      <p:sp>
        <p:nvSpPr>
          <p:cNvPr id="22" name="TextBox 21"/>
          <p:cNvSpPr txBox="1"/>
          <p:nvPr/>
        </p:nvSpPr>
        <p:spPr>
          <a:xfrm>
            <a:off x="457200" y="4901184"/>
            <a:ext cx="7315200" cy="237744"/>
          </a:xfrm>
          <a:prstGeom prst="rect">
            <a:avLst/>
          </a:prstGeom>
          <a:noFill/>
        </p:spPr>
        <p:txBody>
          <a:bodyPr wrap="square" lIns="45720" rIns="45720" tIns="18288" bIns="18288" anchor="t">
            <a:spAutoFit/>
          </a:bodyPr>
          <a:lstStyle/>
          <a:p>
            <a:pPr algn="l"/>
            <a:r>
              <a:rPr sz="800" b="0" i="0">
                <a:solidFill>
                  <a:srgbClr val="8A9BB0"/>
                </a:solidFill>
                <a:latin typeface="Calibri"/>
              </a:rPr>
              <a:t>Doob (1953) · Hoeffding (1963) · Siegmund (1985) · Lorden (1971)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W2 — La course, et l'hypothèse que le code réfute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11</a:t>
            </a:r>
          </a:p>
        </p:txBody>
      </p:sp>
      <p:sp>
        <p:nvSpPr>
          <p:cNvPr id="5" name="TextBox 4"/>
          <p:cNvSpPr txBox="1"/>
          <p:nvPr/>
        </p:nvSpPr>
        <p:spPr>
          <a:xfrm>
            <a:off x="274320" y="658368"/>
            <a:ext cx="5074920" cy="219456"/>
          </a:xfrm>
          <a:prstGeom prst="rect">
            <a:avLst/>
          </a:prstGeom>
          <a:noFill/>
        </p:spPr>
        <p:txBody>
          <a:bodyPr wrap="square" lIns="45720" rIns="45720" tIns="18288" bIns="18288" anchor="t">
            <a:spAutoFit/>
          </a:bodyPr>
          <a:lstStyle/>
          <a:p>
            <a:pPr algn="l"/>
            <a:r>
              <a:rPr sz="950" b="1" i="0">
                <a:solidFill>
                  <a:srgbClr val="00748C"/>
                </a:solidFill>
                <a:latin typeface="Calibri"/>
              </a:rPr>
              <a:t>Le reproche</a:t>
            </a:r>
          </a:p>
        </p:txBody>
      </p:sp>
      <p:sp>
        <p:nvSpPr>
          <p:cNvPr id="6" name="TextBox 5"/>
          <p:cNvSpPr txBox="1"/>
          <p:nvPr/>
        </p:nvSpPr>
        <p:spPr>
          <a:xfrm>
            <a:off x="274320" y="877824"/>
            <a:ext cx="5074920" cy="411480"/>
          </a:xfrm>
          <a:prstGeom prst="rect">
            <a:avLst/>
          </a:prstGeom>
          <a:noFill/>
        </p:spPr>
        <p:txBody>
          <a:bodyPr wrap="square" lIns="45720" rIns="45720" tIns="18288" bIns="18288" anchor="t">
            <a:spAutoFit/>
          </a:bodyPr>
          <a:lstStyle/>
          <a:p>
            <a:pPr algn="l"/>
            <a:r>
              <a:rPr sz="800" b="0" i="0">
                <a:solidFill>
                  <a:srgbClr val="5D6D7E"/>
                </a:solidFill>
                <a:latin typeface="Calibri"/>
              </a:rPr>
              <a:t>L'instant de détection était traité comme une constante, alors qu'il varie d'une exécution à l'autre. Et la borne d'indépendance entre arbres était annoncée, jamais démontrée.</a:t>
            </a:r>
          </a:p>
        </p:txBody>
      </p:sp>
      <p:sp>
        <p:nvSpPr>
          <p:cNvPr id="7" name="TextBox 6"/>
          <p:cNvSpPr txBox="1"/>
          <p:nvPr/>
        </p:nvSpPr>
        <p:spPr>
          <a:xfrm>
            <a:off x="274320" y="1298448"/>
            <a:ext cx="5074920" cy="219456"/>
          </a:xfrm>
          <a:prstGeom prst="rect">
            <a:avLst/>
          </a:prstGeom>
          <a:noFill/>
        </p:spPr>
        <p:txBody>
          <a:bodyPr wrap="square" lIns="45720" rIns="45720" tIns="18288" bIns="18288" anchor="t">
            <a:spAutoFit/>
          </a:bodyPr>
          <a:lstStyle/>
          <a:p>
            <a:pPr algn="l"/>
            <a:r>
              <a:rPr sz="950" b="1" i="0">
                <a:solidFill>
                  <a:srgbClr val="00748C"/>
                </a:solidFill>
                <a:latin typeface="Calibri"/>
              </a:rPr>
              <a:t>Ce que nous avons fait</a:t>
            </a:r>
          </a:p>
        </p:txBody>
      </p:sp>
      <p:sp>
        <p:nvSpPr>
          <p:cNvPr id="8" name="TextBox 7"/>
          <p:cNvSpPr txBox="1"/>
          <p:nvPr/>
        </p:nvSpPr>
        <p:spPr>
          <a:xfrm>
            <a:off x="274320" y="1517904"/>
            <a:ext cx="5074920" cy="914400"/>
          </a:xfrm>
          <a:prstGeom prst="rect">
            <a:avLst/>
          </a:prstGeom>
          <a:noFill/>
        </p:spPr>
        <p:txBody>
          <a:bodyPr wrap="square" lIns="45720" rIns="45720" tIns="18288" bIns="18288" anchor="t">
            <a:spAutoFit/>
          </a:bodyPr>
          <a:lstStyle/>
          <a:p>
            <a:pPr algn="l"/>
            <a:r>
              <a:rPr sz="800" b="0" i="0">
                <a:solidFill>
                  <a:srgbClr val="5D6D7E"/>
                </a:solidFill>
                <a:latin typeface="Calibri"/>
              </a:rPr>
              <a:t>•  La course devient un modèle de </a:t>
            </a:r>
            <a:r>
              <a:rPr sz="800" b="1" i="0">
                <a:solidFill>
                  <a:srgbClr val="2C3E50"/>
                </a:solidFill>
                <a:latin typeface="Calibri"/>
              </a:rPr>
              <a:t>risques concurrents avec censure</a:t>
            </a:r>
            <a:r>
              <a:rPr sz="800" b="0" i="0">
                <a:solidFill>
                  <a:srgbClr val="5D6D7E"/>
                </a:solidFill>
                <a:latin typeface="Calibri"/>
              </a:rPr>
              <a:t> : les exécutions sans alarme sont comptées, pas écartées. C'est là que les rapports dérapent d'ordinaire.</a:t>
            </a:r>
          </a:p>
          <a:p>
            <a:pPr algn="l"/>
            <a:r>
              <a:rPr sz="800" b="0" i="0">
                <a:solidFill>
                  <a:srgbClr val="5D6D7E"/>
                </a:solidFill>
                <a:latin typeface="Calibri"/>
              </a:rPr>
              <a:t>•  Deux bornes. L'une, dite de Boole, est valide quelle que soit la dépendance. L'autre suppose les arbres indépendants </a:t>
            </a:r>
            <a:r>
              <a:rPr sz="800" b="1" i="0">
                <a:solidFill>
                  <a:srgbClr val="2C3E50"/>
                </a:solidFill>
                <a:latin typeface="Calibri"/>
              </a:rPr>
              <a:t>conditionnellement au flux</a:t>
            </a:r>
            <a:r>
              <a:rPr sz="800" b="0" i="0">
                <a:solidFill>
                  <a:srgbClr val="5D6D7E"/>
                </a:solidFill>
                <a:latin typeface="Calibri"/>
              </a:rPr>
              <a:t> — l'aléa propre à chaque arbre étant ses poids de rééchantillonnage et ses tirages de variables.</a:t>
            </a:r>
          </a:p>
        </p:txBody>
      </p:sp>
      <p:sp>
        <p:nvSpPr>
          <p:cNvPr id="9" name="TextBox 8"/>
          <p:cNvSpPr txBox="1"/>
          <p:nvPr/>
        </p:nvSpPr>
        <p:spPr>
          <a:xfrm>
            <a:off x="274320" y="2487168"/>
            <a:ext cx="5074920" cy="219456"/>
          </a:xfrm>
          <a:prstGeom prst="rect">
            <a:avLst/>
          </a:prstGeom>
          <a:noFill/>
        </p:spPr>
        <p:txBody>
          <a:bodyPr wrap="square" lIns="45720" rIns="45720" tIns="18288" bIns="18288" anchor="t">
            <a:spAutoFit/>
          </a:bodyPr>
          <a:lstStyle/>
          <a:p>
            <a:pPr algn="l"/>
            <a:r>
              <a:rPr sz="950" b="1" i="0">
                <a:solidFill>
                  <a:srgbClr val="00748C"/>
                </a:solidFill>
                <a:latin typeface="Calibri"/>
              </a:rPr>
              <a:t>Le résultat inattendu, et il est net</a:t>
            </a:r>
          </a:p>
        </p:txBody>
      </p:sp>
      <p:sp>
        <p:nvSpPr>
          <p:cNvPr id="10" name="TextBox 9"/>
          <p:cNvSpPr txBox="1"/>
          <p:nvPr/>
        </p:nvSpPr>
        <p:spPr>
          <a:xfrm>
            <a:off x="274320" y="2706624"/>
            <a:ext cx="5074920" cy="1645920"/>
          </a:xfrm>
          <a:prstGeom prst="rect">
            <a:avLst/>
          </a:prstGeom>
          <a:noFill/>
        </p:spPr>
        <p:txBody>
          <a:bodyPr wrap="square" lIns="45720" rIns="45720" tIns="18288" bIns="18288" anchor="t">
            <a:spAutoFit/>
          </a:bodyPr>
          <a:lstStyle/>
          <a:p>
            <a:pPr algn="l"/>
            <a:r>
              <a:rPr sz="800" b="0" i="0">
                <a:solidFill>
                  <a:srgbClr val="5D6D7E"/>
                </a:solidFill>
                <a:latin typeface="Calibri"/>
              </a:rPr>
              <a:t>•  L'indépendance conditionnelle </a:t>
            </a:r>
            <a:r>
              <a:rPr sz="800" b="1" i="0">
                <a:solidFill>
                  <a:srgbClr val="2C3E50"/>
                </a:solidFill>
                <a:latin typeface="Calibri"/>
              </a:rPr>
              <a:t>ne tient pas</a:t>
            </a:r>
            <a:r>
              <a:rPr sz="800" b="0" i="0">
                <a:solidFill>
                  <a:srgbClr val="5D6D7E"/>
                </a:solidFill>
                <a:latin typeface="Calibri"/>
              </a:rPr>
              <a:t> : la bibliothèque fait circuler </a:t>
            </a:r>
            <a:r>
              <a:rPr sz="800" b="1" i="0">
                <a:solidFill>
                  <a:srgbClr val="2C3E50"/>
                </a:solidFill>
                <a:latin typeface="Calibri"/>
              </a:rPr>
              <a:t>un seul générateur aléatoire</a:t>
            </a:r>
            <a:r>
              <a:rPr sz="800" b="0" i="0">
                <a:solidFill>
                  <a:srgbClr val="5D6D7E"/>
                </a:solidFill>
                <a:latin typeface="Calibri"/>
              </a:rPr>
              <a:t> dans toute la forêt. La voie par inégalité de Jensen tombe.</a:t>
            </a:r>
          </a:p>
          <a:p>
            <a:pPr algn="l"/>
            <a:r>
              <a:rPr sz="800" b="0" i="0">
                <a:solidFill>
                  <a:srgbClr val="5D6D7E"/>
                </a:solidFill>
                <a:latin typeface="Calibri"/>
              </a:rPr>
              <a:t>•  Reste la borne sans hypothèse. Elle sature : au point d'opération, elle affirme que la probabilité de manquer vaut au plus 100 %.</a:t>
            </a:r>
          </a:p>
          <a:p>
            <a:pPr algn="l"/>
            <a:r>
              <a:rPr sz="800" b="0" i="0">
                <a:solidFill>
                  <a:srgbClr val="5D6D7E"/>
                </a:solidFill>
                <a:latin typeface="Calibri"/>
              </a:rPr>
              <a:t>•  Conséquence assumée : la </a:t>
            </a:r>
            <a:r>
              <a:rPr sz="800" b="1" i="0">
                <a:solidFill>
                  <a:srgbClr val="2C3E50"/>
                </a:solidFill>
                <a:latin typeface="Calibri"/>
              </a:rPr>
              <a:t>taille critique d'ensemble est retirée</a:t>
            </a:r>
            <a:r>
              <a:rPr sz="800" b="0" i="0">
                <a:solidFill>
                  <a:srgbClr val="5D6D7E"/>
                </a:solidFill>
                <a:latin typeface="Calibri"/>
              </a:rPr>
              <a:t>, remplacée par l'incidence mesurée. Un corollaire qui ne survit pas à sa propre hypothèse ne se publie pas.</a:t>
            </a:r>
          </a:p>
          <a:p>
            <a:pPr algn="l"/>
            <a:r>
              <a:rPr sz="800" b="0" i="0">
                <a:solidFill>
                  <a:srgbClr val="5D6D7E"/>
                </a:solidFill>
                <a:latin typeface="Calibri"/>
              </a:rPr>
              <a:t>•  Deux mesures de plus, non demandées : la substitution du délai d'un arbre unique à celui d'un membre de la forêt est </a:t>
            </a:r>
            <a:r>
              <a:rPr sz="800" b="1" i="0">
                <a:solidFill>
                  <a:srgbClr val="2C3E50"/>
                </a:solidFill>
                <a:latin typeface="Calibri"/>
              </a:rPr>
              <a:t>réfutée</a:t>
            </a:r>
            <a:r>
              <a:rPr sz="800" b="0" i="0">
                <a:solidFill>
                  <a:srgbClr val="5D6D7E"/>
                </a:solidFill>
                <a:latin typeface="Calibri"/>
              </a:rPr>
              <a:t> sur 10 cellules testables sur 80, toujours dans le sens optimiste. Et la course </a:t>
            </a:r>
            <a:r>
              <a:rPr sz="800" b="1" i="0">
                <a:solidFill>
                  <a:srgbClr val="2C3E50"/>
                </a:solidFill>
                <a:latin typeface="Calibri"/>
              </a:rPr>
              <a:t>n'est pas monotone</a:t>
            </a:r>
            <a:r>
              <a:rPr sz="800" b="0" i="0">
                <a:solidFill>
                  <a:srgbClr val="5D6D7E"/>
                </a:solidFill>
                <a:latin typeface="Calibri"/>
              </a:rPr>
              <a:t> en amplitude : à seuil intermédiaire, le moniteur gagne 0 fois, puis 32 fois sur 100, puis 0.</a:t>
            </a:r>
          </a:p>
        </p:txBody>
      </p:sp>
      <p:sp>
        <p:nvSpPr>
          <p:cNvPr id="11" name="Rectangle 10"/>
          <p:cNvSpPr/>
          <p:nvPr/>
        </p:nvSpPr>
        <p:spPr>
          <a:xfrm>
            <a:off x="5486400" y="658368"/>
            <a:ext cx="3383280" cy="301752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23560" y="749808"/>
            <a:ext cx="3108960" cy="2834639"/>
          </a:xfrm>
          <a:prstGeom prst="rect">
            <a:avLst/>
          </a:prstGeom>
          <a:noFill/>
        </p:spPr>
        <p:txBody>
          <a:bodyPr wrap="square" lIns="45720" rIns="45720" tIns="18288" bIns="18288" anchor="ctr">
            <a:spAutoFit/>
          </a:bodyPr>
          <a:lstStyle/>
          <a:p>
            <a:pPr algn="ctr"/>
            <a:r>
              <a:rPr sz="900" b="0" i="1">
                <a:solidFill>
                  <a:srgbClr val="8A9BB0"/>
                </a:solidFill>
                <a:latin typeface="Calibri"/>
              </a:rPr>
              <a:t>[FIGURE]  Schéma en deux voies partant de « borne d'indépendance ». Voie haute « indépendance conditionnelle » barrée en rouge, annotée « un seul générateur pour toute la forêt ». Voie basse « Boole, sans hypothèse » en vert, aboutissant à un encadré « sature au point d'opération → taille critique retirée ».</a:t>
            </a:r>
          </a:p>
        </p:txBody>
      </p:sp>
      <p:sp>
        <p:nvSpPr>
          <p:cNvPr id="13" name="Rectangle 12"/>
          <p:cNvSpPr/>
          <p:nvPr/>
        </p:nvSpPr>
        <p:spPr>
          <a:xfrm>
            <a:off x="274320" y="3767328"/>
            <a:ext cx="8595360" cy="77724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813048"/>
            <a:ext cx="8412480" cy="237744"/>
          </a:xfrm>
          <a:prstGeom prst="rect">
            <a:avLst/>
          </a:prstGeom>
          <a:noFill/>
        </p:spPr>
        <p:txBody>
          <a:bodyPr wrap="square" lIns="45720" rIns="45720" tIns="18288" bIns="18288" anchor="t">
            <a:spAutoFit/>
          </a:bodyPr>
          <a:lstStyle/>
          <a:p>
            <a:pPr algn="l"/>
            <a:r>
              <a:rPr sz="1000" b="0" i="1">
                <a:solidFill>
                  <a:srgbClr val="2D3748"/>
                </a:solidFill>
                <a:latin typeface="Calibri"/>
              </a:rPr>
              <a:t>P(min_i τ_i ≤ s) ≤ min(1 ; M·F(s))</a:t>
            </a:r>
          </a:p>
        </p:txBody>
      </p:sp>
      <p:sp>
        <p:nvSpPr>
          <p:cNvPr id="15" name="TextBox 14"/>
          <p:cNvSpPr txBox="1"/>
          <p:nvPr/>
        </p:nvSpPr>
        <p:spPr>
          <a:xfrm>
            <a:off x="365760" y="4059936"/>
            <a:ext cx="8412480" cy="448056"/>
          </a:xfrm>
          <a:prstGeom prst="rect">
            <a:avLst/>
          </a:prstGeom>
          <a:noFill/>
        </p:spPr>
        <p:txBody>
          <a:bodyPr wrap="square" lIns="45720" rIns="45720" tIns="18288" bIns="18288" anchor="t">
            <a:spAutoFit/>
          </a:bodyPr>
          <a:lstStyle/>
          <a:p>
            <a:pPr algn="l"/>
            <a:r>
              <a:rPr sz="750" b="0" i="0">
                <a:solidFill>
                  <a:srgbClr val="5D6D7E"/>
                </a:solidFill>
                <a:latin typeface="Calibri"/>
              </a:rPr>
              <a:t>La borne sans hypothèse de dépendance. F est la loi du délai d'adaptation d'un arbre ; τ_i celui de l'arbre i.</a:t>
            </a:r>
          </a:p>
        </p:txBody>
      </p:sp>
      <p:sp>
        <p:nvSpPr>
          <p:cNvPr id="16" name="TextBox 15"/>
          <p:cNvSpPr txBox="1"/>
          <p:nvPr/>
        </p:nvSpPr>
        <p:spPr>
          <a:xfrm>
            <a:off x="457200" y="4901184"/>
            <a:ext cx="7315200" cy="237744"/>
          </a:xfrm>
          <a:prstGeom prst="rect">
            <a:avLst/>
          </a:prstGeom>
          <a:noFill/>
        </p:spPr>
        <p:txBody>
          <a:bodyPr wrap="square" lIns="45720" rIns="45720" tIns="18288" bIns="18288" anchor="t">
            <a:spAutoFit/>
          </a:bodyPr>
          <a:lstStyle/>
          <a:p>
            <a:pPr algn="l"/>
            <a:r>
              <a:rPr sz="800" b="0" i="0">
                <a:solidFill>
                  <a:srgbClr val="8A9BB0"/>
                </a:solidFill>
                <a:latin typeface="Calibri"/>
              </a:rPr>
              <a:t>Esary, Proschan &amp; Walkup (1967) · Fine &amp; Gray (1999)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W3 — Qui efface la preuve, exactement</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12</a:t>
            </a:r>
          </a:p>
        </p:txBody>
      </p:sp>
      <p:sp>
        <p:nvSpPr>
          <p:cNvPr id="5" name="TextBox 4"/>
          <p:cNvSpPr txBox="1"/>
          <p:nvPr/>
        </p:nvSpPr>
        <p:spPr>
          <a:xfrm>
            <a:off x="274320" y="658368"/>
            <a:ext cx="4160520" cy="219456"/>
          </a:xfrm>
          <a:prstGeom prst="rect">
            <a:avLst/>
          </a:prstGeom>
          <a:noFill/>
        </p:spPr>
        <p:txBody>
          <a:bodyPr wrap="square" lIns="45720" rIns="45720" tIns="18288" bIns="18288" anchor="t">
            <a:spAutoFit/>
          </a:bodyPr>
          <a:lstStyle/>
          <a:p>
            <a:pPr algn="l"/>
            <a:r>
              <a:rPr sz="950" b="1" i="0">
                <a:solidFill>
                  <a:srgbClr val="00748C"/>
                </a:solidFill>
                <a:latin typeface="Calibri"/>
              </a:rPr>
              <a:t>Le reproche</a:t>
            </a:r>
          </a:p>
        </p:txBody>
      </p:sp>
      <p:sp>
        <p:nvSpPr>
          <p:cNvPr id="6" name="TextBox 5"/>
          <p:cNvSpPr txBox="1"/>
          <p:nvPr/>
        </p:nvSpPr>
        <p:spPr>
          <a:xfrm>
            <a:off x="274320" y="877824"/>
            <a:ext cx="4160520" cy="594360"/>
          </a:xfrm>
          <a:prstGeom prst="rect">
            <a:avLst/>
          </a:prstGeom>
          <a:noFill/>
        </p:spPr>
        <p:txBody>
          <a:bodyPr wrap="square" lIns="45720" rIns="45720" tIns="18288" bIns="18288" anchor="t">
            <a:spAutoFit/>
          </a:bodyPr>
          <a:lstStyle/>
          <a:p>
            <a:pPr algn="l"/>
            <a:r>
              <a:rPr sz="850" b="0" i="0">
                <a:solidFill>
                  <a:srgbClr val="5D6D7E"/>
                </a:solidFill>
                <a:latin typeface="Calibri"/>
              </a:rPr>
              <a:t>Dater l'adaptation de la forêt au premier arbre remplacé, c'est confondre le déclencheur et le mécanisme. Et aucune figure ne montrait, sur un même axe de temps, les remplacements, l'erreur et le compteur du moniteur.</a:t>
            </a:r>
          </a:p>
        </p:txBody>
      </p:sp>
      <p:sp>
        <p:nvSpPr>
          <p:cNvPr id="7" name="TextBox 6"/>
          <p:cNvSpPr txBox="1"/>
          <p:nvPr/>
        </p:nvSpPr>
        <p:spPr>
          <a:xfrm>
            <a:off x="5074920" y="658368"/>
            <a:ext cx="3794760" cy="219456"/>
          </a:xfrm>
          <a:prstGeom prst="rect">
            <a:avLst/>
          </a:prstGeom>
          <a:noFill/>
        </p:spPr>
        <p:txBody>
          <a:bodyPr wrap="square" lIns="45720" rIns="45720" tIns="18288" bIns="18288" anchor="t">
            <a:spAutoFit/>
          </a:bodyPr>
          <a:lstStyle/>
          <a:p>
            <a:pPr algn="l"/>
            <a:r>
              <a:rPr sz="950" b="1" i="0">
                <a:solidFill>
                  <a:srgbClr val="00748C"/>
                </a:solidFill>
                <a:latin typeface="Calibri"/>
              </a:rPr>
              <a:t>Ce que nous avons fait</a:t>
            </a:r>
          </a:p>
        </p:txBody>
      </p:sp>
      <p:sp>
        <p:nvSpPr>
          <p:cNvPr id="8" name="TextBox 7"/>
          <p:cNvSpPr txBox="1"/>
          <p:nvPr/>
        </p:nvSpPr>
        <p:spPr>
          <a:xfrm>
            <a:off x="5074920" y="877824"/>
            <a:ext cx="3794760" cy="640080"/>
          </a:xfrm>
          <a:prstGeom prst="rect">
            <a:avLst/>
          </a:prstGeom>
          <a:noFill/>
        </p:spPr>
        <p:txBody>
          <a:bodyPr wrap="square" lIns="45720" rIns="45720" tIns="18288" bIns="18288" anchor="t">
            <a:spAutoFit/>
          </a:bodyPr>
          <a:lstStyle/>
          <a:p>
            <a:pPr algn="l"/>
            <a:r>
              <a:rPr sz="800" b="0" i="0">
                <a:solidFill>
                  <a:srgbClr val="5D6D7E"/>
                </a:solidFill>
                <a:latin typeface="Calibri"/>
              </a:rPr>
              <a:t>•  Trajectoires synchronisées, instrumentées pas à pas.</a:t>
            </a:r>
          </a:p>
          <a:p>
            <a:pPr algn="l"/>
            <a:r>
              <a:rPr sz="800" b="0" i="0">
                <a:solidFill>
                  <a:srgbClr val="5D6D7E"/>
                </a:solidFill>
                <a:latin typeface="Calibri"/>
              </a:rPr>
              <a:t>•  Trois bras contrefactuels partageant le même flux, la même histoire et le même point de bifurcation : la forêt complète, la forêt dont on supprime les remplacements postérieurs au premier, la forêt dont on supprime tous les remplacements depuis la rupture.</a:t>
            </a:r>
          </a:p>
        </p:txBody>
      </p:sp>
      <p:pic>
        <p:nvPicPr>
          <p:cNvPr id="9" name="Picture 8" descr="fig2_decomposition_causale.png"/>
          <p:cNvPicPr>
            <a:picLocks noChangeAspect="1"/>
          </p:cNvPicPr>
          <p:nvPr/>
        </p:nvPicPr>
        <p:blipFill>
          <a:blip r:embed="rId2"/>
          <a:stretch>
            <a:fillRect/>
          </a:stretch>
        </p:blipFill>
        <p:spPr>
          <a:xfrm>
            <a:off x="274320" y="1627632"/>
            <a:ext cx="4663440" cy="2379773"/>
          </a:xfrm>
          <a:prstGeom prst="rect">
            <a:avLst/>
          </a:prstGeom>
        </p:spPr>
      </p:pic>
      <p:sp>
        <p:nvSpPr>
          <p:cNvPr id="10" name="Rectangle 9"/>
          <p:cNvSpPr/>
          <p:nvPr/>
        </p:nvSpPr>
        <p:spPr>
          <a:xfrm>
            <a:off x="5074920" y="1645920"/>
            <a:ext cx="1828800" cy="219456"/>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74920" y="1645920"/>
            <a:ext cx="1828800" cy="219456"/>
          </a:xfrm>
          <a:prstGeom prst="rect">
            <a:avLst/>
          </a:prstGeom>
          <a:noFill/>
        </p:spPr>
        <p:txBody>
          <a:bodyPr wrap="square" lIns="45720" rIns="45720" tIns="18288" bIns="18288" anchor="ctr">
            <a:spAutoFit/>
          </a:bodyPr>
          <a:lstStyle/>
          <a:p>
            <a:pPr algn="l"/>
            <a:r>
              <a:rPr sz="750" b="1" i="0">
                <a:solidFill>
                  <a:srgbClr val="FFFFFF"/>
                </a:solidFill>
                <a:latin typeface="Calibri"/>
              </a:rPr>
              <a:t>  Contribution à l'effacement</a:t>
            </a:r>
          </a:p>
        </p:txBody>
      </p:sp>
      <p:sp>
        <p:nvSpPr>
          <p:cNvPr id="12" name="Rectangle 11"/>
          <p:cNvSpPr/>
          <p:nvPr/>
        </p:nvSpPr>
        <p:spPr>
          <a:xfrm>
            <a:off x="6903720" y="1645920"/>
            <a:ext cx="960120" cy="219456"/>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1645920"/>
            <a:ext cx="960120" cy="219456"/>
          </a:xfrm>
          <a:prstGeom prst="rect">
            <a:avLst/>
          </a:prstGeom>
          <a:noFill/>
        </p:spPr>
        <p:txBody>
          <a:bodyPr wrap="square" lIns="45720" rIns="45720" tIns="18288" bIns="18288" anchor="ctr">
            <a:spAutoFit/>
          </a:bodyPr>
          <a:lstStyle/>
          <a:p>
            <a:pPr algn="l"/>
            <a:r>
              <a:rPr sz="750" b="1" i="0">
                <a:solidFill>
                  <a:srgbClr val="FFFFFF"/>
                </a:solidFill>
                <a:latin typeface="Calibri"/>
              </a:rPr>
              <a:t>  Part</a:t>
            </a:r>
          </a:p>
        </p:txBody>
      </p:sp>
      <p:sp>
        <p:nvSpPr>
          <p:cNvPr id="14" name="Rectangle 13"/>
          <p:cNvSpPr/>
          <p:nvPr/>
        </p:nvSpPr>
        <p:spPr>
          <a:xfrm>
            <a:off x="7863840" y="1645920"/>
            <a:ext cx="1005840" cy="219456"/>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1645920"/>
            <a:ext cx="1005840" cy="219456"/>
          </a:xfrm>
          <a:prstGeom prst="rect">
            <a:avLst/>
          </a:prstGeom>
          <a:noFill/>
        </p:spPr>
        <p:txBody>
          <a:bodyPr wrap="square" lIns="45720" rIns="45720" tIns="18288" bIns="18288" anchor="ctr">
            <a:spAutoFit/>
          </a:bodyPr>
          <a:lstStyle/>
          <a:p>
            <a:pPr algn="l"/>
            <a:r>
              <a:rPr sz="750" b="1" i="0">
                <a:solidFill>
                  <a:srgbClr val="FFFFFF"/>
                </a:solidFill>
                <a:latin typeface="Calibri"/>
              </a:rPr>
              <a:t>  Intervalle</a:t>
            </a:r>
          </a:p>
        </p:txBody>
      </p:sp>
      <p:sp>
        <p:nvSpPr>
          <p:cNvPr id="16" name="Rectangle 15"/>
          <p:cNvSpPr/>
          <p:nvPr/>
        </p:nvSpPr>
        <p:spPr>
          <a:xfrm>
            <a:off x="5074920" y="1865376"/>
            <a:ext cx="379476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865376"/>
            <a:ext cx="1783080" cy="274320"/>
          </a:xfrm>
          <a:prstGeom prst="rect">
            <a:avLst/>
          </a:prstGeom>
          <a:noFill/>
        </p:spPr>
        <p:txBody>
          <a:bodyPr wrap="square" lIns="45720" rIns="45720" tIns="18288" bIns="18288" anchor="ctr">
            <a:spAutoFit/>
          </a:bodyPr>
          <a:lstStyle/>
          <a:p>
            <a:pPr algn="l"/>
            <a:r>
              <a:rPr sz="750" b="0" i="0">
                <a:solidFill>
                  <a:srgbClr val="2C3E50"/>
                </a:solidFill>
                <a:latin typeface="Calibri"/>
              </a:rPr>
              <a:t>Apprentissage incrémental des M−1 arbres survivants</a:t>
            </a:r>
          </a:p>
        </p:txBody>
      </p:sp>
      <p:sp>
        <p:nvSpPr>
          <p:cNvPr id="18" name="TextBox 17"/>
          <p:cNvSpPr txBox="1"/>
          <p:nvPr/>
        </p:nvSpPr>
        <p:spPr>
          <a:xfrm>
            <a:off x="6903720" y="1865376"/>
            <a:ext cx="960120" cy="274320"/>
          </a:xfrm>
          <a:prstGeom prst="rect">
            <a:avLst/>
          </a:prstGeom>
          <a:noFill/>
        </p:spPr>
        <p:txBody>
          <a:bodyPr wrap="square" lIns="45720" rIns="45720" tIns="18288" bIns="18288" anchor="ctr">
            <a:spAutoFit/>
          </a:bodyPr>
          <a:lstStyle/>
          <a:p>
            <a:pPr algn="ctr"/>
            <a:r>
              <a:rPr sz="750" b="1" i="0">
                <a:solidFill>
                  <a:srgbClr val="2C3E50"/>
                </a:solidFill>
                <a:latin typeface="Calibri"/>
              </a:rPr>
              <a:t>98,64 %</a:t>
            </a:r>
          </a:p>
        </p:txBody>
      </p:sp>
      <p:sp>
        <p:nvSpPr>
          <p:cNvPr id="19" name="TextBox 18"/>
          <p:cNvSpPr txBox="1"/>
          <p:nvPr/>
        </p:nvSpPr>
        <p:spPr>
          <a:xfrm>
            <a:off x="7863840" y="1865376"/>
            <a:ext cx="1005840" cy="274320"/>
          </a:xfrm>
          <a:prstGeom prst="rect">
            <a:avLst/>
          </a:prstGeom>
          <a:noFill/>
        </p:spPr>
        <p:txBody>
          <a:bodyPr wrap="square" lIns="45720" rIns="45720" tIns="18288" bIns="18288" anchor="ctr">
            <a:spAutoFit/>
          </a:bodyPr>
          <a:lstStyle/>
          <a:p>
            <a:pPr algn="ctr"/>
            <a:r>
              <a:rPr sz="750" b="0" i="0">
                <a:solidFill>
                  <a:srgbClr val="5D6D7E"/>
                </a:solidFill>
                <a:latin typeface="Calibri"/>
              </a:rPr>
              <a:t>[98,48 ; 98,82]</a:t>
            </a:r>
          </a:p>
        </p:txBody>
      </p:sp>
      <p:sp>
        <p:nvSpPr>
          <p:cNvPr id="20" name="Rectangle 19"/>
          <p:cNvSpPr/>
          <p:nvPr/>
        </p:nvSpPr>
        <p:spPr>
          <a:xfrm>
            <a:off x="5074920" y="2139696"/>
            <a:ext cx="3794760" cy="27432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2139696"/>
            <a:ext cx="1783080" cy="274320"/>
          </a:xfrm>
          <a:prstGeom prst="rect">
            <a:avLst/>
          </a:prstGeom>
          <a:noFill/>
        </p:spPr>
        <p:txBody>
          <a:bodyPr wrap="square" lIns="45720" rIns="45720" tIns="18288" bIns="18288" anchor="ctr">
            <a:spAutoFit/>
          </a:bodyPr>
          <a:lstStyle/>
          <a:p>
            <a:pPr algn="l"/>
            <a:r>
              <a:rPr sz="750" b="0" i="0">
                <a:solidFill>
                  <a:srgbClr val="2C3E50"/>
                </a:solidFill>
                <a:latin typeface="Calibri"/>
              </a:rPr>
              <a:t>Premier remplacement</a:t>
            </a:r>
          </a:p>
        </p:txBody>
      </p:sp>
      <p:sp>
        <p:nvSpPr>
          <p:cNvPr id="22" name="TextBox 21"/>
          <p:cNvSpPr txBox="1"/>
          <p:nvPr/>
        </p:nvSpPr>
        <p:spPr>
          <a:xfrm>
            <a:off x="6903720" y="2139696"/>
            <a:ext cx="960120" cy="274320"/>
          </a:xfrm>
          <a:prstGeom prst="rect">
            <a:avLst/>
          </a:prstGeom>
          <a:noFill/>
        </p:spPr>
        <p:txBody>
          <a:bodyPr wrap="square" lIns="45720" rIns="45720" tIns="18288" bIns="18288" anchor="ctr">
            <a:spAutoFit/>
          </a:bodyPr>
          <a:lstStyle/>
          <a:p>
            <a:pPr algn="ctr"/>
            <a:r>
              <a:rPr sz="750" b="1" i="0">
                <a:solidFill>
                  <a:srgbClr val="2C3E50"/>
                </a:solidFill>
                <a:latin typeface="Calibri"/>
              </a:rPr>
              <a:t>0,71 %</a:t>
            </a:r>
          </a:p>
        </p:txBody>
      </p:sp>
      <p:sp>
        <p:nvSpPr>
          <p:cNvPr id="23" name="TextBox 22"/>
          <p:cNvSpPr txBox="1"/>
          <p:nvPr/>
        </p:nvSpPr>
        <p:spPr>
          <a:xfrm>
            <a:off x="7863840" y="2139696"/>
            <a:ext cx="1005840" cy="274320"/>
          </a:xfrm>
          <a:prstGeom prst="rect">
            <a:avLst/>
          </a:prstGeom>
          <a:noFill/>
        </p:spPr>
        <p:txBody>
          <a:bodyPr wrap="square" lIns="45720" rIns="45720" tIns="18288" bIns="18288" anchor="ctr">
            <a:spAutoFit/>
          </a:bodyPr>
          <a:lstStyle/>
          <a:p>
            <a:pPr algn="ctr"/>
            <a:r>
              <a:rPr sz="750" b="0" i="0">
                <a:solidFill>
                  <a:srgbClr val="5D6D7E"/>
                </a:solidFill>
                <a:latin typeface="Calibri"/>
              </a:rPr>
              <a:t>[0,63 ; 0,78]</a:t>
            </a:r>
          </a:p>
        </p:txBody>
      </p:sp>
      <p:sp>
        <p:nvSpPr>
          <p:cNvPr id="24" name="Rectangle 23"/>
          <p:cNvSpPr/>
          <p:nvPr/>
        </p:nvSpPr>
        <p:spPr>
          <a:xfrm>
            <a:off x="5074920" y="2414016"/>
            <a:ext cx="379476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0" y="2414016"/>
            <a:ext cx="1783080" cy="274320"/>
          </a:xfrm>
          <a:prstGeom prst="rect">
            <a:avLst/>
          </a:prstGeom>
          <a:noFill/>
        </p:spPr>
        <p:txBody>
          <a:bodyPr wrap="square" lIns="45720" rIns="45720" tIns="18288" bIns="18288" anchor="ctr">
            <a:spAutoFit/>
          </a:bodyPr>
          <a:lstStyle/>
          <a:p>
            <a:pPr algn="l"/>
            <a:r>
              <a:rPr sz="750" b="0" i="0">
                <a:solidFill>
                  <a:srgbClr val="2C3E50"/>
                </a:solidFill>
                <a:latin typeface="Calibri"/>
              </a:rPr>
              <a:t>Remplacements suivants</a:t>
            </a:r>
          </a:p>
        </p:txBody>
      </p:sp>
      <p:sp>
        <p:nvSpPr>
          <p:cNvPr id="26" name="TextBox 25"/>
          <p:cNvSpPr txBox="1"/>
          <p:nvPr/>
        </p:nvSpPr>
        <p:spPr>
          <a:xfrm>
            <a:off x="6903720" y="2414016"/>
            <a:ext cx="960120" cy="274320"/>
          </a:xfrm>
          <a:prstGeom prst="rect">
            <a:avLst/>
          </a:prstGeom>
          <a:noFill/>
        </p:spPr>
        <p:txBody>
          <a:bodyPr wrap="square" lIns="45720" rIns="45720" tIns="18288" bIns="18288" anchor="ctr">
            <a:spAutoFit/>
          </a:bodyPr>
          <a:lstStyle/>
          <a:p>
            <a:pPr algn="ctr"/>
            <a:r>
              <a:rPr sz="750" b="1" i="0">
                <a:solidFill>
                  <a:srgbClr val="2C3E50"/>
                </a:solidFill>
                <a:latin typeface="Calibri"/>
              </a:rPr>
              <a:t>0,56 %</a:t>
            </a:r>
          </a:p>
        </p:txBody>
      </p:sp>
      <p:sp>
        <p:nvSpPr>
          <p:cNvPr id="27" name="TextBox 26"/>
          <p:cNvSpPr txBox="1"/>
          <p:nvPr/>
        </p:nvSpPr>
        <p:spPr>
          <a:xfrm>
            <a:off x="7863840" y="2414016"/>
            <a:ext cx="1005840" cy="274320"/>
          </a:xfrm>
          <a:prstGeom prst="rect">
            <a:avLst/>
          </a:prstGeom>
          <a:noFill/>
        </p:spPr>
        <p:txBody>
          <a:bodyPr wrap="square" lIns="45720" rIns="45720" tIns="18288" bIns="18288" anchor="ctr">
            <a:spAutoFit/>
          </a:bodyPr>
          <a:lstStyle/>
          <a:p>
            <a:pPr algn="ctr"/>
            <a:r>
              <a:rPr sz="750" b="0" i="0">
                <a:solidFill>
                  <a:srgbClr val="5D6D7E"/>
                </a:solidFill>
                <a:latin typeface="Calibri"/>
              </a:rPr>
              <a:t>[0,47 ; 0,67]</a:t>
            </a:r>
          </a:p>
        </p:txBody>
      </p:sp>
      <p:sp>
        <p:nvSpPr>
          <p:cNvPr id="28" name="TextBox 27"/>
          <p:cNvSpPr txBox="1"/>
          <p:nvPr/>
        </p:nvSpPr>
        <p:spPr>
          <a:xfrm>
            <a:off x="5074920" y="2788920"/>
            <a:ext cx="3794760" cy="1874519"/>
          </a:xfrm>
          <a:prstGeom prst="rect">
            <a:avLst/>
          </a:prstGeom>
          <a:noFill/>
        </p:spPr>
        <p:txBody>
          <a:bodyPr wrap="square" lIns="45720" rIns="45720" tIns="18288" bIns="18288" anchor="t">
            <a:spAutoFit/>
          </a:bodyPr>
          <a:lstStyle/>
          <a:p>
            <a:pPr algn="l"/>
            <a:r>
              <a:rPr sz="800" b="0" i="0">
                <a:solidFill>
                  <a:srgbClr val="5D6D7E"/>
                </a:solidFill>
                <a:latin typeface="Calibri"/>
              </a:rPr>
              <a:t>•  Résidu d'additivité : 2,3 × 10⁻¹³. La décomposition est exacte.</a:t>
            </a:r>
          </a:p>
          <a:p>
            <a:pPr algn="l"/>
            <a:r>
              <a:rPr sz="800" b="0" i="0">
                <a:solidFill>
                  <a:srgbClr val="5D6D7E"/>
                </a:solidFill>
                <a:latin typeface="Calibri"/>
              </a:rPr>
              <a:t>•  </a:t>
            </a:r>
            <a:r>
              <a:rPr sz="800" b="1" i="0">
                <a:solidFill>
                  <a:srgbClr val="2C3E50"/>
                </a:solidFill>
                <a:latin typeface="Calibri"/>
              </a:rPr>
              <a:t>Le mécanisme qui donnait son nom à l'article pèse 0,7 % du volume.</a:t>
            </a:r>
            <a:r>
              <a:rPr sz="800" b="0" i="0">
                <a:solidFill>
                  <a:srgbClr val="5D6D7E"/>
                </a:solidFill>
                <a:latin typeface="Calibri"/>
              </a:rPr>
              <a:t> Ce qui efface la preuve, c'est l'apprentissage ordinaire.</a:t>
            </a:r>
          </a:p>
          <a:p>
            <a:pPr algn="l"/>
            <a:r>
              <a:rPr sz="800" b="0" i="0">
                <a:solidFill>
                  <a:srgbClr val="5D6D7E"/>
                </a:solidFill>
                <a:latin typeface="Calibri"/>
              </a:rPr>
              <a:t>•  Et pourtant ces 0,7 % </a:t>
            </a:r>
            <a:r>
              <a:rPr sz="800" b="1" i="0">
                <a:solidFill>
                  <a:srgbClr val="2C3E50"/>
                </a:solidFill>
                <a:latin typeface="Calibri"/>
              </a:rPr>
              <a:t>valent 31 points de taux de détection</a:t>
            </a:r>
            <a:r>
              <a:rPr sz="800" b="0" i="0">
                <a:solidFill>
                  <a:srgbClr val="5D6D7E"/>
                </a:solidFill>
                <a:latin typeface="Calibri"/>
              </a:rPr>
              <a:t> : 0 détection sur 100 pour la forêt complète, 18 sur 100 en supprimant les remplacements postérieurs au premier, </a:t>
            </a:r>
            <a:r>
              <a:rPr sz="800" b="1" i="0">
                <a:solidFill>
                  <a:srgbClr val="2C3E50"/>
                </a:solidFill>
                <a:latin typeface="Calibri"/>
              </a:rPr>
              <a:t>49 sur 100</a:t>
            </a:r>
            <a:r>
              <a:rPr sz="800" b="0" i="0">
                <a:solidFill>
                  <a:srgbClr val="5D6D7E"/>
                </a:solidFill>
                <a:latin typeface="Calibri"/>
              </a:rPr>
              <a:t> en les supprimant tous. Le premier remplacement est volumétriquement négligeable et causalement décisif.</a:t>
            </a:r>
          </a:p>
          <a:p>
            <a:pPr algn="l"/>
            <a:r>
              <a:rPr sz="800" b="0" i="0">
                <a:solidFill>
                  <a:srgbClr val="5D6D7E"/>
                </a:solidFill>
                <a:latin typeface="Calibri"/>
              </a:rPr>
              <a:t>•  Mesure annexe qui contredit le récit initial : la latence du premier remplacement </a:t>
            </a:r>
            <a:r>
              <a:rPr sz="800" b="1" i="0">
                <a:solidFill>
                  <a:srgbClr val="2C3E50"/>
                </a:solidFill>
                <a:latin typeface="Calibri"/>
              </a:rPr>
              <a:t>n'est pas monotone</a:t>
            </a:r>
            <a:r>
              <a:rPr sz="800" b="0" i="0">
                <a:solidFill>
                  <a:srgbClr val="5D6D7E"/>
                </a:solidFill>
                <a:latin typeface="Calibri"/>
              </a:rPr>
              <a:t>. 130 pas à Δe = 0,028, </a:t>
            </a:r>
            <a:r>
              <a:rPr sz="800" b="1" i="0">
                <a:solidFill>
                  <a:srgbClr val="2C3E50"/>
                </a:solidFill>
                <a:latin typeface="Calibri"/>
              </a:rPr>
              <a:t>417,5</a:t>
            </a:r>
            <a:r>
              <a:rPr sz="800" b="0" i="0">
                <a:solidFill>
                  <a:srgbClr val="5D6D7E"/>
                </a:solidFill>
                <a:latin typeface="Calibri"/>
              </a:rPr>
              <a:t> à Δe = 0,085, puis descente jusqu'à 29. Une dérive faible élève la variance, élargit la borne de confiance du mécanisme interne, et étouffe les remplacements de bruit.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W4 — Du principe réfuté à la règle qui marche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13</a:t>
            </a:r>
          </a:p>
        </p:txBody>
      </p:sp>
      <p:sp>
        <p:nvSpPr>
          <p:cNvPr id="5" name="TextBox 4"/>
          <p:cNvSpPr txBox="1"/>
          <p:nvPr/>
        </p:nvSpPr>
        <p:spPr>
          <a:xfrm>
            <a:off x="274320" y="658368"/>
            <a:ext cx="5074920" cy="219456"/>
          </a:xfrm>
          <a:prstGeom prst="rect">
            <a:avLst/>
          </a:prstGeom>
          <a:noFill/>
        </p:spPr>
        <p:txBody>
          <a:bodyPr wrap="square" lIns="45720" rIns="45720" tIns="18288" bIns="18288" anchor="t">
            <a:spAutoFit/>
          </a:bodyPr>
          <a:lstStyle/>
          <a:p>
            <a:pPr algn="l"/>
            <a:r>
              <a:rPr sz="950" b="1" i="0">
                <a:solidFill>
                  <a:srgbClr val="00748C"/>
                </a:solidFill>
                <a:latin typeface="Calibri"/>
              </a:rPr>
              <a:t>Le reproche</a:t>
            </a:r>
          </a:p>
        </p:txBody>
      </p:sp>
      <p:sp>
        <p:nvSpPr>
          <p:cNvPr id="6" name="TextBox 5"/>
          <p:cNvSpPr txBox="1"/>
          <p:nvPr/>
        </p:nvSpPr>
        <p:spPr>
          <a:xfrm>
            <a:off x="274320" y="877824"/>
            <a:ext cx="5074920" cy="457200"/>
          </a:xfrm>
          <a:prstGeom prst="rect">
            <a:avLst/>
          </a:prstGeom>
          <a:noFill/>
        </p:spPr>
        <p:txBody>
          <a:bodyPr wrap="square" lIns="45720" rIns="45720" tIns="18288" bIns="18288" anchor="t">
            <a:spAutoFit/>
          </a:bodyPr>
          <a:lstStyle/>
          <a:p>
            <a:pPr algn="l"/>
            <a:r>
              <a:rPr sz="850" b="0" i="0">
                <a:solidFill>
                  <a:srgbClr val="5D6D7E"/>
                </a:solidFill>
                <a:latin typeface="Calibri"/>
              </a:rPr>
              <a:t>Un « si et seulement si » que les propres données du papier contredisaient, et une condition qui conjuguait une horloge — propre à un détecteur à fenêtre adaptative — et un seuil — propre à un compteur cumulatif. Deux familles, une seule inégalité.</a:t>
            </a:r>
          </a:p>
        </p:txBody>
      </p:sp>
      <p:sp>
        <p:nvSpPr>
          <p:cNvPr id="7" name="TextBox 6"/>
          <p:cNvSpPr txBox="1"/>
          <p:nvPr/>
        </p:nvSpPr>
        <p:spPr>
          <a:xfrm>
            <a:off x="274320" y="1371600"/>
            <a:ext cx="5074920" cy="219456"/>
          </a:xfrm>
          <a:prstGeom prst="rect">
            <a:avLst/>
          </a:prstGeom>
          <a:noFill/>
        </p:spPr>
        <p:txBody>
          <a:bodyPr wrap="square" lIns="45720" rIns="45720" tIns="18288" bIns="18288" anchor="t">
            <a:spAutoFit/>
          </a:bodyPr>
          <a:lstStyle/>
          <a:p>
            <a:pPr algn="l"/>
            <a:r>
              <a:rPr sz="950" b="1" i="0">
                <a:solidFill>
                  <a:srgbClr val="00748C"/>
                </a:solidFill>
                <a:latin typeface="Calibri"/>
              </a:rPr>
              <a:t>Ce que nous avons fait</a:t>
            </a:r>
          </a:p>
        </p:txBody>
      </p:sp>
      <p:sp>
        <p:nvSpPr>
          <p:cNvPr id="8" name="TextBox 7"/>
          <p:cNvSpPr txBox="1"/>
          <p:nvPr/>
        </p:nvSpPr>
        <p:spPr>
          <a:xfrm>
            <a:off x="274320" y="1591056"/>
            <a:ext cx="5074920" cy="502920"/>
          </a:xfrm>
          <a:prstGeom prst="rect">
            <a:avLst/>
          </a:prstGeom>
          <a:noFill/>
        </p:spPr>
        <p:txBody>
          <a:bodyPr wrap="square" lIns="45720" rIns="45720" tIns="18288" bIns="18288" anchor="t">
            <a:spAutoFit/>
          </a:bodyPr>
          <a:lstStyle/>
          <a:p>
            <a:pPr algn="l"/>
            <a:r>
              <a:rPr sz="850" b="0" i="0">
                <a:solidFill>
                  <a:srgbClr val="5D6D7E"/>
                </a:solidFill>
                <a:latin typeface="Calibri"/>
              </a:rPr>
              <a:t>•  Le biconditionnel est retiré. À sa place, une </a:t>
            </a:r>
            <a:r>
              <a:rPr sz="850" b="1" i="0">
                <a:solidFill>
                  <a:srgbClr val="2C3E50"/>
                </a:solidFill>
                <a:latin typeface="Calibri"/>
              </a:rPr>
              <a:t>condition suffisante</a:t>
            </a:r>
            <a:r>
              <a:rPr sz="850" b="0" i="0">
                <a:solidFill>
                  <a:srgbClr val="5D6D7E"/>
                </a:solidFill>
                <a:latin typeface="Calibri"/>
              </a:rPr>
              <a:t> énoncée dans la seule unité qui vaut pour tout le monde : la preuve.</a:t>
            </a:r>
          </a:p>
          <a:p>
            <a:pPr algn="l"/>
            <a:r>
              <a:rPr sz="850" b="0" i="0">
                <a:solidFill>
                  <a:srgbClr val="5D6D7E"/>
                </a:solidFill>
                <a:latin typeface="Calibri"/>
              </a:rPr>
              <a:t>•  Détecter exige que le budget laissé par l'adaptation excède l'exigence du moniteur.</a:t>
            </a:r>
          </a:p>
        </p:txBody>
      </p:sp>
      <p:sp>
        <p:nvSpPr>
          <p:cNvPr id="9" name="TextBox 8"/>
          <p:cNvSpPr txBox="1"/>
          <p:nvPr/>
        </p:nvSpPr>
        <p:spPr>
          <a:xfrm>
            <a:off x="274320" y="2157984"/>
            <a:ext cx="5074920" cy="219456"/>
          </a:xfrm>
          <a:prstGeom prst="rect">
            <a:avLst/>
          </a:prstGeom>
          <a:noFill/>
        </p:spPr>
        <p:txBody>
          <a:bodyPr wrap="square" lIns="45720" rIns="45720" tIns="18288" bIns="18288" anchor="t">
            <a:spAutoFit/>
          </a:bodyPr>
          <a:lstStyle/>
          <a:p>
            <a:pPr algn="l"/>
            <a:r>
              <a:rPr sz="950" b="1" i="0">
                <a:solidFill>
                  <a:srgbClr val="00748C"/>
                </a:solidFill>
                <a:latin typeface="Calibri"/>
              </a:rPr>
              <a:t>Le résultat, mesuré</a:t>
            </a:r>
          </a:p>
        </p:txBody>
      </p:sp>
      <p:sp>
        <p:nvSpPr>
          <p:cNvPr id="10" name="TextBox 9"/>
          <p:cNvSpPr txBox="1"/>
          <p:nvPr/>
        </p:nvSpPr>
        <p:spPr>
          <a:xfrm>
            <a:off x="274320" y="2377440"/>
            <a:ext cx="5074920" cy="868680"/>
          </a:xfrm>
          <a:prstGeom prst="rect">
            <a:avLst/>
          </a:prstGeom>
          <a:noFill/>
        </p:spPr>
        <p:txBody>
          <a:bodyPr wrap="square" lIns="45720" rIns="45720" tIns="18288" bIns="18288" anchor="t">
            <a:spAutoFit/>
          </a:bodyPr>
          <a:lstStyle/>
          <a:p>
            <a:pPr algn="l"/>
            <a:r>
              <a:rPr sz="850" b="0" i="0">
                <a:solidFill>
                  <a:srgbClr val="5D6D7E"/>
                </a:solidFill>
                <a:latin typeface="Calibri"/>
              </a:rPr>
              <a:t>•  </a:t>
            </a:r>
            <a:r>
              <a:rPr sz="850" b="1" i="0">
                <a:solidFill>
                  <a:srgbClr val="2C3E50"/>
                </a:solidFill>
                <a:latin typeface="Calibri"/>
              </a:rPr>
              <a:t>Plancher de détectabilité</a:t>
            </a:r>
            <a:r>
              <a:rPr sz="850" b="0" i="0">
                <a:solidFill>
                  <a:srgbClr val="5D6D7E"/>
                </a:solidFill>
                <a:latin typeface="Calibri"/>
              </a:rPr>
              <a:t> : Δe_c = 0,120, intervalle [0,114 ; 0,127]. Sous ce plancher, aucune calibration ne satisfait à la fois le budget de fausses alarmes et le certificat.</a:t>
            </a:r>
          </a:p>
          <a:p>
            <a:pPr algn="l"/>
            <a:r>
              <a:rPr sz="850" b="0" i="0">
                <a:solidFill>
                  <a:srgbClr val="5D6D7E"/>
                </a:solidFill>
                <a:latin typeface="Calibri"/>
              </a:rPr>
              <a:t>•  </a:t>
            </a:r>
            <a:r>
              <a:rPr sz="850" b="1" i="0">
                <a:solidFill>
                  <a:srgbClr val="2C3E50"/>
                </a:solidFill>
                <a:latin typeface="Calibri"/>
              </a:rPr>
              <a:t>Seuil opérationnel</a:t>
            </a:r>
            <a:r>
              <a:rPr sz="850" b="0" i="0">
                <a:solidFill>
                  <a:srgbClr val="5D6D7E"/>
                </a:solidFill>
                <a:latin typeface="Calibri"/>
              </a:rPr>
              <a:t> : λ_op = 21,93, intervalle [19,88 ; 22,40], sur la plage Δe ∈ [0,20 ; 0,40].</a:t>
            </a:r>
          </a:p>
          <a:p>
            <a:pPr algn="l"/>
            <a:r>
              <a:rPr sz="850" b="0" i="0">
                <a:solidFill>
                  <a:srgbClr val="5D6D7E"/>
                </a:solidFill>
                <a:latin typeface="Calibri"/>
              </a:rPr>
              <a:t>•  Ce que le relecteur demandait — retirer un « ssi » — a produit un nombre qu'un praticien règle.</a:t>
            </a:r>
          </a:p>
        </p:txBody>
      </p:sp>
      <p:sp>
        <p:nvSpPr>
          <p:cNvPr id="11" name="TextBox 10"/>
          <p:cNvSpPr txBox="1"/>
          <p:nvPr/>
        </p:nvSpPr>
        <p:spPr>
          <a:xfrm>
            <a:off x="274320" y="3310128"/>
            <a:ext cx="5074920" cy="219456"/>
          </a:xfrm>
          <a:prstGeom prst="rect">
            <a:avLst/>
          </a:prstGeom>
          <a:noFill/>
        </p:spPr>
        <p:txBody>
          <a:bodyPr wrap="square" lIns="45720" rIns="45720" tIns="18288" bIns="18288" anchor="t">
            <a:spAutoFit/>
          </a:bodyPr>
          <a:lstStyle/>
          <a:p>
            <a:pPr algn="l"/>
            <a:r>
              <a:rPr sz="950" b="1" i="0">
                <a:solidFill>
                  <a:srgbClr val="00748C"/>
                </a:solidFill>
                <a:latin typeface="Calibri"/>
              </a:rPr>
              <a:t>Ce que nous n'avons pas unifié, et pourquoi</a:t>
            </a:r>
          </a:p>
        </p:txBody>
      </p:sp>
      <p:sp>
        <p:nvSpPr>
          <p:cNvPr id="12" name="TextBox 11"/>
          <p:cNvSpPr txBox="1"/>
          <p:nvPr/>
        </p:nvSpPr>
        <p:spPr>
          <a:xfrm>
            <a:off x="274320" y="3529584"/>
            <a:ext cx="5074920" cy="1097280"/>
          </a:xfrm>
          <a:prstGeom prst="rect">
            <a:avLst/>
          </a:prstGeom>
          <a:noFill/>
        </p:spPr>
        <p:txBody>
          <a:bodyPr wrap="square" lIns="45720" rIns="45720" tIns="18288" bIns="18288" anchor="t">
            <a:spAutoFit/>
          </a:bodyPr>
          <a:lstStyle/>
          <a:p>
            <a:pPr algn="l"/>
            <a:r>
              <a:rPr sz="850" b="0" i="0">
                <a:solidFill>
                  <a:srgbClr val="5D6D7E"/>
                </a:solidFill>
                <a:latin typeface="Calibri"/>
              </a:rPr>
              <a:t>•  Deux familles de moniteurs, deux prédicats. Un compteur cumulatif dépense une </a:t>
            </a:r>
            <a:r>
              <a:rPr sz="850" b="1" i="0">
                <a:solidFill>
                  <a:srgbClr val="2C3E50"/>
                </a:solidFill>
                <a:latin typeface="Calibri"/>
              </a:rPr>
              <a:t>intégrale</a:t>
            </a:r>
            <a:r>
              <a:rPr sz="850" b="0" i="0">
                <a:solidFill>
                  <a:srgbClr val="5D6D7E"/>
                </a:solidFill>
                <a:latin typeface="Calibri"/>
              </a:rPr>
              <a:t> d'excès d'erreur. Un test à deux échantillons dépense du </a:t>
            </a:r>
            <a:r>
              <a:rPr sz="850" b="1" i="0">
                <a:solidFill>
                  <a:srgbClr val="2C3E50"/>
                </a:solidFill>
                <a:latin typeface="Calibri"/>
              </a:rPr>
              <a:t>contraste</a:t>
            </a:r>
            <a:r>
              <a:rPr sz="850" b="0" i="0">
                <a:solidFill>
                  <a:srgbClr val="5D6D7E"/>
                </a:solidFill>
                <a:latin typeface="Calibri"/>
              </a:rPr>
              <a:t> à l'intérieur de sa fenêtre.</a:t>
            </a:r>
          </a:p>
          <a:p>
            <a:pPr algn="l"/>
            <a:r>
              <a:rPr sz="850" b="0" i="0">
                <a:solidFill>
                  <a:srgbClr val="5D6D7E"/>
                </a:solidFill>
                <a:latin typeface="Calibri"/>
              </a:rPr>
              <a:t>•  Le second modèle reproduit les mesures à </a:t>
            </a:r>
            <a:r>
              <a:rPr sz="850" b="1" i="0">
                <a:solidFill>
                  <a:srgbClr val="2C3E50"/>
                </a:solidFill>
                <a:latin typeface="Calibri"/>
              </a:rPr>
              <a:t>93,1 %</a:t>
            </a:r>
            <a:r>
              <a:rPr sz="850" b="0" i="0">
                <a:solidFill>
                  <a:srgbClr val="5D6D7E"/>
                </a:solidFill>
                <a:latin typeface="Calibri"/>
              </a:rPr>
              <a:t> contre 85,0 % pour la forme unifiée. La généralisation avait été pré-enregistrée ; la règle fixée d'avance l'a refusée.</a:t>
            </a:r>
          </a:p>
        </p:txBody>
      </p:sp>
      <p:sp>
        <p:nvSpPr>
          <p:cNvPr id="13" name="Rectangle 12"/>
          <p:cNvSpPr/>
          <p:nvPr/>
        </p:nvSpPr>
        <p:spPr>
          <a:xfrm>
            <a:off x="5486400" y="658368"/>
            <a:ext cx="3383280" cy="301752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23560" y="749808"/>
            <a:ext cx="3108960" cy="2834639"/>
          </a:xfrm>
          <a:prstGeom prst="rect">
            <a:avLst/>
          </a:prstGeom>
          <a:noFill/>
        </p:spPr>
        <p:txBody>
          <a:bodyPr wrap="square" lIns="45720" rIns="45720" tIns="18288" bIns="18288" anchor="ctr">
            <a:spAutoFit/>
          </a:bodyPr>
          <a:lstStyle/>
          <a:p>
            <a:pPr algn="ctr"/>
            <a:r>
              <a:rPr sz="900" b="0" i="1">
                <a:solidFill>
                  <a:srgbClr val="8A9BB0"/>
                </a:solidFill>
                <a:latin typeface="Calibri"/>
              </a:rPr>
              <a:t>[FIGURE]  Axe horizontal Δe de 0 à 0,5. Zone rouge hachurée sous 0,120 annotée « plancher de détectabilité ». Ligne horizontale λ_op = 21,9 avec sa bande d'incertitude, tracée sur la plage [0,20 ; 0,40]. Au-dessus, deux boîtes « intégrale » et « contraste » reliées à la condition centrale.</a:t>
            </a:r>
          </a:p>
        </p:txBody>
      </p:sp>
      <p:sp>
        <p:nvSpPr>
          <p:cNvPr id="15" name="Rectangle 14"/>
          <p:cNvSpPr/>
          <p:nvPr/>
        </p:nvSpPr>
        <p:spPr>
          <a:xfrm>
            <a:off x="274320" y="3767328"/>
            <a:ext cx="4160520" cy="84124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3813048"/>
            <a:ext cx="3977639" cy="237744"/>
          </a:xfrm>
          <a:prstGeom prst="rect">
            <a:avLst/>
          </a:prstGeom>
          <a:noFill/>
        </p:spPr>
        <p:txBody>
          <a:bodyPr wrap="square" lIns="45720" rIns="45720" tIns="18288" bIns="18288" anchor="t">
            <a:spAutoFit/>
          </a:bodyPr>
          <a:lstStyle/>
          <a:p>
            <a:pPr algn="l"/>
            <a:r>
              <a:rPr sz="1000" b="0" i="1">
                <a:solidFill>
                  <a:srgbClr val="2D3748"/>
                </a:solidFill>
                <a:latin typeface="Calibri"/>
              </a:rPr>
              <a:t>R(D, ε, α) ≤ A</a:t>
            </a:r>
          </a:p>
        </p:txBody>
      </p:sp>
      <p:sp>
        <p:nvSpPr>
          <p:cNvPr id="17" name="TextBox 16"/>
          <p:cNvSpPr txBox="1"/>
          <p:nvPr/>
        </p:nvSpPr>
        <p:spPr>
          <a:xfrm>
            <a:off x="365760" y="4059936"/>
            <a:ext cx="3977639" cy="512064"/>
          </a:xfrm>
          <a:prstGeom prst="rect">
            <a:avLst/>
          </a:prstGeom>
          <a:noFill/>
        </p:spPr>
        <p:txBody>
          <a:bodyPr wrap="square" lIns="45720" rIns="45720" tIns="18288" bIns="18288" anchor="t">
            <a:spAutoFit/>
          </a:bodyPr>
          <a:lstStyle/>
          <a:p>
            <a:pPr algn="l"/>
            <a:r>
              <a:rPr sz="750" b="0" i="0">
                <a:solidFill>
                  <a:srgbClr val="5D6D7E"/>
                </a:solidFill>
                <a:latin typeface="Calibri"/>
              </a:rPr>
              <a:t>La condition de calibration, indépendante de la famille de détecteur. Détecter exige que le budget laissé par l'adaptation excède l'exigence du moniteur.</a:t>
            </a:r>
          </a:p>
        </p:txBody>
      </p:sp>
      <p:sp>
        <p:nvSpPr>
          <p:cNvPr id="18" name="Rectangle 17"/>
          <p:cNvSpPr/>
          <p:nvPr/>
        </p:nvSpPr>
        <p:spPr>
          <a:xfrm>
            <a:off x="4572000" y="3767328"/>
            <a:ext cx="4297680" cy="84124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3813048"/>
            <a:ext cx="4114800" cy="237744"/>
          </a:xfrm>
          <a:prstGeom prst="rect">
            <a:avLst/>
          </a:prstGeom>
          <a:noFill/>
        </p:spPr>
        <p:txBody>
          <a:bodyPr wrap="square" lIns="45720" rIns="45720" tIns="18288" bIns="18288" anchor="t">
            <a:spAutoFit/>
          </a:bodyPr>
          <a:lstStyle/>
          <a:p>
            <a:pPr algn="l"/>
            <a:r>
              <a:rPr sz="1000" b="0" i="1">
                <a:solidFill>
                  <a:srgbClr val="2D3748"/>
                </a:solidFill>
                <a:latin typeface="Calibri"/>
              </a:rPr>
              <a:t>min(W ; n_stat) · Δe ≥ k*(α ; n_stat)</a:t>
            </a:r>
          </a:p>
        </p:txBody>
      </p:sp>
      <p:sp>
        <p:nvSpPr>
          <p:cNvPr id="20" name="TextBox 19"/>
          <p:cNvSpPr txBox="1"/>
          <p:nvPr/>
        </p:nvSpPr>
        <p:spPr>
          <a:xfrm>
            <a:off x="4663440" y="4059936"/>
            <a:ext cx="4114800" cy="512064"/>
          </a:xfrm>
          <a:prstGeom prst="rect">
            <a:avLst/>
          </a:prstGeom>
          <a:noFill/>
        </p:spPr>
        <p:txBody>
          <a:bodyPr wrap="square" lIns="45720" rIns="45720" tIns="18288" bIns="18288" anchor="t">
            <a:spAutoFit/>
          </a:bodyPr>
          <a:lstStyle/>
          <a:p>
            <a:pPr algn="l"/>
            <a:r>
              <a:rPr sz="750" b="0" i="0">
                <a:solidFill>
                  <a:srgbClr val="5D6D7E"/>
                </a:solidFill>
                <a:latin typeface="Calibri"/>
              </a:rPr>
              <a:t>Le prédicat propre aux détecteurs à fenêtre. n_stat : taille de l'échantillon de test ; k* : contraste minimal requis.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La cloche d'évidence — trois régimes, une seule courbe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14</a:t>
            </a:r>
          </a:p>
        </p:txBody>
      </p:sp>
      <p:pic>
        <p:nvPicPr>
          <p:cNvPr id="5" name="Picture 4" descr="Fig_S13_evidence_bell.png"/>
          <p:cNvPicPr>
            <a:picLocks noChangeAspect="1"/>
          </p:cNvPicPr>
          <p:nvPr/>
        </p:nvPicPr>
        <p:blipFill>
          <a:blip r:embed="rId2"/>
          <a:stretch>
            <a:fillRect/>
          </a:stretch>
        </p:blipFill>
        <p:spPr>
          <a:xfrm>
            <a:off x="274320" y="658368"/>
            <a:ext cx="6035040" cy="2321169"/>
          </a:xfrm>
          <a:prstGeom prst="rect">
            <a:avLst/>
          </a:prstGeom>
        </p:spPr>
      </p:pic>
      <p:sp>
        <p:nvSpPr>
          <p:cNvPr id="6" name="TextBox 5"/>
          <p:cNvSpPr txBox="1"/>
          <p:nvPr/>
        </p:nvSpPr>
        <p:spPr>
          <a:xfrm>
            <a:off x="6446520" y="658368"/>
            <a:ext cx="2423160" cy="219456"/>
          </a:xfrm>
          <a:prstGeom prst="rect">
            <a:avLst/>
          </a:prstGeom>
          <a:noFill/>
        </p:spPr>
        <p:txBody>
          <a:bodyPr wrap="square" lIns="45720" rIns="45720" tIns="18288" bIns="18288" anchor="t">
            <a:spAutoFit/>
          </a:bodyPr>
          <a:lstStyle/>
          <a:p>
            <a:pPr algn="l"/>
            <a:r>
              <a:rPr sz="850" b="1" i="0">
                <a:solidFill>
                  <a:srgbClr val="00748C"/>
                </a:solidFill>
                <a:latin typeface="Calibri"/>
              </a:rPr>
              <a:t>Ce que l'article disait, et qui était faux</a:t>
            </a:r>
          </a:p>
        </p:txBody>
      </p:sp>
      <p:sp>
        <p:nvSpPr>
          <p:cNvPr id="7" name="TextBox 6"/>
          <p:cNvSpPr txBox="1"/>
          <p:nvPr/>
        </p:nvSpPr>
        <p:spPr>
          <a:xfrm>
            <a:off x="6446520" y="841248"/>
            <a:ext cx="2423160" cy="594360"/>
          </a:xfrm>
          <a:prstGeom prst="rect">
            <a:avLst/>
          </a:prstGeom>
          <a:noFill/>
        </p:spPr>
        <p:txBody>
          <a:bodyPr wrap="square" lIns="45720" rIns="45720" tIns="18288" bIns="18288" anchor="t">
            <a:spAutoFit/>
          </a:bodyPr>
          <a:lstStyle/>
          <a:p>
            <a:pPr algn="l"/>
            <a:r>
              <a:rPr sz="750" b="0" i="0">
                <a:solidFill>
                  <a:srgbClr val="5D6D7E"/>
                </a:solidFill>
                <a:latin typeface="Calibri"/>
              </a:rPr>
              <a:t>Le budget de preuve était calculé par un produit : le saut d'erreur multiplié par la durée moyenne avant le premier remplacement. Ce produit donnait une constante, « 18,5 quelle que soit la violence de la dérive ».</a:t>
            </a:r>
          </a:p>
        </p:txBody>
      </p:sp>
      <p:sp>
        <p:nvSpPr>
          <p:cNvPr id="8" name="TextBox 7"/>
          <p:cNvSpPr txBox="1"/>
          <p:nvPr/>
        </p:nvSpPr>
        <p:spPr>
          <a:xfrm>
            <a:off x="6446520" y="1472184"/>
            <a:ext cx="2423160" cy="219456"/>
          </a:xfrm>
          <a:prstGeom prst="rect">
            <a:avLst/>
          </a:prstGeom>
          <a:noFill/>
        </p:spPr>
        <p:txBody>
          <a:bodyPr wrap="square" lIns="45720" rIns="45720" tIns="18288" bIns="18288" anchor="t">
            <a:spAutoFit/>
          </a:bodyPr>
          <a:lstStyle/>
          <a:p>
            <a:pPr algn="l"/>
            <a:r>
              <a:rPr sz="850" b="1" i="0">
                <a:solidFill>
                  <a:srgbClr val="00748C"/>
                </a:solidFill>
                <a:latin typeface="Calibri"/>
              </a:rPr>
              <a:t>Ce que nous mesurons</a:t>
            </a:r>
          </a:p>
        </p:txBody>
      </p:sp>
      <p:sp>
        <p:nvSpPr>
          <p:cNvPr id="9" name="TextBox 8"/>
          <p:cNvSpPr txBox="1"/>
          <p:nvPr/>
        </p:nvSpPr>
        <p:spPr>
          <a:xfrm>
            <a:off x="6446520" y="1655064"/>
            <a:ext cx="2423160" cy="475488"/>
          </a:xfrm>
          <a:prstGeom prst="rect">
            <a:avLst/>
          </a:prstGeom>
          <a:noFill/>
        </p:spPr>
        <p:txBody>
          <a:bodyPr wrap="square" lIns="45720" rIns="45720" tIns="18288" bIns="18288" anchor="t">
            <a:spAutoFit/>
          </a:bodyPr>
          <a:lstStyle/>
          <a:p>
            <a:pPr algn="l"/>
            <a:r>
              <a:rPr sz="750" b="0" i="0">
                <a:solidFill>
                  <a:srgbClr val="5D6D7E"/>
                </a:solidFill>
                <a:latin typeface="Calibri"/>
              </a:rPr>
              <a:t>Le maximum réellement atteint par le compteur sur l'horizon, exécution par exécution, bruit compris. C'est exactement la grandeur que le détecteur compare à son seuil.</a:t>
            </a:r>
          </a:p>
        </p:txBody>
      </p:sp>
      <p:sp>
        <p:nvSpPr>
          <p:cNvPr id="10" name="TextBox 9"/>
          <p:cNvSpPr txBox="1"/>
          <p:nvPr/>
        </p:nvSpPr>
        <p:spPr>
          <a:xfrm>
            <a:off x="6446520" y="2167128"/>
            <a:ext cx="2423160" cy="822960"/>
          </a:xfrm>
          <a:prstGeom prst="rect">
            <a:avLst/>
          </a:prstGeom>
          <a:noFill/>
        </p:spPr>
        <p:txBody>
          <a:bodyPr wrap="square" lIns="45720" rIns="45720" tIns="18288" bIns="18288" anchor="t">
            <a:spAutoFit/>
          </a:bodyPr>
          <a:lstStyle/>
          <a:p>
            <a:pPr algn="l"/>
            <a:r>
              <a:rPr sz="750" b="0" i="0">
                <a:solidFill>
                  <a:srgbClr val="5D6D7E"/>
                </a:solidFill>
                <a:latin typeface="Calibri"/>
              </a:rPr>
              <a:t>•  Elle monte, culmine, redescend. Facteur </a:t>
            </a:r>
            <a:r>
              <a:rPr sz="750" b="1" i="0">
                <a:solidFill>
                  <a:srgbClr val="2C3E50"/>
                </a:solidFill>
                <a:latin typeface="Calibri"/>
              </a:rPr>
              <a:t>3,6</a:t>
            </a:r>
            <a:r>
              <a:rPr sz="750" b="0" i="0">
                <a:solidFill>
                  <a:srgbClr val="5D6D7E"/>
                </a:solidFill>
                <a:latin typeface="Calibri"/>
              </a:rPr>
              <a:t> entre les deux extrémités.</a:t>
            </a:r>
          </a:p>
          <a:p>
            <a:pPr algn="l"/>
            <a:r>
              <a:rPr sz="750" b="0" i="0">
                <a:solidFill>
                  <a:srgbClr val="5D6D7E"/>
                </a:solidFill>
                <a:latin typeface="Calibri"/>
              </a:rPr>
              <a:t>•  Le sommet n'est pas identifiable à cent graines : les deux points du plateau diffèrent de 0,58 contre des demi-largeurs de 0,97. Nous publions le </a:t>
            </a:r>
            <a:r>
              <a:rPr sz="750" b="1" i="0">
                <a:solidFill>
                  <a:srgbClr val="2C3E50"/>
                </a:solidFill>
                <a:latin typeface="Calibri"/>
              </a:rPr>
              <a:t>plateau</a:t>
            </a:r>
            <a:r>
              <a:rPr sz="750" b="0" i="0">
                <a:solidFill>
                  <a:srgbClr val="5D6D7E"/>
                </a:solidFill>
                <a:latin typeface="Calibri"/>
              </a:rPr>
              <a:t>, pas le point.</a:t>
            </a:r>
          </a:p>
        </p:txBody>
      </p:sp>
      <p:sp>
        <p:nvSpPr>
          <p:cNvPr id="11" name="Rectangle 10"/>
          <p:cNvSpPr/>
          <p:nvPr/>
        </p:nvSpPr>
        <p:spPr>
          <a:xfrm>
            <a:off x="274320" y="3072384"/>
            <a:ext cx="1188720" cy="219456"/>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3072384"/>
            <a:ext cx="1188720" cy="219456"/>
          </a:xfrm>
          <a:prstGeom prst="rect">
            <a:avLst/>
          </a:prstGeom>
          <a:noFill/>
        </p:spPr>
        <p:txBody>
          <a:bodyPr wrap="square" lIns="45720" rIns="45720" tIns="18288" bIns="18288" anchor="ctr">
            <a:spAutoFit/>
          </a:bodyPr>
          <a:lstStyle/>
          <a:p>
            <a:pPr algn="ctr"/>
            <a:r>
              <a:rPr sz="800" b="1" i="0">
                <a:solidFill>
                  <a:srgbClr val="FFFFFF"/>
                </a:solidFill>
                <a:latin typeface="Calibri"/>
              </a:rPr>
              <a:t>Δe</a:t>
            </a:r>
          </a:p>
        </p:txBody>
      </p:sp>
      <p:sp>
        <p:nvSpPr>
          <p:cNvPr id="13" name="Rectangle 12"/>
          <p:cNvSpPr/>
          <p:nvPr/>
        </p:nvSpPr>
        <p:spPr>
          <a:xfrm>
            <a:off x="1463040" y="3072384"/>
            <a:ext cx="1057960" cy="219456"/>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63040" y="3072384"/>
            <a:ext cx="1057960" cy="219456"/>
          </a:xfrm>
          <a:prstGeom prst="rect">
            <a:avLst/>
          </a:prstGeom>
          <a:noFill/>
        </p:spPr>
        <p:txBody>
          <a:bodyPr wrap="square" lIns="45720" rIns="45720" tIns="18288" bIns="18288" anchor="ctr">
            <a:spAutoFit/>
          </a:bodyPr>
          <a:lstStyle/>
          <a:p>
            <a:pPr algn="ctr"/>
            <a:r>
              <a:rPr sz="800" b="0" i="0">
                <a:solidFill>
                  <a:srgbClr val="2C3E50"/>
                </a:solidFill>
                <a:latin typeface="Calibri"/>
              </a:rPr>
              <a:t>0,028</a:t>
            </a:r>
          </a:p>
        </p:txBody>
      </p:sp>
      <p:sp>
        <p:nvSpPr>
          <p:cNvPr id="15" name="Rectangle 14"/>
          <p:cNvSpPr/>
          <p:nvPr/>
        </p:nvSpPr>
        <p:spPr>
          <a:xfrm>
            <a:off x="2521000" y="3072384"/>
            <a:ext cx="1057960" cy="219456"/>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21000" y="3072384"/>
            <a:ext cx="1057960" cy="219456"/>
          </a:xfrm>
          <a:prstGeom prst="rect">
            <a:avLst/>
          </a:prstGeom>
          <a:noFill/>
        </p:spPr>
        <p:txBody>
          <a:bodyPr wrap="square" lIns="45720" rIns="45720" tIns="18288" bIns="18288" anchor="ctr">
            <a:spAutoFit/>
          </a:bodyPr>
          <a:lstStyle/>
          <a:p>
            <a:pPr algn="ctr"/>
            <a:r>
              <a:rPr sz="800" b="0" i="0">
                <a:solidFill>
                  <a:srgbClr val="2C3E50"/>
                </a:solidFill>
                <a:latin typeface="Calibri"/>
              </a:rPr>
              <a:t>0,141</a:t>
            </a:r>
          </a:p>
        </p:txBody>
      </p:sp>
      <p:sp>
        <p:nvSpPr>
          <p:cNvPr id="17" name="Rectangle 16"/>
          <p:cNvSpPr/>
          <p:nvPr/>
        </p:nvSpPr>
        <p:spPr>
          <a:xfrm>
            <a:off x="3578961" y="3072384"/>
            <a:ext cx="1057960" cy="219456"/>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78961" y="3072384"/>
            <a:ext cx="1057960" cy="219456"/>
          </a:xfrm>
          <a:prstGeom prst="rect">
            <a:avLst/>
          </a:prstGeom>
          <a:noFill/>
        </p:spPr>
        <p:txBody>
          <a:bodyPr wrap="square" lIns="45720" rIns="45720" tIns="18288" bIns="18288" anchor="ctr">
            <a:spAutoFit/>
          </a:bodyPr>
          <a:lstStyle/>
          <a:p>
            <a:pPr algn="ctr"/>
            <a:r>
              <a:rPr sz="800" b="1" i="0">
                <a:solidFill>
                  <a:srgbClr val="2C3E50"/>
                </a:solidFill>
                <a:latin typeface="Calibri"/>
              </a:rPr>
              <a:t>0,194</a:t>
            </a:r>
          </a:p>
        </p:txBody>
      </p:sp>
      <p:sp>
        <p:nvSpPr>
          <p:cNvPr id="19" name="Rectangle 18"/>
          <p:cNvSpPr/>
          <p:nvPr/>
        </p:nvSpPr>
        <p:spPr>
          <a:xfrm>
            <a:off x="4636922" y="3072384"/>
            <a:ext cx="1057960" cy="219456"/>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36922" y="3072384"/>
            <a:ext cx="1057960" cy="219456"/>
          </a:xfrm>
          <a:prstGeom prst="rect">
            <a:avLst/>
          </a:prstGeom>
          <a:noFill/>
        </p:spPr>
        <p:txBody>
          <a:bodyPr wrap="square" lIns="45720" rIns="45720" tIns="18288" bIns="18288" anchor="ctr">
            <a:spAutoFit/>
          </a:bodyPr>
          <a:lstStyle/>
          <a:p>
            <a:pPr algn="ctr"/>
            <a:r>
              <a:rPr sz="800" b="1" i="0">
                <a:solidFill>
                  <a:srgbClr val="2C3E50"/>
                </a:solidFill>
                <a:latin typeface="Calibri"/>
              </a:rPr>
              <a:t>0,243</a:t>
            </a:r>
          </a:p>
        </p:txBody>
      </p:sp>
      <p:sp>
        <p:nvSpPr>
          <p:cNvPr id="21" name="Rectangle 20"/>
          <p:cNvSpPr/>
          <p:nvPr/>
        </p:nvSpPr>
        <p:spPr>
          <a:xfrm>
            <a:off x="5694883" y="3072384"/>
            <a:ext cx="1057960" cy="219456"/>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94883" y="3072384"/>
            <a:ext cx="1057960" cy="219456"/>
          </a:xfrm>
          <a:prstGeom prst="rect">
            <a:avLst/>
          </a:prstGeom>
          <a:noFill/>
        </p:spPr>
        <p:txBody>
          <a:bodyPr wrap="square" lIns="45720" rIns="45720" tIns="18288" bIns="18288" anchor="ctr">
            <a:spAutoFit/>
          </a:bodyPr>
          <a:lstStyle/>
          <a:p>
            <a:pPr algn="ctr"/>
            <a:r>
              <a:rPr sz="800" b="0" i="0">
                <a:solidFill>
                  <a:srgbClr val="2C3E50"/>
                </a:solidFill>
                <a:latin typeface="Calibri"/>
              </a:rPr>
              <a:t>0,327</a:t>
            </a:r>
          </a:p>
        </p:txBody>
      </p:sp>
      <p:sp>
        <p:nvSpPr>
          <p:cNvPr id="23" name="Rectangle 22"/>
          <p:cNvSpPr/>
          <p:nvPr/>
        </p:nvSpPr>
        <p:spPr>
          <a:xfrm>
            <a:off x="6752844" y="3072384"/>
            <a:ext cx="1057960" cy="219456"/>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52844" y="3072384"/>
            <a:ext cx="1057960" cy="219456"/>
          </a:xfrm>
          <a:prstGeom prst="rect">
            <a:avLst/>
          </a:prstGeom>
          <a:noFill/>
        </p:spPr>
        <p:txBody>
          <a:bodyPr wrap="square" lIns="45720" rIns="45720" tIns="18288" bIns="18288" anchor="ctr">
            <a:spAutoFit/>
          </a:bodyPr>
          <a:lstStyle/>
          <a:p>
            <a:pPr algn="ctr"/>
            <a:r>
              <a:rPr sz="800" b="0" i="0">
                <a:solidFill>
                  <a:srgbClr val="2C3E50"/>
                </a:solidFill>
                <a:latin typeface="Calibri"/>
              </a:rPr>
              <a:t>0,416</a:t>
            </a:r>
          </a:p>
        </p:txBody>
      </p:sp>
      <p:sp>
        <p:nvSpPr>
          <p:cNvPr id="25" name="Rectangle 24"/>
          <p:cNvSpPr/>
          <p:nvPr/>
        </p:nvSpPr>
        <p:spPr>
          <a:xfrm>
            <a:off x="7810804" y="3072384"/>
            <a:ext cx="1057960" cy="219456"/>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10804" y="3072384"/>
            <a:ext cx="1057960" cy="219456"/>
          </a:xfrm>
          <a:prstGeom prst="rect">
            <a:avLst/>
          </a:prstGeom>
          <a:noFill/>
        </p:spPr>
        <p:txBody>
          <a:bodyPr wrap="square" lIns="45720" rIns="45720" tIns="18288" bIns="18288" anchor="ctr">
            <a:spAutoFit/>
          </a:bodyPr>
          <a:lstStyle/>
          <a:p>
            <a:pPr algn="ctr"/>
            <a:r>
              <a:rPr sz="800" b="0" i="0">
                <a:solidFill>
                  <a:srgbClr val="2C3E50"/>
                </a:solidFill>
                <a:latin typeface="Calibri"/>
              </a:rPr>
              <a:t>0,498</a:t>
            </a:r>
          </a:p>
        </p:txBody>
      </p:sp>
      <p:sp>
        <p:nvSpPr>
          <p:cNvPr id="27" name="Rectangle 26"/>
          <p:cNvSpPr/>
          <p:nvPr/>
        </p:nvSpPr>
        <p:spPr>
          <a:xfrm>
            <a:off x="274320" y="3291840"/>
            <a:ext cx="1188720" cy="219456"/>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3291840"/>
            <a:ext cx="1188720" cy="219456"/>
          </a:xfrm>
          <a:prstGeom prst="rect">
            <a:avLst/>
          </a:prstGeom>
          <a:noFill/>
        </p:spPr>
        <p:txBody>
          <a:bodyPr wrap="square" lIns="45720" rIns="45720" tIns="18288" bIns="18288" anchor="ctr">
            <a:spAutoFit/>
          </a:bodyPr>
          <a:lstStyle/>
          <a:p>
            <a:pPr algn="ctr"/>
            <a:r>
              <a:rPr sz="800" b="1" i="0">
                <a:solidFill>
                  <a:srgbClr val="FFFFFF"/>
                </a:solidFill>
                <a:latin typeface="Calibri"/>
              </a:rPr>
              <a:t>E[S_max]</a:t>
            </a:r>
          </a:p>
        </p:txBody>
      </p:sp>
      <p:sp>
        <p:nvSpPr>
          <p:cNvPr id="29" name="Rectangle 28"/>
          <p:cNvSpPr/>
          <p:nvPr/>
        </p:nvSpPr>
        <p:spPr>
          <a:xfrm>
            <a:off x="1463040" y="3291840"/>
            <a:ext cx="1057960"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63040" y="3291840"/>
            <a:ext cx="1057960" cy="219456"/>
          </a:xfrm>
          <a:prstGeom prst="rect">
            <a:avLst/>
          </a:prstGeom>
          <a:noFill/>
        </p:spPr>
        <p:txBody>
          <a:bodyPr wrap="square" lIns="45720" rIns="45720" tIns="18288" bIns="18288" anchor="ctr">
            <a:spAutoFit/>
          </a:bodyPr>
          <a:lstStyle/>
          <a:p>
            <a:pPr algn="ctr"/>
            <a:r>
              <a:rPr sz="800" b="1" i="0">
                <a:solidFill>
                  <a:srgbClr val="2C3E50"/>
                </a:solidFill>
                <a:latin typeface="Calibri"/>
              </a:rPr>
              <a:t>5,28</a:t>
            </a:r>
          </a:p>
        </p:txBody>
      </p:sp>
      <p:sp>
        <p:nvSpPr>
          <p:cNvPr id="31" name="Rectangle 30"/>
          <p:cNvSpPr/>
          <p:nvPr/>
        </p:nvSpPr>
        <p:spPr>
          <a:xfrm>
            <a:off x="2521000" y="3291840"/>
            <a:ext cx="1057960"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21000" y="3291840"/>
            <a:ext cx="1057960" cy="219456"/>
          </a:xfrm>
          <a:prstGeom prst="rect">
            <a:avLst/>
          </a:prstGeom>
          <a:noFill/>
        </p:spPr>
        <p:txBody>
          <a:bodyPr wrap="square" lIns="45720" rIns="45720" tIns="18288" bIns="18288" anchor="ctr">
            <a:spAutoFit/>
          </a:bodyPr>
          <a:lstStyle/>
          <a:p>
            <a:pPr algn="ctr"/>
            <a:r>
              <a:rPr sz="800" b="0" i="0">
                <a:solidFill>
                  <a:srgbClr val="2C3E50"/>
                </a:solidFill>
                <a:latin typeface="Calibri"/>
              </a:rPr>
              <a:t>29,18</a:t>
            </a:r>
          </a:p>
        </p:txBody>
      </p:sp>
      <p:sp>
        <p:nvSpPr>
          <p:cNvPr id="33" name="Rectangle 32"/>
          <p:cNvSpPr/>
          <p:nvPr/>
        </p:nvSpPr>
        <p:spPr>
          <a:xfrm>
            <a:off x="3578961" y="3291840"/>
            <a:ext cx="1057960"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78961" y="3291840"/>
            <a:ext cx="1057960" cy="219456"/>
          </a:xfrm>
          <a:prstGeom prst="rect">
            <a:avLst/>
          </a:prstGeom>
          <a:noFill/>
        </p:spPr>
        <p:txBody>
          <a:bodyPr wrap="square" lIns="45720" rIns="45720" tIns="18288" bIns="18288" anchor="ctr">
            <a:spAutoFit/>
          </a:bodyPr>
          <a:lstStyle/>
          <a:p>
            <a:pPr algn="ctr"/>
            <a:r>
              <a:rPr sz="800" b="1" i="0">
                <a:solidFill>
                  <a:srgbClr val="2C3E50"/>
                </a:solidFill>
                <a:latin typeface="Calibri"/>
              </a:rPr>
              <a:t>33,20</a:t>
            </a:r>
          </a:p>
        </p:txBody>
      </p:sp>
      <p:sp>
        <p:nvSpPr>
          <p:cNvPr id="35" name="Rectangle 34"/>
          <p:cNvSpPr/>
          <p:nvPr/>
        </p:nvSpPr>
        <p:spPr>
          <a:xfrm>
            <a:off x="4636922" y="3291840"/>
            <a:ext cx="1057960"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36922" y="3291840"/>
            <a:ext cx="1057960" cy="219456"/>
          </a:xfrm>
          <a:prstGeom prst="rect">
            <a:avLst/>
          </a:prstGeom>
          <a:noFill/>
        </p:spPr>
        <p:txBody>
          <a:bodyPr wrap="square" lIns="45720" rIns="45720" tIns="18288" bIns="18288" anchor="ctr">
            <a:spAutoFit/>
          </a:bodyPr>
          <a:lstStyle/>
          <a:p>
            <a:pPr algn="ctr"/>
            <a:r>
              <a:rPr sz="800" b="0" i="0">
                <a:solidFill>
                  <a:srgbClr val="2C3E50"/>
                </a:solidFill>
                <a:latin typeface="Calibri"/>
              </a:rPr>
              <a:t>32,62</a:t>
            </a:r>
          </a:p>
        </p:txBody>
      </p:sp>
      <p:sp>
        <p:nvSpPr>
          <p:cNvPr id="37" name="Rectangle 36"/>
          <p:cNvSpPr/>
          <p:nvPr/>
        </p:nvSpPr>
        <p:spPr>
          <a:xfrm>
            <a:off x="5694883" y="3291840"/>
            <a:ext cx="1057960"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94883" y="3291840"/>
            <a:ext cx="1057960" cy="219456"/>
          </a:xfrm>
          <a:prstGeom prst="rect">
            <a:avLst/>
          </a:prstGeom>
          <a:noFill/>
        </p:spPr>
        <p:txBody>
          <a:bodyPr wrap="square" lIns="45720" rIns="45720" tIns="18288" bIns="18288" anchor="ctr">
            <a:spAutoFit/>
          </a:bodyPr>
          <a:lstStyle/>
          <a:p>
            <a:pPr algn="ctr"/>
            <a:r>
              <a:rPr sz="800" b="0" i="0">
                <a:solidFill>
                  <a:srgbClr val="2C3E50"/>
                </a:solidFill>
                <a:latin typeface="Calibri"/>
              </a:rPr>
              <a:t>31,33</a:t>
            </a:r>
          </a:p>
        </p:txBody>
      </p:sp>
      <p:sp>
        <p:nvSpPr>
          <p:cNvPr id="39" name="Rectangle 38"/>
          <p:cNvSpPr/>
          <p:nvPr/>
        </p:nvSpPr>
        <p:spPr>
          <a:xfrm>
            <a:off x="6752844" y="3291840"/>
            <a:ext cx="1057960"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52844" y="3291840"/>
            <a:ext cx="1057960" cy="219456"/>
          </a:xfrm>
          <a:prstGeom prst="rect">
            <a:avLst/>
          </a:prstGeom>
          <a:noFill/>
        </p:spPr>
        <p:txBody>
          <a:bodyPr wrap="square" lIns="45720" rIns="45720" tIns="18288" bIns="18288" anchor="ctr">
            <a:spAutoFit/>
          </a:bodyPr>
          <a:lstStyle/>
          <a:p>
            <a:pPr algn="ctr"/>
            <a:r>
              <a:rPr sz="800" b="0" i="0">
                <a:solidFill>
                  <a:srgbClr val="2C3E50"/>
                </a:solidFill>
                <a:latin typeface="Calibri"/>
              </a:rPr>
              <a:t>26,43</a:t>
            </a:r>
          </a:p>
        </p:txBody>
      </p:sp>
      <p:sp>
        <p:nvSpPr>
          <p:cNvPr id="41" name="Rectangle 40"/>
          <p:cNvSpPr/>
          <p:nvPr/>
        </p:nvSpPr>
        <p:spPr>
          <a:xfrm>
            <a:off x="7810804" y="3291840"/>
            <a:ext cx="1057960"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10804" y="3291840"/>
            <a:ext cx="1057960" cy="219456"/>
          </a:xfrm>
          <a:prstGeom prst="rect">
            <a:avLst/>
          </a:prstGeom>
          <a:noFill/>
        </p:spPr>
        <p:txBody>
          <a:bodyPr wrap="square" lIns="45720" rIns="45720" tIns="18288" bIns="18288" anchor="ctr">
            <a:spAutoFit/>
          </a:bodyPr>
          <a:lstStyle/>
          <a:p>
            <a:pPr algn="ctr"/>
            <a:r>
              <a:rPr sz="800" b="1" i="0">
                <a:solidFill>
                  <a:srgbClr val="2C3E50"/>
                </a:solidFill>
                <a:latin typeface="Calibri"/>
              </a:rPr>
              <a:t>19,13</a:t>
            </a:r>
          </a:p>
        </p:txBody>
      </p:sp>
      <p:sp>
        <p:nvSpPr>
          <p:cNvPr id="43" name="TextBox 42"/>
          <p:cNvSpPr txBox="1"/>
          <p:nvPr/>
        </p:nvSpPr>
        <p:spPr>
          <a:xfrm>
            <a:off x="274320" y="3602736"/>
            <a:ext cx="4160520" cy="219456"/>
          </a:xfrm>
          <a:prstGeom prst="rect">
            <a:avLst/>
          </a:prstGeom>
          <a:noFill/>
        </p:spPr>
        <p:txBody>
          <a:bodyPr wrap="square" lIns="45720" rIns="45720" tIns="18288" bIns="18288" anchor="t">
            <a:spAutoFit/>
          </a:bodyPr>
          <a:lstStyle/>
          <a:p>
            <a:pPr algn="l"/>
            <a:r>
              <a:rPr sz="850" b="1" i="0">
                <a:solidFill>
                  <a:srgbClr val="00748C"/>
                </a:solidFill>
                <a:latin typeface="Calibri"/>
              </a:rPr>
              <a:t>Les trois régimes, sans un seul paramètre libre</a:t>
            </a:r>
          </a:p>
        </p:txBody>
      </p:sp>
      <p:sp>
        <p:nvSpPr>
          <p:cNvPr id="44" name="TextBox 43"/>
          <p:cNvSpPr txBox="1"/>
          <p:nvPr/>
        </p:nvSpPr>
        <p:spPr>
          <a:xfrm>
            <a:off x="274320" y="3822191"/>
            <a:ext cx="4160520" cy="868680"/>
          </a:xfrm>
          <a:prstGeom prst="rect">
            <a:avLst/>
          </a:prstGeom>
          <a:noFill/>
        </p:spPr>
        <p:txBody>
          <a:bodyPr wrap="square" lIns="45720" rIns="45720" tIns="18288" bIns="18288" anchor="t">
            <a:spAutoFit/>
          </a:bodyPr>
          <a:lstStyle/>
          <a:p>
            <a:pPr algn="l"/>
            <a:r>
              <a:rPr sz="800" b="0" i="0">
                <a:solidFill>
                  <a:srgbClr val="5D6D7E"/>
                </a:solidFill>
                <a:latin typeface="Calibri"/>
              </a:rPr>
              <a:t>•  </a:t>
            </a:r>
            <a:r>
              <a:rPr sz="800" b="1" i="0">
                <a:solidFill>
                  <a:srgbClr val="2C3E50"/>
                </a:solidFill>
                <a:latin typeface="Calibri"/>
              </a:rPr>
              <a:t>λ = 50</a:t>
            </a:r>
            <a:r>
              <a:rPr sz="800" b="0" i="0">
                <a:solidFill>
                  <a:srgbClr val="5D6D7E"/>
                </a:solidFill>
                <a:latin typeface="Calibri"/>
              </a:rPr>
              <a:t> domine la cloche partout → détection ≤ 0,01 de bout en bout.</a:t>
            </a:r>
          </a:p>
          <a:p>
            <a:pPr algn="l"/>
            <a:r>
              <a:rPr sz="800" b="0" i="0">
                <a:solidFill>
                  <a:srgbClr val="5D6D7E"/>
                </a:solidFill>
                <a:latin typeface="Calibri"/>
              </a:rPr>
              <a:t>•  </a:t>
            </a:r>
            <a:r>
              <a:rPr sz="800" b="1" i="0">
                <a:solidFill>
                  <a:srgbClr val="2C3E50"/>
                </a:solidFill>
                <a:latin typeface="Calibri"/>
              </a:rPr>
              <a:t>λ = 25</a:t>
            </a:r>
            <a:r>
              <a:rPr sz="800" b="0" i="0">
                <a:solidFill>
                  <a:srgbClr val="5D6D7E"/>
                </a:solidFill>
                <a:latin typeface="Calibri"/>
              </a:rPr>
              <a:t> coupe la cloche → 0,00 à gauche, </a:t>
            </a:r>
            <a:r>
              <a:rPr sz="800" b="1" i="0">
                <a:solidFill>
                  <a:srgbClr val="2C3E50"/>
                </a:solidFill>
                <a:latin typeface="Calibri"/>
              </a:rPr>
              <a:t>0,92</a:t>
            </a:r>
            <a:r>
              <a:rPr sz="800" b="0" i="0">
                <a:solidFill>
                  <a:srgbClr val="5D6D7E"/>
                </a:solidFill>
                <a:latin typeface="Calibri"/>
              </a:rPr>
              <a:t> au sommet, </a:t>
            </a:r>
            <a:r>
              <a:rPr sz="800" b="1" i="0">
                <a:solidFill>
                  <a:srgbClr val="2C3E50"/>
                </a:solidFill>
                <a:latin typeface="Calibri"/>
              </a:rPr>
              <a:t>0,04</a:t>
            </a:r>
            <a:r>
              <a:rPr sz="800" b="0" i="0">
                <a:solidFill>
                  <a:srgbClr val="5D6D7E"/>
                </a:solidFill>
                <a:latin typeface="Calibri"/>
              </a:rPr>
              <a:t> à droite. Le taux d'échec </a:t>
            </a:r>
            <a:r>
              <a:rPr sz="800" b="1" i="0">
                <a:solidFill>
                  <a:srgbClr val="2C3E50"/>
                </a:solidFill>
                <a:latin typeface="Calibri"/>
              </a:rPr>
              <a:t>croît avec l'amplitude de la dérive</a:t>
            </a:r>
            <a:r>
              <a:rPr sz="800" b="0" i="0">
                <a:solidFill>
                  <a:srgbClr val="5D6D7E"/>
                </a:solidFill>
                <a:latin typeface="Calibri"/>
              </a:rPr>
              <a:t> sur toute la moitié droite.</a:t>
            </a:r>
          </a:p>
          <a:p>
            <a:pPr algn="l"/>
            <a:r>
              <a:rPr sz="800" b="0" i="0">
                <a:solidFill>
                  <a:srgbClr val="5D6D7E"/>
                </a:solidFill>
                <a:latin typeface="Calibri"/>
              </a:rPr>
              <a:t>•  </a:t>
            </a:r>
            <a:r>
              <a:rPr sz="800" b="1" i="0">
                <a:solidFill>
                  <a:srgbClr val="2C3E50"/>
                </a:solidFill>
                <a:latin typeface="Calibri"/>
              </a:rPr>
              <a:t>λ = 8</a:t>
            </a:r>
            <a:r>
              <a:rPr sz="800" b="0" i="0">
                <a:solidFill>
                  <a:srgbClr val="5D6D7E"/>
                </a:solidFill>
                <a:latin typeface="Calibri"/>
              </a:rPr>
              <a:t> passe sous la cloche presque partout → zone sûre.</a:t>
            </a:r>
          </a:p>
        </p:txBody>
      </p:sp>
      <p:sp>
        <p:nvSpPr>
          <p:cNvPr id="45" name="TextBox 44"/>
          <p:cNvSpPr txBox="1"/>
          <p:nvPr/>
        </p:nvSpPr>
        <p:spPr>
          <a:xfrm>
            <a:off x="4617720" y="3602736"/>
            <a:ext cx="4251960" cy="219456"/>
          </a:xfrm>
          <a:prstGeom prst="rect">
            <a:avLst/>
          </a:prstGeom>
          <a:noFill/>
        </p:spPr>
        <p:txBody>
          <a:bodyPr wrap="square" lIns="45720" rIns="45720" tIns="18288" bIns="18288" anchor="t">
            <a:spAutoFit/>
          </a:bodyPr>
          <a:lstStyle/>
          <a:p>
            <a:pPr algn="l"/>
            <a:r>
              <a:rPr sz="850" b="1" i="0">
                <a:solidFill>
                  <a:srgbClr val="00748C"/>
                </a:solidFill>
                <a:latin typeface="Calibri"/>
              </a:rPr>
              <a:t>Ce que cela résout</a:t>
            </a:r>
          </a:p>
        </p:txBody>
      </p:sp>
      <p:sp>
        <p:nvSpPr>
          <p:cNvPr id="46" name="TextBox 45"/>
          <p:cNvSpPr txBox="1"/>
          <p:nvPr/>
        </p:nvSpPr>
        <p:spPr>
          <a:xfrm>
            <a:off x="4617720" y="3822191"/>
            <a:ext cx="4251960" cy="868680"/>
          </a:xfrm>
          <a:prstGeom prst="rect">
            <a:avLst/>
          </a:prstGeom>
          <a:noFill/>
        </p:spPr>
        <p:txBody>
          <a:bodyPr wrap="square" lIns="45720" rIns="45720" tIns="18288" bIns="18288" anchor="t">
            <a:spAutoFit/>
          </a:bodyPr>
          <a:lstStyle/>
          <a:p>
            <a:pPr algn="l"/>
            <a:r>
              <a:rPr sz="800" b="0" i="0">
                <a:solidFill>
                  <a:srgbClr val="5D6D7E"/>
                </a:solidFill>
                <a:latin typeface="Calibri"/>
              </a:rPr>
              <a:t>•  Le régime paradoxal — détection fiable à amplitude moyenne, famine à forte amplitude — est la </a:t>
            </a:r>
            <a:r>
              <a:rPr sz="800" b="1" i="0">
                <a:solidFill>
                  <a:srgbClr val="2C3E50"/>
                </a:solidFill>
                <a:latin typeface="Calibri"/>
              </a:rPr>
              <a:t>pente droite de la cloche</a:t>
            </a:r>
            <a:r>
              <a:rPr sz="800" b="0" i="0">
                <a:solidFill>
                  <a:srgbClr val="5D6D7E"/>
                </a:solidFill>
                <a:latin typeface="Calibri"/>
              </a:rPr>
              <a:t>. Il figurait dans les données publiées depuis le début, sans explication.</a:t>
            </a:r>
          </a:p>
          <a:p>
            <a:pPr algn="l"/>
            <a:r>
              <a:rPr sz="800" b="0" i="0">
                <a:solidFill>
                  <a:srgbClr val="5D6D7E"/>
                </a:solidFill>
                <a:latin typeface="Calibri"/>
              </a:rPr>
              <a:t>•  La courbe n'est pas une loi de puissance : terme quadratique en échelle logarithmique </a:t>
            </a:r>
            <a:r>
              <a:rPr sz="800" b="1" i="0">
                <a:solidFill>
                  <a:srgbClr val="2C3E50"/>
                </a:solidFill>
                <a:latin typeface="Calibri"/>
              </a:rPr>
              <a:t>0,500</a:t>
            </a:r>
            <a:r>
              <a:rPr sz="800" b="0" i="0">
                <a:solidFill>
                  <a:srgbClr val="5D6D7E"/>
                </a:solidFill>
                <a:latin typeface="Calibri"/>
              </a:rPr>
              <a:t>, intervalle [0,296 ; 0,759], et il </a:t>
            </a:r>
            <a:r>
              <a:rPr sz="800" b="1" i="0">
                <a:solidFill>
                  <a:srgbClr val="2C3E50"/>
                </a:solidFill>
                <a:latin typeface="Calibri"/>
              </a:rPr>
              <a:t>résiste</a:t>
            </a:r>
            <a:r>
              <a:rPr sz="800" b="0" i="0">
                <a:solidFill>
                  <a:srgbClr val="5D6D7E"/>
                </a:solidFill>
                <a:latin typeface="Calibri"/>
              </a:rPr>
              <a:t> au retrait des deux extrémités suspectes (0,474 puis 0,592 puis 0,669).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W5 — Pourquoi surveiller un modèle qui se répare seul</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15</a:t>
            </a:r>
          </a:p>
        </p:txBody>
      </p:sp>
      <p:sp>
        <p:nvSpPr>
          <p:cNvPr id="5" name="TextBox 4"/>
          <p:cNvSpPr txBox="1"/>
          <p:nvPr/>
        </p:nvSpPr>
        <p:spPr>
          <a:xfrm>
            <a:off x="274320" y="658368"/>
            <a:ext cx="4983480" cy="219456"/>
          </a:xfrm>
          <a:prstGeom prst="rect">
            <a:avLst/>
          </a:prstGeom>
          <a:noFill/>
        </p:spPr>
        <p:txBody>
          <a:bodyPr wrap="square" lIns="45720" rIns="45720" tIns="18288" bIns="18288" anchor="t">
            <a:spAutoFit/>
          </a:bodyPr>
          <a:lstStyle/>
          <a:p>
            <a:pPr algn="l"/>
            <a:r>
              <a:rPr sz="950" b="1" i="0">
                <a:solidFill>
                  <a:srgbClr val="00748C"/>
                </a:solidFill>
                <a:latin typeface="Calibri"/>
              </a:rPr>
              <a:t>Le reproche, et c'était le veto</a:t>
            </a:r>
          </a:p>
        </p:txBody>
      </p:sp>
      <p:sp>
        <p:nvSpPr>
          <p:cNvPr id="6" name="TextBox 5"/>
          <p:cNvSpPr txBox="1"/>
          <p:nvPr/>
        </p:nvSpPr>
        <p:spPr>
          <a:xfrm>
            <a:off x="274320" y="877824"/>
            <a:ext cx="4983480" cy="411480"/>
          </a:xfrm>
          <a:prstGeom prst="rect">
            <a:avLst/>
          </a:prstGeom>
          <a:noFill/>
        </p:spPr>
        <p:txBody>
          <a:bodyPr wrap="square" lIns="45720" rIns="45720" tIns="18288" bIns="18288" anchor="t">
            <a:spAutoFit/>
          </a:bodyPr>
          <a:lstStyle/>
          <a:p>
            <a:pPr algn="l"/>
            <a:r>
              <a:rPr sz="800" b="0" i="0">
                <a:solidFill>
                  <a:srgbClr val="5D6D7E"/>
                </a:solidFill>
                <a:latin typeface="Calibri"/>
              </a:rPr>
              <a:t>Un relecteur, expertise haute, coche « intérêt pour la communauté : non ». Son argument : une forêt adaptative s'adapte sans qu'on lui adjoigne un détecteur externe. L'architecture étudiée n'existerait pas.</a:t>
            </a:r>
          </a:p>
        </p:txBody>
      </p:sp>
      <p:sp>
        <p:nvSpPr>
          <p:cNvPr id="7" name="TextBox 6"/>
          <p:cNvSpPr txBox="1"/>
          <p:nvPr/>
        </p:nvSpPr>
        <p:spPr>
          <a:xfrm>
            <a:off x="274320" y="1307592"/>
            <a:ext cx="4983480" cy="219456"/>
          </a:xfrm>
          <a:prstGeom prst="rect">
            <a:avLst/>
          </a:prstGeom>
          <a:noFill/>
        </p:spPr>
        <p:txBody>
          <a:bodyPr wrap="square" lIns="45720" rIns="45720" tIns="18288" bIns="18288" anchor="t">
            <a:spAutoFit/>
          </a:bodyPr>
          <a:lstStyle/>
          <a:p>
            <a:pPr algn="l"/>
            <a:r>
              <a:rPr sz="950" b="1" i="0">
                <a:solidFill>
                  <a:srgbClr val="00748C"/>
                </a:solidFill>
                <a:latin typeface="Calibri"/>
              </a:rPr>
              <a:t>Notre réponse, en trois temps</a:t>
            </a:r>
          </a:p>
        </p:txBody>
      </p:sp>
      <p:sp>
        <p:nvSpPr>
          <p:cNvPr id="8" name="TextBox 7"/>
          <p:cNvSpPr txBox="1"/>
          <p:nvPr/>
        </p:nvSpPr>
        <p:spPr>
          <a:xfrm>
            <a:off x="274320" y="1527048"/>
            <a:ext cx="4983480" cy="3154680"/>
          </a:xfrm>
          <a:prstGeom prst="rect">
            <a:avLst/>
          </a:prstGeom>
          <a:noFill/>
        </p:spPr>
        <p:txBody>
          <a:bodyPr wrap="square" lIns="45720" rIns="45720" tIns="18288" bIns="18288" anchor="t">
            <a:spAutoFit/>
          </a:bodyPr>
          <a:lstStyle/>
          <a:p>
            <a:pPr algn="l"/>
            <a:r>
              <a:rPr sz="800" b="1" i="0">
                <a:solidFill>
                  <a:srgbClr val="2C3E50"/>
                </a:solidFill>
                <a:latin typeface="Calibri"/>
              </a:rPr>
              <a:t>1. Trois objectifs, pas un.</a:t>
            </a:r>
            <a:r>
              <a:rPr sz="800" b="0" i="0">
                <a:solidFill>
                  <a:srgbClr val="5D6D7E"/>
                </a:solidFill>
                <a:latin typeface="Calibri"/>
              </a:rPr>
              <a:t> S'adapter, c'est réparer le modèle. Surveiller, c'est savoir que le monde a changé, quand et où. Alarmer, c'est déclencher un humain, une procédure, un pipeline aval. Trois fonctions, trois consommateurs. L'article ne traite que les deux dernières.</a:t>
            </a:r>
          </a:p>
          <a:p>
            <a:pPr algn="l"/>
            <a:r>
              <a:rPr sz="800" b="1" i="0">
                <a:solidFill>
                  <a:srgbClr val="2C3E50"/>
                </a:solidFill>
                <a:latin typeface="Calibri"/>
              </a:rPr>
              <a:t>2. Le problème a un nom ailleurs.</a:t>
            </a:r>
            <a:r>
              <a:rPr sz="800" b="0" i="0">
                <a:solidFill>
                  <a:srgbClr val="5D6D7E"/>
                </a:solidFill>
                <a:latin typeface="Calibri"/>
              </a:rPr>
              <a:t> Le flux d'erreur lu par le moniteur est </a:t>
            </a:r>
            <a:r>
              <a:rPr sz="800" b="1" i="0">
                <a:solidFill>
                  <a:srgbClr val="2C3E50"/>
                </a:solidFill>
                <a:latin typeface="Calibri"/>
              </a:rPr>
              <a:t>endogène</a:t>
            </a:r>
            <a:r>
              <a:rPr sz="800" b="0" i="0">
                <a:solidFill>
                  <a:srgbClr val="5D6D7E"/>
                </a:solidFill>
                <a:latin typeface="Calibri"/>
              </a:rPr>
              <a:t> : le classifieur agit en contre-réaction sur la grandeur même qu'on mesure. C'est le problème canonique de la détection de défaut en boucle fermée, où un régulateur à action intégrale masque le défaut aux détecteurs à résidus. Trente ans de littérature en automatique, un vocabulaire établi, une antériorité qui protège.</a:t>
            </a:r>
          </a:p>
          <a:p>
            <a:pPr algn="l"/>
            <a:r>
              <a:rPr sz="800" b="1" i="0">
                <a:solidFill>
                  <a:srgbClr val="2C3E50"/>
                </a:solidFill>
                <a:latin typeface="Calibri"/>
              </a:rPr>
              <a:t>3. Le régulateur nomme le danger.</a:t>
            </a:r>
            <a:r>
              <a:rPr sz="800" b="0" i="0">
                <a:solidFill>
                  <a:srgbClr val="5D6D7E"/>
                </a:solidFill>
                <a:latin typeface="Calibri"/>
              </a:rPr>
              <a:t> Le règlement européen sur l'IA impose de traiter les boucles de rétroaction des systèmes qui continuent d'apprendre après mise sur le marché, et exige une surveillance après commercialisation. Côté bancaire, la supervision américaine a renouvelé en avril 2026 son cadre de gestion du risque modèle, qui impose une surveillance continue indépendante du modèle.</a:t>
            </a:r>
          </a:p>
          <a:p>
            <a:pPr algn="l"/>
            <a:r>
              <a:rPr sz="800" b="1" i="0">
                <a:solidFill>
                  <a:srgbClr val="2C3E50"/>
                </a:solidFill>
                <a:latin typeface="Calibri"/>
              </a:rPr>
              <a:t>Effet</a:t>
            </a:r>
            <a:r>
              <a:rPr sz="800" b="0" i="0">
                <a:solidFill>
                  <a:srgbClr val="5D6D7E"/>
                </a:solidFill>
                <a:latin typeface="Calibri"/>
              </a:rPr>
              <a:t> — La question du relecteur reçoit sa réponse dans le </a:t>
            </a:r>
            <a:r>
              <a:rPr sz="800" b="1" i="0">
                <a:solidFill>
                  <a:srgbClr val="2C3E50"/>
                </a:solidFill>
                <a:latin typeface="Calibri"/>
              </a:rPr>
              <a:t>premier paragraphe</a:t>
            </a:r>
            <a:r>
              <a:rPr sz="800" b="0" i="0">
                <a:solidFill>
                  <a:srgbClr val="5D6D7E"/>
                </a:solidFill>
                <a:latin typeface="Calibri"/>
              </a:rPr>
              <a:t> de l'introduction. Un système qui se répare masque l'incident à son opérateur : c'est le sujet, et il est nommé comme tel.</a:t>
            </a:r>
          </a:p>
        </p:txBody>
      </p:sp>
      <p:pic>
        <p:nvPicPr>
          <p:cNvPr id="9" name="Picture 8" descr="fig5_boucle_fermee.png"/>
          <p:cNvPicPr>
            <a:picLocks noChangeAspect="1"/>
          </p:cNvPicPr>
          <p:nvPr/>
        </p:nvPicPr>
        <p:blipFill>
          <a:blip r:embed="rId2"/>
          <a:stretch>
            <a:fillRect/>
          </a:stretch>
        </p:blipFill>
        <p:spPr>
          <a:xfrm>
            <a:off x="5440680" y="658368"/>
            <a:ext cx="3429000" cy="2014864"/>
          </a:xfrm>
          <a:prstGeom prst="rect">
            <a:avLst/>
          </a:prstGeom>
        </p:spPr>
      </p:pic>
      <p:sp>
        <p:nvSpPr>
          <p:cNvPr id="10" name="Rectangle 9"/>
          <p:cNvSpPr/>
          <p:nvPr/>
        </p:nvSpPr>
        <p:spPr>
          <a:xfrm>
            <a:off x="5440680" y="2788920"/>
            <a:ext cx="3429000" cy="56692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2120" y="2825496"/>
            <a:ext cx="3246120" cy="219456"/>
          </a:xfrm>
          <a:prstGeom prst="rect">
            <a:avLst/>
          </a:prstGeom>
          <a:noFill/>
        </p:spPr>
        <p:txBody>
          <a:bodyPr wrap="square" lIns="45720" rIns="45720" tIns="18288" bIns="18288" anchor="t">
            <a:spAutoFit/>
          </a:bodyPr>
          <a:lstStyle/>
          <a:p>
            <a:pPr algn="l"/>
            <a:r>
              <a:rPr sz="800" b="0" i="0">
                <a:solidFill>
                  <a:srgbClr val="5D6D7E"/>
                </a:solidFill>
                <a:latin typeface="Calibri"/>
              </a:rPr>
              <a:t>Règlement (UE) 2024/1689 sur l'intelligence artificielle</a:t>
            </a:r>
          </a:p>
        </p:txBody>
      </p:sp>
      <p:sp>
        <p:nvSpPr>
          <p:cNvPr id="12" name="TextBox 11"/>
          <p:cNvSpPr txBox="1"/>
          <p:nvPr/>
        </p:nvSpPr>
        <p:spPr>
          <a:xfrm>
            <a:off x="5532120" y="3044952"/>
            <a:ext cx="3246120" cy="256032"/>
          </a:xfrm>
          <a:prstGeom prst="rect">
            <a:avLst/>
          </a:prstGeom>
          <a:noFill/>
        </p:spPr>
        <p:txBody>
          <a:bodyPr wrap="square" lIns="45720" rIns="45720" tIns="18288" bIns="18288" anchor="t">
            <a:spAutoFit/>
          </a:bodyPr>
          <a:lstStyle/>
          <a:p>
            <a:pPr algn="l"/>
            <a:r>
              <a:rPr sz="800" b="0" i="0" u="sng">
                <a:solidFill>
                  <a:srgbClr val="2980B9"/>
                </a:solidFill>
                <a:latin typeface="Calibri"/>
              </a:rPr>
              <a:t>https://eur-lex.europa.eu/eli/reg/2024/1689/oj</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W6 — Artefact de bibliothèque ? Non, mais moins extrême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16</a:t>
            </a:r>
          </a:p>
        </p:txBody>
      </p:sp>
      <p:sp>
        <p:nvSpPr>
          <p:cNvPr id="5" name="TextBox 4"/>
          <p:cNvSpPr txBox="1"/>
          <p:nvPr/>
        </p:nvSpPr>
        <p:spPr>
          <a:xfrm>
            <a:off x="274320" y="658368"/>
            <a:ext cx="4297680" cy="219456"/>
          </a:xfrm>
          <a:prstGeom prst="rect">
            <a:avLst/>
          </a:prstGeom>
          <a:noFill/>
        </p:spPr>
        <p:txBody>
          <a:bodyPr wrap="square" lIns="45720" rIns="45720" tIns="18288" bIns="18288" anchor="t">
            <a:spAutoFit/>
          </a:bodyPr>
          <a:lstStyle/>
          <a:p>
            <a:pPr algn="l"/>
            <a:r>
              <a:rPr sz="950" b="1" i="0">
                <a:solidFill>
                  <a:srgbClr val="00748C"/>
                </a:solidFill>
                <a:latin typeface="Calibri"/>
              </a:rPr>
              <a:t>Le reproche</a:t>
            </a:r>
          </a:p>
        </p:txBody>
      </p:sp>
      <p:sp>
        <p:nvSpPr>
          <p:cNvPr id="6" name="TextBox 5"/>
          <p:cNvSpPr txBox="1"/>
          <p:nvPr/>
        </p:nvSpPr>
        <p:spPr>
          <a:xfrm>
            <a:off x="274320" y="877824"/>
            <a:ext cx="4297680" cy="384048"/>
          </a:xfrm>
          <a:prstGeom prst="rect">
            <a:avLst/>
          </a:prstGeom>
          <a:noFill/>
        </p:spPr>
        <p:txBody>
          <a:bodyPr wrap="square" lIns="45720" rIns="45720" tIns="18288" bIns="18288" anchor="t">
            <a:spAutoFit/>
          </a:bodyPr>
          <a:lstStyle/>
          <a:p>
            <a:pPr algn="l"/>
            <a:r>
              <a:rPr sz="800" b="0" i="0">
                <a:solidFill>
                  <a:srgbClr val="5D6D7E"/>
                </a:solidFill>
                <a:latin typeface="Calibri"/>
              </a:rPr>
              <a:t>Un classifieur, un détecteur interne, une bibliothèque. Le phénomène pouvait n'être qu'un effet de configuration.</a:t>
            </a:r>
          </a:p>
        </p:txBody>
      </p:sp>
      <p:sp>
        <p:nvSpPr>
          <p:cNvPr id="7" name="TextBox 6"/>
          <p:cNvSpPr txBox="1"/>
          <p:nvPr/>
        </p:nvSpPr>
        <p:spPr>
          <a:xfrm>
            <a:off x="274320" y="1280160"/>
            <a:ext cx="4297680" cy="219456"/>
          </a:xfrm>
          <a:prstGeom prst="rect">
            <a:avLst/>
          </a:prstGeom>
          <a:noFill/>
        </p:spPr>
        <p:txBody>
          <a:bodyPr wrap="square" lIns="45720" rIns="45720" tIns="18288" bIns="18288" anchor="t">
            <a:spAutoFit/>
          </a:bodyPr>
          <a:lstStyle/>
          <a:p>
            <a:pPr algn="l"/>
            <a:r>
              <a:rPr sz="950" b="1" i="0">
                <a:solidFill>
                  <a:srgbClr val="00748C"/>
                </a:solidFill>
                <a:latin typeface="Calibri"/>
              </a:rPr>
              <a:t>Ce que nous avons fait</a:t>
            </a:r>
          </a:p>
        </p:txBody>
      </p:sp>
      <p:sp>
        <p:nvSpPr>
          <p:cNvPr id="8" name="TextBox 7"/>
          <p:cNvSpPr txBox="1"/>
          <p:nvPr/>
        </p:nvSpPr>
        <p:spPr>
          <a:xfrm>
            <a:off x="274320" y="1499616"/>
            <a:ext cx="4297680" cy="640080"/>
          </a:xfrm>
          <a:prstGeom prst="rect">
            <a:avLst/>
          </a:prstGeom>
          <a:noFill/>
        </p:spPr>
        <p:txBody>
          <a:bodyPr wrap="square" lIns="45720" rIns="45720" tIns="18288" bIns="18288" anchor="t">
            <a:spAutoFit/>
          </a:bodyPr>
          <a:lstStyle/>
          <a:p>
            <a:pPr algn="l"/>
            <a:r>
              <a:rPr sz="800" b="0" i="0">
                <a:solidFill>
                  <a:srgbClr val="5D6D7E"/>
                </a:solidFill>
                <a:latin typeface="Calibri"/>
              </a:rPr>
              <a:t>•  D'autres mécanismes internes que celui d'origine.</a:t>
            </a:r>
          </a:p>
          <a:p>
            <a:pPr algn="l"/>
            <a:r>
              <a:rPr sz="800" b="0" i="0">
                <a:solidFill>
                  <a:srgbClr val="5D6D7E"/>
                </a:solidFill>
                <a:latin typeface="Calibri"/>
              </a:rPr>
              <a:t>•  Une </a:t>
            </a:r>
            <a:r>
              <a:rPr sz="800" b="1" i="0">
                <a:solidFill>
                  <a:srgbClr val="2C3E50"/>
                </a:solidFill>
                <a:latin typeface="Calibri"/>
              </a:rPr>
              <a:t>seconde implémentation</a:t>
            </a:r>
            <a:r>
              <a:rPr sz="800" b="0" i="0">
                <a:solidFill>
                  <a:srgbClr val="5D6D7E"/>
                </a:solidFill>
                <a:latin typeface="Calibri"/>
              </a:rPr>
              <a:t> du classifieur, écrite indépendamment.</a:t>
            </a:r>
          </a:p>
          <a:p>
            <a:pPr algn="l"/>
            <a:r>
              <a:rPr sz="800" b="0" i="0">
                <a:solidFill>
                  <a:srgbClr val="5D6D7E"/>
                </a:solidFill>
                <a:latin typeface="Calibri"/>
              </a:rPr>
              <a:t>•  Un </a:t>
            </a:r>
            <a:r>
              <a:rPr sz="800" b="1" i="0">
                <a:solidFill>
                  <a:srgbClr val="2C3E50"/>
                </a:solidFill>
                <a:latin typeface="Calibri"/>
              </a:rPr>
              <a:t>second générateur de flux</a:t>
            </a:r>
            <a:r>
              <a:rPr sz="800" b="0" i="0">
                <a:solidFill>
                  <a:srgbClr val="5D6D7E"/>
                </a:solidFill>
                <a:latin typeface="Calibri"/>
              </a:rPr>
              <a:t>, construit pour tenir le déséquilibre de classes constant.</a:t>
            </a:r>
          </a:p>
        </p:txBody>
      </p:sp>
      <p:sp>
        <p:nvSpPr>
          <p:cNvPr id="9" name="TextBox 8"/>
          <p:cNvSpPr txBox="1"/>
          <p:nvPr/>
        </p:nvSpPr>
        <p:spPr>
          <a:xfrm>
            <a:off x="274320" y="2194560"/>
            <a:ext cx="4297680" cy="219456"/>
          </a:xfrm>
          <a:prstGeom prst="rect">
            <a:avLst/>
          </a:prstGeom>
          <a:noFill/>
        </p:spPr>
        <p:txBody>
          <a:bodyPr wrap="square" lIns="45720" rIns="45720" tIns="18288" bIns="18288" anchor="t">
            <a:spAutoFit/>
          </a:bodyPr>
          <a:lstStyle/>
          <a:p>
            <a:pPr algn="l"/>
            <a:r>
              <a:rPr sz="950" b="1" i="0">
                <a:solidFill>
                  <a:srgbClr val="00748C"/>
                </a:solidFill>
                <a:latin typeface="Calibri"/>
              </a:rPr>
              <a:t>Les résultats</a:t>
            </a:r>
          </a:p>
        </p:txBody>
      </p:sp>
      <p:sp>
        <p:nvSpPr>
          <p:cNvPr id="10" name="TextBox 9"/>
          <p:cNvSpPr txBox="1"/>
          <p:nvPr/>
        </p:nvSpPr>
        <p:spPr>
          <a:xfrm>
            <a:off x="274320" y="2414016"/>
            <a:ext cx="4297680" cy="1920240"/>
          </a:xfrm>
          <a:prstGeom prst="rect">
            <a:avLst/>
          </a:prstGeom>
          <a:noFill/>
        </p:spPr>
        <p:txBody>
          <a:bodyPr wrap="square" lIns="45720" rIns="45720" tIns="18288" bIns="18288" anchor="t">
            <a:spAutoFit/>
          </a:bodyPr>
          <a:lstStyle/>
          <a:p>
            <a:pPr algn="l"/>
            <a:r>
              <a:rPr sz="800" b="0" i="0">
                <a:solidFill>
                  <a:srgbClr val="5D6D7E"/>
                </a:solidFill>
                <a:latin typeface="Calibri"/>
              </a:rPr>
              <a:t>•  Le phénomène survit à chaque changement. La course se produit sous la seconde implémentation aux deux points d'ancrage testés.</a:t>
            </a:r>
          </a:p>
          <a:p>
            <a:pPr algn="l"/>
            <a:r>
              <a:rPr sz="800" b="0" i="0">
                <a:solidFill>
                  <a:srgbClr val="5D6D7E"/>
                </a:solidFill>
                <a:latin typeface="Calibri"/>
              </a:rPr>
              <a:t>•  Mais il est </a:t>
            </a:r>
            <a:r>
              <a:rPr sz="800" b="1" i="0">
                <a:solidFill>
                  <a:srgbClr val="2C3E50"/>
                </a:solidFill>
                <a:latin typeface="Calibri"/>
              </a:rPr>
              <a:t>nettement moins extrême</a:t>
            </a:r>
            <a:r>
              <a:rPr sz="800" b="0" i="0">
                <a:solidFill>
                  <a:srgbClr val="5D6D7E"/>
                </a:solidFill>
                <a:latin typeface="Calibri"/>
              </a:rPr>
              <a:t> que la grille d'origine ne le laissait croire. Taux de manqués au seuil élevé : 0,99 à 1,00 sur la famille publiée, </a:t>
            </a:r>
            <a:r>
              <a:rPr sz="800" b="1" i="0">
                <a:solidFill>
                  <a:srgbClr val="2C3E50"/>
                </a:solidFill>
                <a:latin typeface="Calibri"/>
              </a:rPr>
              <a:t>0,33 à 0,77</a:t>
            </a:r>
            <a:r>
              <a:rPr sz="800" b="0" i="0">
                <a:solidFill>
                  <a:srgbClr val="5D6D7E"/>
                </a:solidFill>
                <a:latin typeface="Calibri"/>
              </a:rPr>
              <a:t> sous le générateur corrigé.</a:t>
            </a:r>
          </a:p>
          <a:p>
            <a:pPr algn="l"/>
            <a:r>
              <a:rPr sz="800" b="0" i="0">
                <a:solidFill>
                  <a:srgbClr val="5D6D7E"/>
                </a:solidFill>
                <a:latin typeface="Calibri"/>
              </a:rPr>
              <a:t>•  Et une anomalie disparaît. Au-delà d'un certain saut d'erreur, le budget devenait </a:t>
            </a:r>
            <a:r>
              <a:rPr sz="800" b="1" i="0">
                <a:solidFill>
                  <a:srgbClr val="2C3E50"/>
                </a:solidFill>
                <a:latin typeface="Calibri"/>
              </a:rPr>
              <a:t>négatif</a:t>
            </a:r>
            <a:r>
              <a:rPr sz="800" b="0" i="0">
                <a:solidFill>
                  <a:srgbClr val="5D6D7E"/>
                </a:solidFill>
                <a:latin typeface="Calibri"/>
              </a:rPr>
              <a:t> : la forêt adaptée terminait sous son erreur d'avant rupture. Sous le générateur à prior équilibré, ce régime </a:t>
            </a:r>
            <a:r>
              <a:rPr sz="800" b="1" i="0">
                <a:solidFill>
                  <a:srgbClr val="2C3E50"/>
                </a:solidFill>
                <a:latin typeface="Calibri"/>
              </a:rPr>
              <a:t>n'existe pas</a:t>
            </a:r>
            <a:r>
              <a:rPr sz="800" b="0" i="0">
                <a:solidFill>
                  <a:srgbClr val="5D6D7E"/>
                </a:solidFill>
                <a:latin typeface="Calibri"/>
              </a:rPr>
              <a:t>. C'était un artefact du déséquilibre de classes, et il est déclaré comme tel.</a:t>
            </a:r>
          </a:p>
        </p:txBody>
      </p:sp>
      <p:pic>
        <p:nvPicPr>
          <p:cNvPr id="11" name="Picture 10" descr="fig3_generalite_plancher.png"/>
          <p:cNvPicPr>
            <a:picLocks noChangeAspect="1"/>
          </p:cNvPicPr>
          <p:nvPr/>
        </p:nvPicPr>
        <p:blipFill>
          <a:blip r:embed="rId2"/>
          <a:stretch>
            <a:fillRect/>
          </a:stretch>
        </p:blipFill>
        <p:spPr>
          <a:xfrm>
            <a:off x="4709160" y="658368"/>
            <a:ext cx="4160520" cy="2213043"/>
          </a:xfrm>
          <a:prstGeom prst="rect">
            <a:avLst/>
          </a:prstGeom>
        </p:spPr>
      </p:pic>
      <p:sp>
        <p:nvSpPr>
          <p:cNvPr id="12" name="Rectangle 11"/>
          <p:cNvSpPr/>
          <p:nvPr/>
        </p:nvSpPr>
        <p:spPr>
          <a:xfrm>
            <a:off x="4709160" y="2962656"/>
            <a:ext cx="4160520" cy="56692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3008376"/>
            <a:ext cx="3977639" cy="237744"/>
          </a:xfrm>
          <a:prstGeom prst="rect">
            <a:avLst/>
          </a:prstGeom>
          <a:noFill/>
        </p:spPr>
        <p:txBody>
          <a:bodyPr wrap="square" lIns="45720" rIns="45720" tIns="18288" bIns="18288" anchor="t">
            <a:spAutoFit/>
          </a:bodyPr>
          <a:lstStyle/>
          <a:p>
            <a:pPr algn="l"/>
            <a:r>
              <a:rPr sz="1000" b="0" i="1">
                <a:solidFill>
                  <a:srgbClr val="2D3748"/>
                </a:solidFill>
                <a:latin typeface="Calibri"/>
              </a:rPr>
              <a:t>skill = 1 − e_res / min(p ; 1−p)</a:t>
            </a:r>
          </a:p>
        </p:txBody>
      </p:sp>
      <p:sp>
        <p:nvSpPr>
          <p:cNvPr id="14" name="TextBox 13"/>
          <p:cNvSpPr txBox="1"/>
          <p:nvPr/>
        </p:nvSpPr>
        <p:spPr>
          <a:xfrm>
            <a:off x="4800600" y="3255264"/>
            <a:ext cx="3977639" cy="237744"/>
          </a:xfrm>
          <a:prstGeom prst="rect">
            <a:avLst/>
          </a:prstGeom>
          <a:noFill/>
        </p:spPr>
        <p:txBody>
          <a:bodyPr wrap="square" lIns="45720" rIns="45720" tIns="18288" bIns="18288" anchor="t">
            <a:spAutoFit/>
          </a:bodyPr>
          <a:lstStyle/>
          <a:p>
            <a:pPr algn="l"/>
            <a:r>
              <a:rPr sz="750" b="0" i="0">
                <a:solidFill>
                  <a:srgbClr val="5D6D7E"/>
                </a:solidFill>
                <a:latin typeface="Calibri"/>
              </a:rPr>
              <a:t>Le score d'habileté, contre le prédicteur constant. p : proportion de la classe minoritaire ; e_res : erreur résiduelle de l'ensemble.</a:t>
            </a:r>
          </a:p>
        </p:txBody>
      </p:sp>
      <p:sp>
        <p:nvSpPr>
          <p:cNvPr id="15" name="TextBox 14"/>
          <p:cNvSpPr txBox="1"/>
          <p:nvPr/>
        </p:nvSpPr>
        <p:spPr>
          <a:xfrm>
            <a:off x="4709160" y="3602736"/>
            <a:ext cx="4160520" cy="219456"/>
          </a:xfrm>
          <a:prstGeom prst="rect">
            <a:avLst/>
          </a:prstGeom>
          <a:noFill/>
        </p:spPr>
        <p:txBody>
          <a:bodyPr wrap="square" lIns="45720" rIns="45720" tIns="18288" bIns="18288" anchor="t">
            <a:spAutoFit/>
          </a:bodyPr>
          <a:lstStyle/>
          <a:p>
            <a:pPr algn="l"/>
            <a:r>
              <a:rPr sz="850" b="1" i="0">
                <a:solidFill>
                  <a:srgbClr val="00748C"/>
                </a:solidFill>
                <a:latin typeface="Calibri"/>
              </a:rPr>
              <a:t>Le corollaire honnête, non demandé</a:t>
            </a:r>
          </a:p>
        </p:txBody>
      </p:sp>
      <p:sp>
        <p:nvSpPr>
          <p:cNvPr id="16" name="TextBox 15"/>
          <p:cNvSpPr txBox="1"/>
          <p:nvPr/>
        </p:nvSpPr>
        <p:spPr>
          <a:xfrm>
            <a:off x="4709160" y="3803904"/>
            <a:ext cx="4160520" cy="905256"/>
          </a:xfrm>
          <a:prstGeom prst="rect">
            <a:avLst/>
          </a:prstGeom>
          <a:noFill/>
        </p:spPr>
        <p:txBody>
          <a:bodyPr wrap="square" lIns="45720" rIns="45720" tIns="18288" bIns="18288" anchor="t">
            <a:spAutoFit/>
          </a:bodyPr>
          <a:lstStyle/>
          <a:p>
            <a:pPr algn="l"/>
            <a:r>
              <a:rPr sz="800" b="0" i="0">
                <a:solidFill>
                  <a:srgbClr val="5D6D7E"/>
                </a:solidFill>
                <a:latin typeface="Calibri"/>
              </a:rPr>
              <a:t>•  Au quart droit de la grille d'origine, la classe minoritaire tombe sous 1,8 % du flux. Là, l'ensemble adaptatif </a:t>
            </a:r>
            <a:r>
              <a:rPr sz="800" b="1" i="0">
                <a:solidFill>
                  <a:srgbClr val="2C3E50"/>
                </a:solidFill>
                <a:latin typeface="Calibri"/>
              </a:rPr>
              <a:t>ne bat plus le prédicteur constant</a:t>
            </a:r>
            <a:r>
              <a:rPr sz="800" b="0" i="0">
                <a:solidFill>
                  <a:srgbClr val="5D6D7E"/>
                </a:solidFill>
                <a:latin typeface="Calibri"/>
              </a:rPr>
              <a:t> qui répond toujours la classe majoritaire. Score d'habileté négatif à partir de Δe = 0,482, jusqu'à </a:t>
            </a:r>
            <a:r>
              <a:rPr sz="800" b="1" i="0">
                <a:solidFill>
                  <a:srgbClr val="2C3E50"/>
                </a:solidFill>
                <a:latin typeface="Calibri"/>
              </a:rPr>
              <a:t>−3,47</a:t>
            </a:r>
            <a:r>
              <a:rPr sz="800" b="0" i="0">
                <a:solidFill>
                  <a:srgbClr val="5D6D7E"/>
                </a:solidFill>
                <a:latin typeface="Calibri"/>
              </a:rPr>
              <a:t>.</a:t>
            </a:r>
          </a:p>
          <a:p>
            <a:pPr algn="l"/>
            <a:r>
              <a:rPr sz="800" b="0" i="0">
                <a:solidFill>
                  <a:srgbClr val="5D6D7E"/>
                </a:solidFill>
                <a:latin typeface="Calibri"/>
              </a:rPr>
              <a:t>•  Toute erreur résiduelle de cette zone est désormais publiée </a:t>
            </a:r>
            <a:r>
              <a:rPr sz="800" b="1" i="0">
                <a:solidFill>
                  <a:srgbClr val="2C3E50"/>
                </a:solidFill>
                <a:latin typeface="Calibri"/>
              </a:rPr>
              <a:t>avec son plancher trivial à côté</a:t>
            </a:r>
            <a:r>
              <a:rPr sz="800" b="0" i="0">
                <a:solidFill>
                  <a:srgbClr val="5D6D7E"/>
                </a:solidFill>
                <a:latin typeface="Calibri"/>
              </a:rPr>
              <a:t>. Un régime dégénéré de classification n'est pas un régime de surveillance.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W7 — L'immunité du détecteur à fenêtres, démontée deux fois</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17</a:t>
            </a:r>
          </a:p>
        </p:txBody>
      </p:sp>
      <p:sp>
        <p:nvSpPr>
          <p:cNvPr id="5" name="TextBox 4"/>
          <p:cNvSpPr txBox="1"/>
          <p:nvPr/>
        </p:nvSpPr>
        <p:spPr>
          <a:xfrm>
            <a:off x="274320" y="658368"/>
            <a:ext cx="5074920" cy="219456"/>
          </a:xfrm>
          <a:prstGeom prst="rect">
            <a:avLst/>
          </a:prstGeom>
          <a:noFill/>
        </p:spPr>
        <p:txBody>
          <a:bodyPr wrap="square" lIns="45720" rIns="45720" tIns="18288" bIns="18288" anchor="t">
            <a:spAutoFit/>
          </a:bodyPr>
          <a:lstStyle/>
          <a:p>
            <a:pPr algn="l"/>
            <a:r>
              <a:rPr sz="950" b="1" i="0">
                <a:solidFill>
                  <a:srgbClr val="00748C"/>
                </a:solidFill>
                <a:latin typeface="Calibri"/>
              </a:rPr>
              <a:t>Le reproche</a:t>
            </a:r>
          </a:p>
        </p:txBody>
      </p:sp>
      <p:sp>
        <p:nvSpPr>
          <p:cNvPr id="6" name="TextBox 5"/>
          <p:cNvSpPr txBox="1"/>
          <p:nvPr/>
        </p:nvSpPr>
        <p:spPr>
          <a:xfrm>
            <a:off x="274320" y="877824"/>
            <a:ext cx="5074920" cy="384048"/>
          </a:xfrm>
          <a:prstGeom prst="rect">
            <a:avLst/>
          </a:prstGeom>
          <a:noFill/>
        </p:spPr>
        <p:txBody>
          <a:bodyPr wrap="square" lIns="45720" rIns="45720" tIns="18288" bIns="18288" anchor="t">
            <a:spAutoFit/>
          </a:bodyPr>
          <a:lstStyle/>
          <a:p>
            <a:pPr algn="l"/>
            <a:r>
              <a:rPr sz="800" b="0" i="0">
                <a:solidFill>
                  <a:srgbClr val="5D6D7E"/>
                </a:solidFill>
                <a:latin typeface="Calibri"/>
              </a:rPr>
              <a:t>Un balayage sur un seul paramètre, un seul flux, et la conclusion : ce détecteur est « structurellement immunisé ».</a:t>
            </a:r>
          </a:p>
        </p:txBody>
      </p:sp>
      <p:sp>
        <p:nvSpPr>
          <p:cNvPr id="7" name="TextBox 6"/>
          <p:cNvSpPr txBox="1"/>
          <p:nvPr/>
        </p:nvSpPr>
        <p:spPr>
          <a:xfrm>
            <a:off x="274320" y="1280160"/>
            <a:ext cx="5074920" cy="219456"/>
          </a:xfrm>
          <a:prstGeom prst="rect">
            <a:avLst/>
          </a:prstGeom>
          <a:noFill/>
        </p:spPr>
        <p:txBody>
          <a:bodyPr wrap="square" lIns="45720" rIns="45720" tIns="18288" bIns="18288" anchor="t">
            <a:spAutoFit/>
          </a:bodyPr>
          <a:lstStyle/>
          <a:p>
            <a:pPr algn="l"/>
            <a:r>
              <a:rPr sz="950" b="1" i="0">
                <a:solidFill>
                  <a:srgbClr val="00748C"/>
                </a:solidFill>
                <a:latin typeface="Calibri"/>
              </a:rPr>
              <a:t>Ce que nous avons fait</a:t>
            </a:r>
          </a:p>
        </p:txBody>
      </p:sp>
      <p:sp>
        <p:nvSpPr>
          <p:cNvPr id="8" name="TextBox 7"/>
          <p:cNvSpPr txBox="1"/>
          <p:nvPr/>
        </p:nvSpPr>
        <p:spPr>
          <a:xfrm>
            <a:off x="274320" y="1499616"/>
            <a:ext cx="5074920" cy="640080"/>
          </a:xfrm>
          <a:prstGeom prst="rect">
            <a:avLst/>
          </a:prstGeom>
          <a:noFill/>
        </p:spPr>
        <p:txBody>
          <a:bodyPr wrap="square" lIns="45720" rIns="45720" tIns="18288" bIns="18288" anchor="t">
            <a:spAutoFit/>
          </a:bodyPr>
          <a:lstStyle/>
          <a:p>
            <a:pPr algn="l"/>
            <a:r>
              <a:rPr sz="800" b="0" i="0">
                <a:solidFill>
                  <a:srgbClr val="5D6D7E"/>
                </a:solidFill>
                <a:latin typeface="Calibri"/>
              </a:rPr>
              <a:t>•  Balayage complet — grille d'amplitudes entière, tailles de fenêtre, tailles d'échantillon de test, niveaux de fausse alarme, durées de transitoire, tailles d'ensemble.</a:t>
            </a:r>
          </a:p>
          <a:p>
            <a:pPr algn="l"/>
            <a:r>
              <a:rPr sz="800" b="0" i="0">
                <a:solidFill>
                  <a:srgbClr val="5D6D7E"/>
                </a:solidFill>
                <a:latin typeface="Calibri"/>
              </a:rPr>
              <a:t>•  Et surtout : </a:t>
            </a:r>
            <a:r>
              <a:rPr sz="800" b="1" i="0">
                <a:solidFill>
                  <a:srgbClr val="2C3E50"/>
                </a:solidFill>
                <a:latin typeface="Calibri"/>
              </a:rPr>
              <a:t>égalisation du niveau de fausse alarme</a:t>
            </a:r>
            <a:r>
              <a:rPr sz="800" b="0" i="0">
                <a:solidFill>
                  <a:srgbClr val="5D6D7E"/>
                </a:solidFill>
                <a:latin typeface="Calibri"/>
              </a:rPr>
              <a:t>. Comparer trois détecteurs à seuils publiés, c'est comparer trois calibrations.</a:t>
            </a:r>
          </a:p>
        </p:txBody>
      </p:sp>
      <p:sp>
        <p:nvSpPr>
          <p:cNvPr id="9" name="TextBox 8"/>
          <p:cNvSpPr txBox="1"/>
          <p:nvPr/>
        </p:nvSpPr>
        <p:spPr>
          <a:xfrm>
            <a:off x="274320" y="2194560"/>
            <a:ext cx="5074920" cy="219456"/>
          </a:xfrm>
          <a:prstGeom prst="rect">
            <a:avLst/>
          </a:prstGeom>
          <a:noFill/>
        </p:spPr>
        <p:txBody>
          <a:bodyPr wrap="square" lIns="45720" rIns="45720" tIns="18288" bIns="18288" anchor="t">
            <a:spAutoFit/>
          </a:bodyPr>
          <a:lstStyle/>
          <a:p>
            <a:pPr algn="l"/>
            <a:r>
              <a:rPr sz="950" b="1" i="0">
                <a:solidFill>
                  <a:srgbClr val="00748C"/>
                </a:solidFill>
                <a:latin typeface="Calibri"/>
              </a:rPr>
              <a:t>Résultat 1 — la comparaison publiée était biaisée</a:t>
            </a:r>
          </a:p>
        </p:txBody>
      </p:sp>
      <p:sp>
        <p:nvSpPr>
          <p:cNvPr id="10" name="TextBox 9"/>
          <p:cNvSpPr txBox="1"/>
          <p:nvPr/>
        </p:nvSpPr>
        <p:spPr>
          <a:xfrm>
            <a:off x="274320" y="2414016"/>
            <a:ext cx="5074920" cy="1920240"/>
          </a:xfrm>
          <a:prstGeom prst="rect">
            <a:avLst/>
          </a:prstGeom>
          <a:noFill/>
        </p:spPr>
        <p:txBody>
          <a:bodyPr wrap="square" lIns="45720" rIns="45720" tIns="18288" bIns="18288" anchor="t">
            <a:spAutoFit/>
          </a:bodyPr>
          <a:lstStyle/>
          <a:p>
            <a:pPr algn="l"/>
            <a:r>
              <a:rPr sz="800" b="0" i="0">
                <a:solidFill>
                  <a:srgbClr val="5D6D7E"/>
                </a:solidFill>
                <a:latin typeface="Calibri"/>
              </a:rPr>
              <a:t>•  Au point d'opération de la table principale, le détecteur à fenêtre adaptative était déployé </a:t>
            </a:r>
            <a:r>
              <a:rPr sz="800" b="1" i="0">
                <a:solidFill>
                  <a:srgbClr val="2C3E50"/>
                </a:solidFill>
                <a:latin typeface="Calibri"/>
              </a:rPr>
              <a:t>45 fois plus serré</a:t>
            </a:r>
            <a:r>
              <a:rPr sz="800" b="0" i="0">
                <a:solidFill>
                  <a:srgbClr val="5D6D7E"/>
                </a:solidFill>
                <a:latin typeface="Calibri"/>
              </a:rPr>
              <a:t> que le cumulatif, et le détecteur à fenêtres </a:t>
            </a:r>
            <a:r>
              <a:rPr sz="800" b="1" i="0">
                <a:solidFill>
                  <a:srgbClr val="2C3E50"/>
                </a:solidFill>
                <a:latin typeface="Calibri"/>
              </a:rPr>
              <a:t>4,5 fois plus lâche</a:t>
            </a:r>
            <a:r>
              <a:rPr sz="800" b="0" i="0">
                <a:solidFill>
                  <a:srgbClr val="5D6D7E"/>
                </a:solidFill>
                <a:latin typeface="Calibri"/>
              </a:rPr>
              <a:t>.</a:t>
            </a:r>
          </a:p>
          <a:p>
            <a:pPr algn="l"/>
            <a:r>
              <a:rPr sz="800" b="0" i="0">
                <a:solidFill>
                  <a:srgbClr val="5D6D7E"/>
                </a:solidFill>
                <a:latin typeface="Calibri"/>
              </a:rPr>
              <a:t>•  Sur la famille synthétique de référence, ce dernier est </a:t>
            </a:r>
            <a:r>
              <a:rPr sz="800" b="1" i="0">
                <a:solidFill>
                  <a:srgbClr val="2C3E50"/>
                </a:solidFill>
                <a:latin typeface="Calibri"/>
              </a:rPr>
              <a:t>le moins bon des trois</a:t>
            </a:r>
            <a:r>
              <a:rPr sz="800" b="0" i="0">
                <a:solidFill>
                  <a:srgbClr val="5D6D7E"/>
                </a:solidFill>
                <a:latin typeface="Calibri"/>
              </a:rPr>
              <a:t> à tous les niveaux publiés : 0,928 pour le cumulatif, 0,885 pour la fenêtre adaptative, 0,713 au mieux pour lui.</a:t>
            </a:r>
          </a:p>
          <a:p>
            <a:pPr algn="l"/>
            <a:r>
              <a:rPr sz="800" b="0" i="0">
                <a:solidFill>
                  <a:srgbClr val="5D6D7E"/>
                </a:solidFill>
                <a:latin typeface="Calibri"/>
              </a:rPr>
              <a:t>•  À niveau égalisé, il </a:t>
            </a:r>
            <a:r>
              <a:rPr sz="800" b="1" i="0">
                <a:solidFill>
                  <a:srgbClr val="2C3E50"/>
                </a:solidFill>
                <a:latin typeface="Calibri"/>
              </a:rPr>
              <a:t>descend</a:t>
            </a:r>
            <a:r>
              <a:rPr sz="800" b="0" i="0">
                <a:solidFill>
                  <a:srgbClr val="5D6D7E"/>
                </a:solidFill>
                <a:latin typeface="Calibri"/>
              </a:rPr>
              <a:t> (0,458 → 0,337) pendant que la fenêtre adaptative </a:t>
            </a:r>
            <a:r>
              <a:rPr sz="800" b="1" i="0">
                <a:solidFill>
                  <a:srgbClr val="2C3E50"/>
                </a:solidFill>
                <a:latin typeface="Calibri"/>
              </a:rPr>
              <a:t>monte</a:t>
            </a:r>
            <a:r>
              <a:rPr sz="800" b="0" i="0">
                <a:solidFill>
                  <a:srgbClr val="5D6D7E"/>
                </a:solidFill>
                <a:latin typeface="Calibri"/>
              </a:rPr>
              <a:t> (0,885 → 0,926, délai divisé par deux).</a:t>
            </a:r>
          </a:p>
        </p:txBody>
      </p:sp>
      <p:sp>
        <p:nvSpPr>
          <p:cNvPr id="11" name="Rectangle 10"/>
          <p:cNvSpPr/>
          <p:nvPr/>
        </p:nvSpPr>
        <p:spPr>
          <a:xfrm>
            <a:off x="5486400" y="658368"/>
            <a:ext cx="3383280" cy="173736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23560" y="749808"/>
            <a:ext cx="3108960" cy="1554480"/>
          </a:xfrm>
          <a:prstGeom prst="rect">
            <a:avLst/>
          </a:prstGeom>
          <a:noFill/>
        </p:spPr>
        <p:txBody>
          <a:bodyPr wrap="square" lIns="45720" rIns="45720" tIns="18288" bIns="18288" anchor="ctr">
            <a:spAutoFit/>
          </a:bodyPr>
          <a:lstStyle/>
          <a:p>
            <a:pPr algn="ctr"/>
            <a:r>
              <a:rPr sz="900" b="0" i="1">
                <a:solidFill>
                  <a:srgbClr val="8A9BB0"/>
                </a:solidFill>
                <a:latin typeface="Calibri"/>
              </a:rPr>
              <a:t>[FIGURE]  Tableau à quatre lignes (cumulatif, fenêtre adaptative, fenêtres deux échantillons, distances entre erreurs) et quatre colonnes (niveau publié, niveau égalisé, fausses alarmes pré-rupture, rang). Flèches orange dans la colonne « niveau égalisé » indiquant le sens du changement.</a:t>
            </a:r>
          </a:p>
        </p:txBody>
      </p:sp>
      <p:sp>
        <p:nvSpPr>
          <p:cNvPr id="13" name="TextBox 12"/>
          <p:cNvSpPr txBox="1"/>
          <p:nvPr/>
        </p:nvSpPr>
        <p:spPr>
          <a:xfrm>
            <a:off x="5486400" y="2487168"/>
            <a:ext cx="3383280" cy="219456"/>
          </a:xfrm>
          <a:prstGeom prst="rect">
            <a:avLst/>
          </a:prstGeom>
          <a:noFill/>
        </p:spPr>
        <p:txBody>
          <a:bodyPr wrap="square" lIns="45720" rIns="45720" tIns="18288" bIns="18288" anchor="t">
            <a:spAutoFit/>
          </a:bodyPr>
          <a:lstStyle/>
          <a:p>
            <a:pPr algn="l"/>
            <a:r>
              <a:rPr sz="850" b="1" i="0">
                <a:solidFill>
                  <a:srgbClr val="00748C"/>
                </a:solidFill>
                <a:latin typeface="Calibri"/>
              </a:rPr>
              <a:t>Résultat 2 — sa configuration déployée alarme avant la rupture</a:t>
            </a:r>
          </a:p>
        </p:txBody>
      </p:sp>
      <p:sp>
        <p:nvSpPr>
          <p:cNvPr id="14" name="TextBox 13"/>
          <p:cNvSpPr txBox="1"/>
          <p:nvPr/>
        </p:nvSpPr>
        <p:spPr>
          <a:xfrm>
            <a:off x="5486400" y="2724912"/>
            <a:ext cx="3383280" cy="813816"/>
          </a:xfrm>
          <a:prstGeom prst="rect">
            <a:avLst/>
          </a:prstGeom>
          <a:noFill/>
        </p:spPr>
        <p:txBody>
          <a:bodyPr wrap="square" lIns="45720" rIns="45720" tIns="18288" bIns="18288" anchor="t">
            <a:spAutoFit/>
          </a:bodyPr>
          <a:lstStyle/>
          <a:p>
            <a:pPr algn="l"/>
            <a:r>
              <a:rPr sz="750" b="0" i="0">
                <a:solidFill>
                  <a:srgbClr val="5D6D7E"/>
                </a:solidFill>
                <a:latin typeface="Calibri"/>
              </a:rPr>
              <a:t>•  Vérifié contre un détecteur vivant, ré-armé : </a:t>
            </a:r>
            <a:r>
              <a:rPr sz="750" b="1" i="0">
                <a:solidFill>
                  <a:srgbClr val="2C3E50"/>
                </a:solidFill>
                <a:latin typeface="Calibri"/>
              </a:rPr>
              <a:t>8 à 9 alarmes</a:t>
            </a:r>
            <a:r>
              <a:rPr sz="750" b="0" i="0">
                <a:solidFill>
                  <a:srgbClr val="5D6D7E"/>
                </a:solidFill>
                <a:latin typeface="Calibri"/>
              </a:rPr>
              <a:t> par fenêtre de 1 000 pas </a:t>
            </a:r>
            <a:r>
              <a:rPr sz="750" b="1" i="0">
                <a:solidFill>
                  <a:srgbClr val="2C3E50"/>
                </a:solidFill>
                <a:latin typeface="Calibri"/>
              </a:rPr>
              <a:t>antérieure</a:t>
            </a:r>
            <a:r>
              <a:rPr sz="750" b="0" i="0">
                <a:solidFill>
                  <a:srgbClr val="5D6D7E"/>
                </a:solidFill>
                <a:latin typeface="Calibri"/>
              </a:rPr>
              <a:t> à la rupture, la première vers le pas 99. Taux de fausse alarme pré-rupture de </a:t>
            </a:r>
            <a:r>
              <a:rPr sz="750" b="1" i="0">
                <a:solidFill>
                  <a:srgbClr val="2C3E50"/>
                </a:solidFill>
                <a:latin typeface="Calibri"/>
              </a:rPr>
              <a:t>1,00</a:t>
            </a:r>
            <a:r>
              <a:rPr sz="750" b="0" i="0">
                <a:solidFill>
                  <a:srgbClr val="5D6D7E"/>
                </a:solidFill>
                <a:latin typeface="Calibri"/>
              </a:rPr>
              <a:t> à tous les niveaux.</a:t>
            </a:r>
          </a:p>
          <a:p>
            <a:pPr algn="l"/>
            <a:r>
              <a:rPr sz="750" b="0" i="0">
                <a:solidFill>
                  <a:srgbClr val="5D6D7E"/>
                </a:solidFill>
                <a:latin typeface="Calibri"/>
              </a:rPr>
              <a:t>•  Son score parfait tenait à une particularité du flux de test : son erreur avant rupture est </a:t>
            </a:r>
            <a:r>
              <a:rPr sz="750" b="1" i="0">
                <a:solidFill>
                  <a:srgbClr val="2C3E50"/>
                </a:solidFill>
                <a:latin typeface="Calibri"/>
              </a:rPr>
              <a:t>identiquement nulle</a:t>
            </a:r>
            <a:r>
              <a:rPr sz="750" b="0" i="0">
                <a:solidFill>
                  <a:srgbClr val="5D6D7E"/>
                </a:solidFill>
                <a:latin typeface="Calibri"/>
              </a:rPr>
              <a:t>. Rien ne pouvait y produire une fausse alarme.</a:t>
            </a:r>
          </a:p>
        </p:txBody>
      </p:sp>
      <p:sp>
        <p:nvSpPr>
          <p:cNvPr id="15" name="TextBox 14"/>
          <p:cNvSpPr txBox="1"/>
          <p:nvPr/>
        </p:nvSpPr>
        <p:spPr>
          <a:xfrm>
            <a:off x="5486400" y="3584448"/>
            <a:ext cx="3383280" cy="219456"/>
          </a:xfrm>
          <a:prstGeom prst="rect">
            <a:avLst/>
          </a:prstGeom>
          <a:noFill/>
        </p:spPr>
        <p:txBody>
          <a:bodyPr wrap="square" lIns="45720" rIns="45720" tIns="18288" bIns="18288" anchor="t">
            <a:spAutoFit/>
          </a:bodyPr>
          <a:lstStyle/>
          <a:p>
            <a:pPr algn="l"/>
            <a:r>
              <a:rPr sz="850" b="1" i="0">
                <a:solidFill>
                  <a:srgbClr val="00748C"/>
                </a:solidFill>
                <a:latin typeface="Calibri"/>
              </a:rPr>
              <a:t>Résultat 3 — le rang d'un détecteur dépend du flux, pas de la famille</a:t>
            </a:r>
          </a:p>
        </p:txBody>
      </p:sp>
      <p:sp>
        <p:nvSpPr>
          <p:cNvPr id="16" name="TextBox 15"/>
          <p:cNvSpPr txBox="1"/>
          <p:nvPr/>
        </p:nvSpPr>
        <p:spPr>
          <a:xfrm>
            <a:off x="5486400" y="3877056"/>
            <a:ext cx="3383280" cy="813816"/>
          </a:xfrm>
          <a:prstGeom prst="rect">
            <a:avLst/>
          </a:prstGeom>
          <a:noFill/>
        </p:spPr>
        <p:txBody>
          <a:bodyPr wrap="square" lIns="45720" rIns="45720" tIns="18288" bIns="18288" anchor="t">
            <a:spAutoFit/>
          </a:bodyPr>
          <a:lstStyle/>
          <a:p>
            <a:pPr algn="l"/>
            <a:r>
              <a:rPr sz="750" b="0" i="0">
                <a:solidFill>
                  <a:srgbClr val="5D6D7E"/>
                </a:solidFill>
                <a:latin typeface="Calibri"/>
              </a:rPr>
              <a:t>•  Un quatrième détecteur, fondé sur les distances entre erreurs, change </a:t>
            </a:r>
            <a:r>
              <a:rPr sz="750" b="1" i="0">
                <a:solidFill>
                  <a:srgbClr val="2C3E50"/>
                </a:solidFill>
                <a:latin typeface="Calibri"/>
              </a:rPr>
              <a:t>trois fois de rang</a:t>
            </a:r>
            <a:r>
              <a:rPr sz="750" b="0" i="0">
                <a:solidFill>
                  <a:srgbClr val="5D6D7E"/>
                </a:solidFill>
                <a:latin typeface="Calibri"/>
              </a:rPr>
              <a:t> selon le seul taux d'erreur du flux avant rupture : jamais armé quand ce taux est nul, premier à 0,024, dernier à 0,069 avec 93 % de fausses alarmes.</a:t>
            </a:r>
          </a:p>
          <a:p>
            <a:pPr algn="l"/>
            <a:r>
              <a:rPr sz="750" b="0" i="0">
                <a:solidFill>
                  <a:srgbClr val="5D6D7E"/>
                </a:solidFill>
                <a:latin typeface="Calibri"/>
              </a:rPr>
              <a:t>•  Conséquence de forme, désormais imposée : toute table qui ordonne des familles de moniteurs porte ce taux </a:t>
            </a:r>
            <a:r>
              <a:rPr sz="750" b="1" i="0">
                <a:solidFill>
                  <a:srgbClr val="2C3E50"/>
                </a:solidFill>
                <a:latin typeface="Calibri"/>
              </a:rPr>
              <a:t>en colonne</a:t>
            </a:r>
            <a:r>
              <a:rPr sz="750" b="0" i="0">
                <a:solidFill>
                  <a:srgbClr val="5D6D7E"/>
                </a:solidFill>
                <a:latin typeface="Calibri"/>
              </a:rPr>
              <a:t>. Sans lui, elle ordonne des flux.</a:t>
            </a:r>
          </a:p>
        </p:txBody>
      </p:sp>
      <p:sp>
        <p:nvSpPr>
          <p:cNvPr id="17" name="TextBox 16"/>
          <p:cNvSpPr txBox="1"/>
          <p:nvPr/>
        </p:nvSpPr>
        <p:spPr>
          <a:xfrm>
            <a:off x="457200" y="4901184"/>
            <a:ext cx="7315200" cy="237744"/>
          </a:xfrm>
          <a:prstGeom prst="rect">
            <a:avLst/>
          </a:prstGeom>
          <a:noFill/>
        </p:spPr>
        <p:txBody>
          <a:bodyPr wrap="square" lIns="45720" rIns="45720" tIns="18288" bIns="18288" anchor="t">
            <a:spAutoFit/>
          </a:bodyPr>
          <a:lstStyle/>
          <a:p>
            <a:pPr algn="l"/>
            <a:r>
              <a:rPr sz="800" b="0" i="0">
                <a:solidFill>
                  <a:srgbClr val="8A9BB0"/>
                </a:solidFill>
                <a:latin typeface="Calibri"/>
              </a:rPr>
              <a:t>Raab, Heusinger &amp; Schleif (2020) · Baena-García et al. (2006)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W8 — Ce que les données réelles disent vraiment</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18</a:t>
            </a:r>
          </a:p>
        </p:txBody>
      </p:sp>
      <p:sp>
        <p:nvSpPr>
          <p:cNvPr id="5" name="TextBox 4"/>
          <p:cNvSpPr txBox="1"/>
          <p:nvPr/>
        </p:nvSpPr>
        <p:spPr>
          <a:xfrm>
            <a:off x="274320" y="658368"/>
            <a:ext cx="4160520" cy="219456"/>
          </a:xfrm>
          <a:prstGeom prst="rect">
            <a:avLst/>
          </a:prstGeom>
          <a:noFill/>
        </p:spPr>
        <p:txBody>
          <a:bodyPr wrap="square" lIns="45720" rIns="45720" tIns="18288" bIns="18288" anchor="t">
            <a:spAutoFit/>
          </a:bodyPr>
          <a:lstStyle/>
          <a:p>
            <a:pPr algn="l"/>
            <a:r>
              <a:rPr sz="950" b="1" i="0">
                <a:solidFill>
                  <a:srgbClr val="00748C"/>
                </a:solidFill>
                <a:latin typeface="Calibri"/>
              </a:rPr>
              <a:t>Le reproche</a:t>
            </a:r>
          </a:p>
        </p:txBody>
      </p:sp>
      <p:sp>
        <p:nvSpPr>
          <p:cNvPr id="6" name="TextBox 5"/>
          <p:cNvSpPr txBox="1"/>
          <p:nvPr/>
        </p:nvSpPr>
        <p:spPr>
          <a:xfrm>
            <a:off x="274320" y="877824"/>
            <a:ext cx="4160520" cy="411480"/>
          </a:xfrm>
          <a:prstGeom prst="rect">
            <a:avLst/>
          </a:prstGeom>
          <a:noFill/>
        </p:spPr>
        <p:txBody>
          <a:bodyPr wrap="square" lIns="45720" rIns="45720" tIns="18288" bIns="18288" anchor="t">
            <a:spAutoFit/>
          </a:bodyPr>
          <a:lstStyle/>
          <a:p>
            <a:pPr algn="l"/>
            <a:r>
              <a:rPr sz="800" b="0" i="0">
                <a:solidFill>
                  <a:srgbClr val="5D6D7E"/>
                </a:solidFill>
                <a:latin typeface="Calibri"/>
              </a:rPr>
              <a:t>Sur données réelles, l'article montrait une inondation de fausses alarmes là où il annonçait une détection manquée. Et un jeu de données ne produisait aucun saut d'erreur mesurable.</a:t>
            </a:r>
          </a:p>
        </p:txBody>
      </p:sp>
      <p:sp>
        <p:nvSpPr>
          <p:cNvPr id="7" name="TextBox 6"/>
          <p:cNvSpPr txBox="1"/>
          <p:nvPr/>
        </p:nvSpPr>
        <p:spPr>
          <a:xfrm>
            <a:off x="274320" y="1335024"/>
            <a:ext cx="4160520" cy="219456"/>
          </a:xfrm>
          <a:prstGeom prst="rect">
            <a:avLst/>
          </a:prstGeom>
          <a:noFill/>
        </p:spPr>
        <p:txBody>
          <a:bodyPr wrap="square" lIns="45720" rIns="45720" tIns="18288" bIns="18288" anchor="t">
            <a:spAutoFit/>
          </a:bodyPr>
          <a:lstStyle/>
          <a:p>
            <a:pPr algn="l"/>
            <a:r>
              <a:rPr sz="950" b="1" i="0">
                <a:solidFill>
                  <a:srgbClr val="00748C"/>
                </a:solidFill>
                <a:latin typeface="Calibri"/>
              </a:rPr>
              <a:t>Résultat 1 — l'inondation était un écart de calibration</a:t>
            </a:r>
          </a:p>
        </p:txBody>
      </p:sp>
      <p:sp>
        <p:nvSpPr>
          <p:cNvPr id="8" name="TextBox 7"/>
          <p:cNvSpPr txBox="1"/>
          <p:nvPr/>
        </p:nvSpPr>
        <p:spPr>
          <a:xfrm>
            <a:off x="274320" y="1554480"/>
            <a:ext cx="4160520" cy="1463040"/>
          </a:xfrm>
          <a:prstGeom prst="rect">
            <a:avLst/>
          </a:prstGeom>
          <a:noFill/>
        </p:spPr>
        <p:txBody>
          <a:bodyPr wrap="square" lIns="45720" rIns="45720" tIns="18288" bIns="18288" anchor="t">
            <a:spAutoFit/>
          </a:bodyPr>
          <a:lstStyle/>
          <a:p>
            <a:pPr algn="l"/>
            <a:r>
              <a:rPr sz="800" b="0" i="0">
                <a:solidFill>
                  <a:srgbClr val="5D6D7E"/>
                </a:solidFill>
                <a:latin typeface="Calibri"/>
              </a:rPr>
              <a:t>•  L'écart publié, un rapport de </a:t>
            </a:r>
            <a:r>
              <a:rPr sz="800" b="1" i="0">
                <a:solidFill>
                  <a:srgbClr val="2C3E50"/>
                </a:solidFill>
                <a:latin typeface="Calibri"/>
              </a:rPr>
              <a:t>10,57</a:t>
            </a:r>
            <a:r>
              <a:rPr sz="800" b="0" i="0">
                <a:solidFill>
                  <a:srgbClr val="5D6D7E"/>
                </a:solidFill>
                <a:latin typeface="Calibri"/>
              </a:rPr>
              <a:t> en défaveur de la forêt adaptative, est reproduit à quatre décimales.</a:t>
            </a:r>
          </a:p>
          <a:p>
            <a:pPr algn="l"/>
            <a:r>
              <a:rPr sz="800" b="0" i="0">
                <a:solidFill>
                  <a:srgbClr val="5D6D7E"/>
                </a:solidFill>
                <a:latin typeface="Calibri"/>
              </a:rPr>
              <a:t>•  Les deux configurations étaient lues à des seuils qui n'achètent pas le même budget de fausses alarmes : </a:t>
            </a:r>
            <a:r>
              <a:rPr sz="800" b="1" i="0">
                <a:solidFill>
                  <a:srgbClr val="2C3E50"/>
                </a:solidFill>
                <a:latin typeface="Calibri"/>
              </a:rPr>
              <a:t>21 d'un côté, 132 de l'autre</a:t>
            </a:r>
            <a:r>
              <a:rPr sz="800" b="0" i="0">
                <a:solidFill>
                  <a:srgbClr val="5D6D7E"/>
                </a:solidFill>
                <a:latin typeface="Calibri"/>
              </a:rPr>
              <a:t>.</a:t>
            </a:r>
          </a:p>
          <a:p>
            <a:pPr algn="l"/>
            <a:r>
              <a:rPr sz="800" b="0" i="0">
                <a:solidFill>
                  <a:srgbClr val="5D6D7E"/>
                </a:solidFill>
                <a:latin typeface="Calibri"/>
              </a:rPr>
              <a:t>•  À budget de portée égal, le rapport tombe à </a:t>
            </a:r>
            <a:r>
              <a:rPr sz="800" b="1" i="0">
                <a:solidFill>
                  <a:srgbClr val="2C3E50"/>
                </a:solidFill>
                <a:latin typeface="Calibri"/>
              </a:rPr>
              <a:t>1,27</a:t>
            </a:r>
            <a:r>
              <a:rPr sz="800" b="0" i="0">
                <a:solidFill>
                  <a:srgbClr val="5D6D7E"/>
                </a:solidFill>
                <a:latin typeface="Calibri"/>
              </a:rPr>
              <a:t>, intervalle [1,16 ; 1,43]. </a:t>
            </a:r>
            <a:r>
              <a:rPr sz="800" b="1" i="0">
                <a:solidFill>
                  <a:srgbClr val="2C3E50"/>
                </a:solidFill>
                <a:latin typeface="Calibri"/>
              </a:rPr>
              <a:t>89,9 %</a:t>
            </a:r>
            <a:r>
              <a:rPr sz="800" b="0" i="0">
                <a:solidFill>
                  <a:srgbClr val="5D6D7E"/>
                </a:solidFill>
                <a:latin typeface="Calibri"/>
              </a:rPr>
              <a:t> de l'écart venait du seuil.</a:t>
            </a:r>
          </a:p>
          <a:p>
            <a:pPr algn="l"/>
            <a:r>
              <a:rPr sz="800" b="0" i="0">
                <a:solidFill>
                  <a:srgbClr val="5D6D7E"/>
                </a:solidFill>
                <a:latin typeface="Calibri"/>
              </a:rPr>
              <a:t>•  Le mécanisme n'est pas la réduction de variance par agrégation : l'écart est maximal là où la fenêtre de calibration est la plus courte, et il </a:t>
            </a:r>
            <a:r>
              <a:rPr sz="800" b="1" i="0">
                <a:solidFill>
                  <a:srgbClr val="2C3E50"/>
                </a:solidFill>
                <a:latin typeface="Calibri"/>
              </a:rPr>
              <a:t>s'inverse</a:t>
            </a:r>
            <a:r>
              <a:rPr sz="800" b="0" i="0">
                <a:solidFill>
                  <a:srgbClr val="5D6D7E"/>
                </a:solidFill>
                <a:latin typeface="Calibri"/>
              </a:rPr>
              <a:t> sur les variantes à fenêtre longue. C'est un effet de durée d'observation.</a:t>
            </a:r>
          </a:p>
        </p:txBody>
      </p:sp>
      <p:sp>
        <p:nvSpPr>
          <p:cNvPr id="9" name="TextBox 8"/>
          <p:cNvSpPr txBox="1"/>
          <p:nvPr/>
        </p:nvSpPr>
        <p:spPr>
          <a:xfrm>
            <a:off x="274320" y="3072384"/>
            <a:ext cx="4160520" cy="219456"/>
          </a:xfrm>
          <a:prstGeom prst="rect">
            <a:avLst/>
          </a:prstGeom>
          <a:noFill/>
        </p:spPr>
        <p:txBody>
          <a:bodyPr wrap="square" lIns="45720" rIns="45720" tIns="18288" bIns="18288" anchor="t">
            <a:spAutoFit/>
          </a:bodyPr>
          <a:lstStyle/>
          <a:p>
            <a:pPr algn="l"/>
            <a:r>
              <a:rPr sz="950" b="1" i="0">
                <a:solidFill>
                  <a:srgbClr val="00748C"/>
                </a:solidFill>
                <a:latin typeface="Calibri"/>
              </a:rPr>
              <a:t>Résultat 2 — la cellule emblématique détecte tout, au bon seuil</a:t>
            </a:r>
          </a:p>
        </p:txBody>
      </p:sp>
      <p:sp>
        <p:nvSpPr>
          <p:cNvPr id="10" name="TextBox 9"/>
          <p:cNvSpPr txBox="1"/>
          <p:nvPr/>
        </p:nvSpPr>
        <p:spPr>
          <a:xfrm>
            <a:off x="274320" y="3291840"/>
            <a:ext cx="4160520" cy="1371600"/>
          </a:xfrm>
          <a:prstGeom prst="rect">
            <a:avLst/>
          </a:prstGeom>
          <a:noFill/>
        </p:spPr>
        <p:txBody>
          <a:bodyPr wrap="square" lIns="45720" rIns="45720" tIns="18288" bIns="18288" anchor="t">
            <a:spAutoFit/>
          </a:bodyPr>
          <a:lstStyle/>
          <a:p>
            <a:pPr algn="l"/>
            <a:r>
              <a:rPr sz="800" b="0" i="0">
                <a:solidFill>
                  <a:srgbClr val="5D6D7E"/>
                </a:solidFill>
                <a:latin typeface="Calibri"/>
              </a:rPr>
              <a:t>•  La cellule affichée à zéro détection sur 1 080 en détecte </a:t>
            </a:r>
            <a:r>
              <a:rPr sz="800" b="1" i="0">
                <a:solidFill>
                  <a:srgbClr val="2C3E50"/>
                </a:solidFill>
                <a:latin typeface="Calibri"/>
              </a:rPr>
              <a:t>1 080 sur 1 080</a:t>
            </a:r>
            <a:r>
              <a:rPr sz="800" b="0" i="0">
                <a:solidFill>
                  <a:srgbClr val="5D6D7E"/>
                </a:solidFill>
                <a:latin typeface="Calibri"/>
              </a:rPr>
              <a:t> à λ = 5, précision 1,000, délai moyen </a:t>
            </a:r>
            <a:r>
              <a:rPr sz="800" b="1" i="0">
                <a:solidFill>
                  <a:srgbClr val="2C3E50"/>
                </a:solidFill>
                <a:latin typeface="Calibri"/>
              </a:rPr>
              <a:t>6,05 pas</a:t>
            </a:r>
            <a:r>
              <a:rPr sz="800" b="0" i="0">
                <a:solidFill>
                  <a:srgbClr val="5D6D7E"/>
                </a:solidFill>
                <a:latin typeface="Calibri"/>
              </a:rPr>
              <a:t>.</a:t>
            </a:r>
          </a:p>
          <a:p>
            <a:pPr algn="l"/>
            <a:r>
              <a:rPr sz="800" b="0" i="0">
                <a:solidFill>
                  <a:srgbClr val="5D6D7E"/>
                </a:solidFill>
                <a:latin typeface="Calibri"/>
              </a:rPr>
              <a:t>•  Le détecteur à fenêtres, présenté comme supérieur, met </a:t>
            </a:r>
            <a:r>
              <a:rPr sz="800" b="1" i="0">
                <a:solidFill>
                  <a:srgbClr val="2C3E50"/>
                </a:solidFill>
                <a:latin typeface="Calibri"/>
              </a:rPr>
              <a:t>14 pas</a:t>
            </a:r>
            <a:r>
              <a:rPr sz="800" b="0" i="0">
                <a:solidFill>
                  <a:srgbClr val="5D6D7E"/>
                </a:solidFill>
                <a:latin typeface="Calibri"/>
              </a:rPr>
              <a:t>. Le cumulatif le bat d'un facteur deux.</a:t>
            </a:r>
          </a:p>
          <a:p>
            <a:pPr algn="l"/>
            <a:r>
              <a:rPr sz="800" b="0" i="0">
                <a:solidFill>
                  <a:srgbClr val="5D6D7E"/>
                </a:solidFill>
                <a:latin typeface="Calibri"/>
              </a:rPr>
              <a:t>•  Plafond de preuve de ce flux, mesuré pour la première fois : entre </a:t>
            </a:r>
            <a:r>
              <a:rPr sz="800" b="1" i="0">
                <a:solidFill>
                  <a:srgbClr val="2C3E50"/>
                </a:solidFill>
                <a:latin typeface="Calibri"/>
              </a:rPr>
              <a:t>8 et 15</a:t>
            </a:r>
            <a:r>
              <a:rPr sz="800" b="0" i="0">
                <a:solidFill>
                  <a:srgbClr val="5D6D7E"/>
                </a:solidFill>
                <a:latin typeface="Calibri"/>
              </a:rPr>
              <a:t>. Le seuil publié était deux à trois fois trop haut.</a:t>
            </a:r>
          </a:p>
        </p:txBody>
      </p:sp>
      <p:pic>
        <p:nvPicPr>
          <p:cNvPr id="11" name="Picture 10" descr="fig4_deux_panneaux.png"/>
          <p:cNvPicPr>
            <a:picLocks noChangeAspect="1"/>
          </p:cNvPicPr>
          <p:nvPr/>
        </p:nvPicPr>
        <p:blipFill>
          <a:blip r:embed="rId2"/>
          <a:stretch>
            <a:fillRect/>
          </a:stretch>
        </p:blipFill>
        <p:spPr>
          <a:xfrm>
            <a:off x="4572000" y="658368"/>
            <a:ext cx="4297680" cy="2104986"/>
          </a:xfrm>
          <a:prstGeom prst="rect">
            <a:avLst/>
          </a:prstGeom>
        </p:spPr>
      </p:pic>
      <p:sp>
        <p:nvSpPr>
          <p:cNvPr id="12" name="TextBox 11"/>
          <p:cNvSpPr txBox="1"/>
          <p:nvPr/>
        </p:nvSpPr>
        <p:spPr>
          <a:xfrm>
            <a:off x="4572000" y="2871216"/>
            <a:ext cx="4297680" cy="219456"/>
          </a:xfrm>
          <a:prstGeom prst="rect">
            <a:avLst/>
          </a:prstGeom>
          <a:noFill/>
        </p:spPr>
        <p:txBody>
          <a:bodyPr wrap="square" lIns="45720" rIns="45720" tIns="18288" bIns="18288" anchor="t">
            <a:spAutoFit/>
          </a:bodyPr>
          <a:lstStyle/>
          <a:p>
            <a:pPr algn="l"/>
            <a:r>
              <a:rPr sz="850" b="1" i="0">
                <a:solidFill>
                  <a:srgbClr val="00748C"/>
                </a:solidFill>
                <a:latin typeface="Calibri"/>
              </a:rPr>
              <a:t>Résultat 3 — deux flux requalifiés, et l'un renforce l'article</a:t>
            </a:r>
          </a:p>
        </p:txBody>
      </p:sp>
      <p:sp>
        <p:nvSpPr>
          <p:cNvPr id="13" name="TextBox 12"/>
          <p:cNvSpPr txBox="1"/>
          <p:nvPr/>
        </p:nvSpPr>
        <p:spPr>
          <a:xfrm>
            <a:off x="4572000" y="3108960"/>
            <a:ext cx="4297680" cy="731520"/>
          </a:xfrm>
          <a:prstGeom prst="rect">
            <a:avLst/>
          </a:prstGeom>
          <a:noFill/>
        </p:spPr>
        <p:txBody>
          <a:bodyPr wrap="square" lIns="45720" rIns="45720" tIns="18288" bIns="18288" anchor="t">
            <a:spAutoFit/>
          </a:bodyPr>
          <a:lstStyle/>
          <a:p>
            <a:pPr algn="l"/>
            <a:r>
              <a:rPr sz="800" b="0" i="0">
                <a:solidFill>
                  <a:srgbClr val="5D6D7E"/>
                </a:solidFill>
                <a:latin typeface="Calibri"/>
              </a:rPr>
              <a:t>•  Le jeu de données financier est un </a:t>
            </a:r>
            <a:r>
              <a:rPr sz="800" b="1" i="0">
                <a:solidFill>
                  <a:srgbClr val="2C3E50"/>
                </a:solidFill>
                <a:latin typeface="Calibri"/>
              </a:rPr>
              <a:t>témoin négatif prouvé</a:t>
            </a:r>
            <a:r>
              <a:rPr sz="800" b="0" i="0">
                <a:solidFill>
                  <a:srgbClr val="5D6D7E"/>
                </a:solidFill>
                <a:latin typeface="Calibri"/>
              </a:rPr>
              <a:t> : l'erreur d'un classifieur gelé y vaut 0,0110, exactement le taux de fraude. Aucun pipeline n'y acquiert de signal. Il n'y a pas de transitoire à masquer.</a:t>
            </a:r>
          </a:p>
          <a:p>
            <a:pPr algn="l"/>
            <a:r>
              <a:rPr sz="800" b="0" i="0">
                <a:solidFill>
                  <a:srgbClr val="5D6D7E"/>
                </a:solidFill>
                <a:latin typeface="Calibri"/>
              </a:rPr>
              <a:t>•  Sur un autre jeu réel, </a:t>
            </a:r>
            <a:r>
              <a:rPr sz="800" b="1" i="0">
                <a:solidFill>
                  <a:srgbClr val="2C3E50"/>
                </a:solidFill>
                <a:latin typeface="Calibri"/>
              </a:rPr>
              <a:t>aucun seuil n'est admissible</a:t>
            </a:r>
            <a:r>
              <a:rPr sz="800" b="0" i="0">
                <a:solidFill>
                  <a:srgbClr val="5D6D7E"/>
                </a:solidFill>
                <a:latin typeface="Calibri"/>
              </a:rPr>
              <a:t> jusqu'à 200 : la précision plafonne à 0,333. Frontière du domaine de validité, écrite comme telle, avec ses deux remèdes ouverts.</a:t>
            </a:r>
          </a:p>
        </p:txBody>
      </p:sp>
      <p:sp>
        <p:nvSpPr>
          <p:cNvPr id="14" name="TextBox 13"/>
          <p:cNvSpPr txBox="1"/>
          <p:nvPr/>
        </p:nvSpPr>
        <p:spPr>
          <a:xfrm>
            <a:off x="4572000" y="3913632"/>
            <a:ext cx="4297680" cy="219456"/>
          </a:xfrm>
          <a:prstGeom prst="rect">
            <a:avLst/>
          </a:prstGeom>
          <a:noFill/>
        </p:spPr>
        <p:txBody>
          <a:bodyPr wrap="square" lIns="45720" rIns="45720" tIns="18288" bIns="18288" anchor="t">
            <a:spAutoFit/>
          </a:bodyPr>
          <a:lstStyle/>
          <a:p>
            <a:pPr algn="l"/>
            <a:r>
              <a:rPr sz="850" b="1" i="0">
                <a:solidFill>
                  <a:srgbClr val="00748C"/>
                </a:solidFill>
                <a:latin typeface="Calibri"/>
              </a:rPr>
              <a:t>Résultat 4 — le protocole, et ce qu'il a coûté</a:t>
            </a:r>
          </a:p>
        </p:txBody>
      </p:sp>
      <p:sp>
        <p:nvSpPr>
          <p:cNvPr id="15" name="TextBox 14"/>
          <p:cNvSpPr txBox="1"/>
          <p:nvPr/>
        </p:nvSpPr>
        <p:spPr>
          <a:xfrm>
            <a:off x="4572000" y="4151376"/>
            <a:ext cx="4297680" cy="548640"/>
          </a:xfrm>
          <a:prstGeom prst="rect">
            <a:avLst/>
          </a:prstGeom>
          <a:noFill/>
        </p:spPr>
        <p:txBody>
          <a:bodyPr wrap="square" lIns="45720" rIns="45720" tIns="18288" bIns="18288" anchor="t">
            <a:spAutoFit/>
          </a:bodyPr>
          <a:lstStyle/>
          <a:p>
            <a:pPr algn="l"/>
            <a:r>
              <a:rPr sz="800" b="0" i="0">
                <a:solidFill>
                  <a:srgbClr val="5D6D7E"/>
                </a:solidFill>
                <a:latin typeface="Calibri"/>
              </a:rPr>
              <a:t>•  Une correction pour comparaisons multiples </a:t>
            </a:r>
            <a:r>
              <a:rPr sz="800" b="1" i="0">
                <a:solidFill>
                  <a:srgbClr val="2C3E50"/>
                </a:solidFill>
                <a:latin typeface="Calibri"/>
              </a:rPr>
              <a:t>retire une affirmation</a:t>
            </a:r>
            <a:r>
              <a:rPr sz="800" b="0" i="0">
                <a:solidFill>
                  <a:srgbClr val="5D6D7E"/>
                </a:solidFill>
                <a:latin typeface="Calibri"/>
              </a:rPr>
              <a:t> que le manuscrit avait déjà refusé de faire.</a:t>
            </a:r>
          </a:p>
          <a:p>
            <a:pPr algn="l"/>
            <a:r>
              <a:rPr sz="800" b="0" i="0">
                <a:solidFill>
                  <a:srgbClr val="5D6D7E"/>
                </a:solidFill>
                <a:latin typeface="Calibri"/>
              </a:rPr>
              <a:t>•  Les intervalles de confiance mesuraient la mauvaise composante de variance : </a:t>
            </a:r>
            <a:r>
              <a:rPr sz="800" b="1" i="0">
                <a:solidFill>
                  <a:srgbClr val="2C3E50"/>
                </a:solidFill>
                <a:latin typeface="Calibri"/>
              </a:rPr>
              <a:t>cinq fois trop larges</a:t>
            </a:r>
            <a:r>
              <a:rPr sz="800" b="0" i="0">
                <a:solidFill>
                  <a:srgbClr val="5D6D7E"/>
                </a:solidFill>
                <a:latin typeface="Calibri"/>
              </a:rPr>
              <a:t> à un endroit, </a:t>
            </a:r>
            <a:r>
              <a:rPr sz="800" b="1" i="0">
                <a:solidFill>
                  <a:srgbClr val="2C3E50"/>
                </a:solidFill>
                <a:latin typeface="Calibri"/>
              </a:rPr>
              <a:t>trois fois trop étroits</a:t>
            </a:r>
            <a:r>
              <a:rPr sz="800" b="0" i="0">
                <a:solidFill>
                  <a:srgbClr val="5D6D7E"/>
                </a:solidFill>
                <a:latin typeface="Calibri"/>
              </a:rPr>
              <a:t> à un autre.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Quatre défauts que les relecteurs n'avaient pas relevés</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19</a:t>
            </a:r>
          </a:p>
        </p:txBody>
      </p:sp>
      <p:sp>
        <p:nvSpPr>
          <p:cNvPr id="5" name="Rectangle 4"/>
          <p:cNvSpPr/>
          <p:nvPr/>
        </p:nvSpPr>
        <p:spPr>
          <a:xfrm>
            <a:off x="274320" y="658368"/>
            <a:ext cx="4206240" cy="1627632"/>
          </a:xfrm>
          <a:prstGeom prst="rect">
            <a:avLst/>
          </a:prstGeom>
          <a:solidFill>
            <a:srgbClr val="FF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11479" y="777240"/>
            <a:ext cx="274320" cy="2743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777240"/>
            <a:ext cx="274320" cy="274320"/>
          </a:xfrm>
          <a:prstGeom prst="rect">
            <a:avLst/>
          </a:prstGeom>
          <a:noFill/>
        </p:spPr>
        <p:txBody>
          <a:bodyPr wrap="square" lIns="45720" rIns="45720" tIns="18288" bIns="18288" anchor="ctr">
            <a:spAutoFit/>
          </a:bodyPr>
          <a:lstStyle/>
          <a:p>
            <a:pPr algn="ctr"/>
            <a:r>
              <a:rPr sz="1100" b="1" i="0">
                <a:solidFill>
                  <a:srgbClr val="FFFFFF"/>
                </a:solidFill>
                <a:latin typeface="Calibri"/>
              </a:rPr>
              <a:t>1</a:t>
            </a:r>
          </a:p>
        </p:txBody>
      </p:sp>
      <p:sp>
        <p:nvSpPr>
          <p:cNvPr id="8" name="TextBox 7"/>
          <p:cNvSpPr txBox="1"/>
          <p:nvPr/>
        </p:nvSpPr>
        <p:spPr>
          <a:xfrm>
            <a:off x="804671" y="777240"/>
            <a:ext cx="3566160" cy="384048"/>
          </a:xfrm>
          <a:prstGeom prst="rect">
            <a:avLst/>
          </a:prstGeom>
          <a:noFill/>
        </p:spPr>
        <p:txBody>
          <a:bodyPr wrap="square" lIns="45720" rIns="45720" tIns="18288" bIns="18288" anchor="t">
            <a:spAutoFit/>
          </a:bodyPr>
          <a:lstStyle/>
          <a:p>
            <a:pPr algn="l"/>
            <a:r>
              <a:rPr sz="900" b="1" i="0">
                <a:solidFill>
                  <a:srgbClr val="2C3E50"/>
                </a:solidFill>
                <a:latin typeface="Calibri"/>
              </a:rPr>
              <a:t>Le flux de test n'a aucune erreur avant la rupture.</a:t>
            </a:r>
          </a:p>
        </p:txBody>
      </p:sp>
      <p:sp>
        <p:nvSpPr>
          <p:cNvPr id="9" name="TextBox 8"/>
          <p:cNvSpPr txBox="1"/>
          <p:nvPr/>
        </p:nvSpPr>
        <p:spPr>
          <a:xfrm>
            <a:off x="411479" y="1225295"/>
            <a:ext cx="3931920" cy="1005840"/>
          </a:xfrm>
          <a:prstGeom prst="rect">
            <a:avLst/>
          </a:prstGeom>
          <a:noFill/>
        </p:spPr>
        <p:txBody>
          <a:bodyPr wrap="square" lIns="45720" rIns="45720" tIns="18288" bIns="18288" anchor="t">
            <a:spAutoFit/>
          </a:bodyPr>
          <a:lstStyle/>
          <a:p>
            <a:pPr algn="l"/>
            <a:r>
              <a:rPr sz="800" b="0" i="0">
                <a:solidFill>
                  <a:srgbClr val="5D6D7E"/>
                </a:solidFill>
                <a:latin typeface="Calibri"/>
              </a:rPr>
              <a:t>L'expérience phare, 1 080 exécutions, est mesurée sur un flux où il n'existe aucun arbitrage entre détection et fausses alarmes. Cela explique mécaniquement la précision parfaite au bon seuil — et cela impose de dire où la règle de calibration est réellement contrainte.</a:t>
            </a:r>
          </a:p>
        </p:txBody>
      </p:sp>
      <p:sp>
        <p:nvSpPr>
          <p:cNvPr id="10" name="Rectangle 9"/>
          <p:cNvSpPr/>
          <p:nvPr/>
        </p:nvSpPr>
        <p:spPr>
          <a:xfrm>
            <a:off x="4663440" y="658368"/>
            <a:ext cx="4206240" cy="1627632"/>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800600" y="777240"/>
            <a:ext cx="274320" cy="274320"/>
          </a:xfrm>
          <a:prstGeom prst="ellipse">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777240"/>
            <a:ext cx="274320" cy="274320"/>
          </a:xfrm>
          <a:prstGeom prst="rect">
            <a:avLst/>
          </a:prstGeom>
          <a:noFill/>
        </p:spPr>
        <p:txBody>
          <a:bodyPr wrap="square" lIns="45720" rIns="45720" tIns="18288" bIns="18288" anchor="ctr">
            <a:spAutoFit/>
          </a:bodyPr>
          <a:lstStyle/>
          <a:p>
            <a:pPr algn="ctr"/>
            <a:r>
              <a:rPr sz="1100" b="1" i="0">
                <a:solidFill>
                  <a:srgbClr val="FFFFFF"/>
                </a:solidFill>
                <a:latin typeface="Calibri"/>
              </a:rPr>
              <a:t>2</a:t>
            </a:r>
          </a:p>
        </p:txBody>
      </p:sp>
      <p:sp>
        <p:nvSpPr>
          <p:cNvPr id="13" name="TextBox 12"/>
          <p:cNvSpPr txBox="1"/>
          <p:nvPr/>
        </p:nvSpPr>
        <p:spPr>
          <a:xfrm>
            <a:off x="5193792" y="777240"/>
            <a:ext cx="3566160" cy="384048"/>
          </a:xfrm>
          <a:prstGeom prst="rect">
            <a:avLst/>
          </a:prstGeom>
          <a:noFill/>
        </p:spPr>
        <p:txBody>
          <a:bodyPr wrap="square" lIns="45720" rIns="45720" tIns="18288" bIns="18288" anchor="t">
            <a:spAutoFit/>
          </a:bodyPr>
          <a:lstStyle/>
          <a:p>
            <a:pPr algn="l"/>
            <a:r>
              <a:rPr sz="900" b="1" i="0">
                <a:solidFill>
                  <a:srgbClr val="2C3E50"/>
                </a:solidFill>
                <a:latin typeface="Calibri"/>
              </a:rPr>
              <a:t>Un effondrement publié est un détecteur qui n'a jamais démarré.</a:t>
            </a:r>
          </a:p>
        </p:txBody>
      </p:sp>
      <p:sp>
        <p:nvSpPr>
          <p:cNvPr id="14" name="TextBox 13"/>
          <p:cNvSpPr txBox="1"/>
          <p:nvPr/>
        </p:nvSpPr>
        <p:spPr>
          <a:xfrm>
            <a:off x="4800600" y="1225295"/>
            <a:ext cx="3931920" cy="1005840"/>
          </a:xfrm>
          <a:prstGeom prst="rect">
            <a:avLst/>
          </a:prstGeom>
          <a:noFill/>
        </p:spPr>
        <p:txBody>
          <a:bodyPr wrap="square" lIns="45720" rIns="45720" tIns="18288" bIns="18288" anchor="t">
            <a:spAutoFit/>
          </a:bodyPr>
          <a:lstStyle/>
          <a:p>
            <a:pPr algn="l"/>
            <a:r>
              <a:rPr sz="800" b="0" i="0">
                <a:solidFill>
                  <a:srgbClr val="5D6D7E"/>
                </a:solidFill>
                <a:latin typeface="Calibri"/>
              </a:rPr>
              <a:t>Il exige 30 erreurs pour s'armer ; le flux en produit 9 sur 8 000 pas. Il n'a pas échoué à détecter.</a:t>
            </a:r>
          </a:p>
        </p:txBody>
      </p:sp>
      <p:sp>
        <p:nvSpPr>
          <p:cNvPr id="15" name="Rectangle 14"/>
          <p:cNvSpPr/>
          <p:nvPr/>
        </p:nvSpPr>
        <p:spPr>
          <a:xfrm>
            <a:off x="274320" y="2395728"/>
            <a:ext cx="4206240" cy="1627632"/>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11479" y="2514600"/>
            <a:ext cx="274320" cy="274320"/>
          </a:xfrm>
          <a:prstGeom prst="ellipse">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514600"/>
            <a:ext cx="274320" cy="274320"/>
          </a:xfrm>
          <a:prstGeom prst="rect">
            <a:avLst/>
          </a:prstGeom>
          <a:noFill/>
        </p:spPr>
        <p:txBody>
          <a:bodyPr wrap="square" lIns="45720" rIns="45720" tIns="18288" bIns="18288" anchor="ctr">
            <a:spAutoFit/>
          </a:bodyPr>
          <a:lstStyle/>
          <a:p>
            <a:pPr algn="ctr"/>
            <a:r>
              <a:rPr sz="1100" b="1" i="0">
                <a:solidFill>
                  <a:srgbClr val="FFFFFF"/>
                </a:solidFill>
                <a:latin typeface="Calibri"/>
              </a:rPr>
              <a:t>3</a:t>
            </a:r>
          </a:p>
        </p:txBody>
      </p:sp>
      <p:sp>
        <p:nvSpPr>
          <p:cNvPr id="18" name="TextBox 17"/>
          <p:cNvSpPr txBox="1"/>
          <p:nvPr/>
        </p:nvSpPr>
        <p:spPr>
          <a:xfrm>
            <a:off x="804671" y="2514600"/>
            <a:ext cx="3566160" cy="384048"/>
          </a:xfrm>
          <a:prstGeom prst="rect">
            <a:avLst/>
          </a:prstGeom>
          <a:noFill/>
        </p:spPr>
        <p:txBody>
          <a:bodyPr wrap="square" lIns="45720" rIns="45720" tIns="18288" bIns="18288" anchor="t">
            <a:spAutoFit/>
          </a:bodyPr>
          <a:lstStyle/>
          <a:p>
            <a:pPr algn="l"/>
            <a:r>
              <a:rPr sz="900" b="1" i="0">
                <a:solidFill>
                  <a:srgbClr val="2C3E50"/>
                </a:solidFill>
                <a:latin typeface="Calibri"/>
              </a:rPr>
              <a:t>Le socle d'erreur moyenné sur tout le rodage est biaisé.</a:t>
            </a:r>
          </a:p>
        </p:txBody>
      </p:sp>
      <p:sp>
        <p:nvSpPr>
          <p:cNvPr id="19" name="TextBox 18"/>
          <p:cNvSpPr txBox="1"/>
          <p:nvPr/>
        </p:nvSpPr>
        <p:spPr>
          <a:xfrm>
            <a:off x="411479" y="2962656"/>
            <a:ext cx="3931920" cy="1005840"/>
          </a:xfrm>
          <a:prstGeom prst="rect">
            <a:avLst/>
          </a:prstGeom>
          <a:noFill/>
        </p:spPr>
        <p:txBody>
          <a:bodyPr wrap="square" lIns="45720" rIns="45720" tIns="18288" bIns="18288" anchor="t">
            <a:spAutoFit/>
          </a:bodyPr>
          <a:lstStyle/>
          <a:p>
            <a:pPr algn="l"/>
            <a:r>
              <a:rPr sz="800" b="0" i="0">
                <a:solidFill>
                  <a:srgbClr val="5D6D7E"/>
                </a:solidFill>
                <a:latin typeface="Calibri"/>
              </a:rPr>
              <a:t>Sur l'horizon, cela représente plusieurs unités d'aire — du même ordre que le seuil le plus bas testé. Faute de fenêtre pré-rupture assez longue dans les traces, cette quantité est déclarée non mesurable plutôt que remplacée par une valeur de référence.</a:t>
            </a:r>
          </a:p>
        </p:txBody>
      </p:sp>
      <p:sp>
        <p:nvSpPr>
          <p:cNvPr id="20" name="Rectangle 19"/>
          <p:cNvSpPr/>
          <p:nvPr/>
        </p:nvSpPr>
        <p:spPr>
          <a:xfrm>
            <a:off x="4663440" y="2395728"/>
            <a:ext cx="4206240" cy="1627632"/>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0600" y="2514600"/>
            <a:ext cx="274320" cy="274320"/>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2514600"/>
            <a:ext cx="274320" cy="274320"/>
          </a:xfrm>
          <a:prstGeom prst="rect">
            <a:avLst/>
          </a:prstGeom>
          <a:noFill/>
        </p:spPr>
        <p:txBody>
          <a:bodyPr wrap="square" lIns="45720" rIns="45720" tIns="18288" bIns="18288" anchor="ctr">
            <a:spAutoFit/>
          </a:bodyPr>
          <a:lstStyle/>
          <a:p>
            <a:pPr algn="ctr"/>
            <a:r>
              <a:rPr sz="1100" b="1" i="0">
                <a:solidFill>
                  <a:srgbClr val="FFFFFF"/>
                </a:solidFill>
                <a:latin typeface="Calibri"/>
              </a:rPr>
              <a:t>4</a:t>
            </a:r>
          </a:p>
        </p:txBody>
      </p:sp>
      <p:sp>
        <p:nvSpPr>
          <p:cNvPr id="23" name="TextBox 22"/>
          <p:cNvSpPr txBox="1"/>
          <p:nvPr/>
        </p:nvSpPr>
        <p:spPr>
          <a:xfrm>
            <a:off x="5193792" y="2514600"/>
            <a:ext cx="3566160" cy="384048"/>
          </a:xfrm>
          <a:prstGeom prst="rect">
            <a:avLst/>
          </a:prstGeom>
          <a:noFill/>
        </p:spPr>
        <p:txBody>
          <a:bodyPr wrap="square" lIns="45720" rIns="45720" tIns="18288" bIns="18288" anchor="t">
            <a:spAutoFit/>
          </a:bodyPr>
          <a:lstStyle/>
          <a:p>
            <a:pPr algn="l"/>
            <a:r>
              <a:rPr sz="900" b="1" i="0">
                <a:solidFill>
                  <a:srgbClr val="2C3E50"/>
                </a:solidFill>
                <a:latin typeface="Calibri"/>
              </a:rPr>
              <a:t>Le facteur d'accélération de l'ensemble n'est pas une constante.</a:t>
            </a:r>
          </a:p>
        </p:txBody>
      </p:sp>
      <p:sp>
        <p:nvSpPr>
          <p:cNvPr id="24" name="TextBox 23"/>
          <p:cNvSpPr txBox="1"/>
          <p:nvPr/>
        </p:nvSpPr>
        <p:spPr>
          <a:xfrm>
            <a:off x="4800600" y="2962656"/>
            <a:ext cx="3931920" cy="1005840"/>
          </a:xfrm>
          <a:prstGeom prst="rect">
            <a:avLst/>
          </a:prstGeom>
          <a:noFill/>
        </p:spPr>
        <p:txBody>
          <a:bodyPr wrap="square" lIns="45720" rIns="45720" tIns="18288" bIns="18288" anchor="t">
            <a:spAutoFit/>
          </a:bodyPr>
          <a:lstStyle/>
          <a:p>
            <a:pPr algn="l"/>
            <a:r>
              <a:rPr sz="800" b="0" i="0">
                <a:solidFill>
                  <a:srgbClr val="5D6D7E"/>
                </a:solidFill>
                <a:latin typeface="Calibri"/>
              </a:rPr>
              <a:t>Deux estimateurs légitimes du même effet varient en sens opposé avec l'amplitude. Le texte le dit et l'explique : les lois de délai des deux bras ne gardent pas leur forme.</a:t>
            </a:r>
          </a:p>
        </p:txBody>
      </p:sp>
      <p:sp>
        <p:nvSpPr>
          <p:cNvPr id="25" name="Rectangle 24"/>
          <p:cNvSpPr/>
          <p:nvPr/>
        </p:nvSpPr>
        <p:spPr>
          <a:xfrm>
            <a:off x="274320" y="4434840"/>
            <a:ext cx="8595360" cy="246888"/>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 y="4434840"/>
            <a:ext cx="8595360" cy="246888"/>
          </a:xfrm>
          <a:prstGeom prst="rect">
            <a:avLst/>
          </a:prstGeom>
          <a:noFill/>
        </p:spPr>
        <p:txBody>
          <a:bodyPr wrap="square" lIns="45720" rIns="45720" tIns="18288" bIns="18288" anchor="ctr">
            <a:spAutoFit/>
          </a:bodyPr>
          <a:lstStyle/>
          <a:p>
            <a:pPr algn="ctr"/>
            <a:r>
              <a:rPr sz="900" b="1" i="0">
                <a:solidFill>
                  <a:srgbClr val="E08000"/>
                </a:solidFill>
                <a:latin typeface="Calibri"/>
              </a:rPr>
              <a:t>★ Chacun de ces quatre points est écrit dans le manuscrit. Un relecteur qui ouvre le dépôt les trouverait ; autant que l'annonce vienne de nous.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371600"/>
            <a:ext cx="9144000" cy="237744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691640"/>
            <a:ext cx="1371600" cy="137160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91640"/>
            <a:ext cx="1371600" cy="1371600"/>
          </a:xfrm>
          <a:prstGeom prst="rect">
            <a:avLst/>
          </a:prstGeom>
          <a:noFill/>
        </p:spPr>
        <p:txBody>
          <a:bodyPr wrap="square" lIns="45720" rIns="45720" tIns="18288" bIns="18288" anchor="ctr">
            <a:spAutoFit/>
          </a:bodyPr>
          <a:lstStyle/>
          <a:p>
            <a:pPr algn="ctr"/>
            <a:r>
              <a:rPr sz="4200" b="1" i="0">
                <a:solidFill>
                  <a:srgbClr val="FFFFFF"/>
                </a:solidFill>
                <a:latin typeface="Calibri"/>
              </a:rPr>
              <a:t>D</a:t>
            </a:r>
          </a:p>
        </p:txBody>
      </p:sp>
      <p:sp>
        <p:nvSpPr>
          <p:cNvPr id="5" name="TextBox 4"/>
          <p:cNvSpPr txBox="1"/>
          <p:nvPr/>
        </p:nvSpPr>
        <p:spPr>
          <a:xfrm>
            <a:off x="2926080" y="1874519"/>
            <a:ext cx="5486400" cy="548640"/>
          </a:xfrm>
          <a:prstGeom prst="rect">
            <a:avLst/>
          </a:prstGeom>
          <a:noFill/>
        </p:spPr>
        <p:txBody>
          <a:bodyPr wrap="square" lIns="45720" rIns="45720" tIns="18288" bIns="18288" anchor="t">
            <a:spAutoFit/>
          </a:bodyPr>
          <a:lstStyle/>
          <a:p>
            <a:pPr algn="l"/>
            <a:r>
              <a:rPr sz="2600" b="1" i="0">
                <a:solidFill>
                  <a:srgbClr val="FFFFFF"/>
                </a:solidFill>
                <a:latin typeface="Calibri"/>
              </a:rPr>
              <a:t>Ce qui reste</a:t>
            </a:r>
          </a:p>
        </p:txBody>
      </p:sp>
      <p:sp>
        <p:nvSpPr>
          <p:cNvPr id="6" name="TextBox 5"/>
          <p:cNvSpPr txBox="1"/>
          <p:nvPr/>
        </p:nvSpPr>
        <p:spPr>
          <a:xfrm>
            <a:off x="2926080" y="2697480"/>
            <a:ext cx="5486400" cy="731520"/>
          </a:xfrm>
          <a:prstGeom prst="rect">
            <a:avLst/>
          </a:prstGeom>
          <a:noFill/>
        </p:spPr>
        <p:txBody>
          <a:bodyPr wrap="square" lIns="45720" rIns="45720" tIns="18288" bIns="18288" anchor="t">
            <a:spAutoFit/>
          </a:bodyPr>
          <a:lstStyle/>
          <a:p>
            <a:pPr algn="l"/>
            <a:r>
              <a:rPr sz="1200" b="0" i="0">
                <a:solidFill>
                  <a:srgbClr val="D5DBDB"/>
                </a:solidFill>
                <a:latin typeface="Calibri"/>
              </a:rPr>
              <a:t>En suspens, et à ré-auditer</a:t>
            </a:r>
          </a:p>
        </p:txBody>
      </p:sp>
      <p:sp>
        <p:nvSpPr>
          <p:cNvPr id="7" name="TextBox 6"/>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Points ouverts et résultats à reprendre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21</a:t>
            </a:r>
          </a:p>
        </p:txBody>
      </p:sp>
      <p:sp>
        <p:nvSpPr>
          <p:cNvPr id="5" name="Rectangle 4"/>
          <p:cNvSpPr/>
          <p:nvPr/>
        </p:nvSpPr>
        <p:spPr>
          <a:xfrm>
            <a:off x="274320" y="658368"/>
            <a:ext cx="2651760" cy="4005072"/>
          </a:xfrm>
          <a:prstGeom prst="rect">
            <a:avLst/>
          </a:prstGeom>
          <a:solidFill>
            <a:srgbClr val="FF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658368"/>
            <a:ext cx="265176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
            <a:ext cx="2651760" cy="274320"/>
          </a:xfrm>
          <a:prstGeom prst="rect">
            <a:avLst/>
          </a:prstGeom>
          <a:noFill/>
        </p:spPr>
        <p:txBody>
          <a:bodyPr wrap="square" lIns="45720" rIns="45720" tIns="18288" bIns="18288" anchor="ctr">
            <a:spAutoFit/>
          </a:bodyPr>
          <a:lstStyle/>
          <a:p>
            <a:pPr algn="ctr"/>
            <a:r>
              <a:rPr sz="950" b="1" i="0">
                <a:solidFill>
                  <a:srgbClr val="FFFFFF"/>
                </a:solidFill>
                <a:latin typeface="Calibri"/>
              </a:rPr>
              <a:t>Bloquant</a:t>
            </a:r>
          </a:p>
        </p:txBody>
      </p:sp>
      <p:sp>
        <p:nvSpPr>
          <p:cNvPr id="8" name="TextBox 7"/>
          <p:cNvSpPr txBox="1"/>
          <p:nvPr/>
        </p:nvSpPr>
        <p:spPr>
          <a:xfrm>
            <a:off x="365760" y="1024128"/>
            <a:ext cx="2468880" cy="365760"/>
          </a:xfrm>
          <a:prstGeom prst="rect">
            <a:avLst/>
          </a:prstGeom>
          <a:noFill/>
        </p:spPr>
        <p:txBody>
          <a:bodyPr wrap="square" lIns="45720" rIns="45720" tIns="18288" bIns="18288" anchor="t">
            <a:spAutoFit/>
          </a:bodyPr>
          <a:lstStyle/>
          <a:p>
            <a:pPr algn="l"/>
            <a:r>
              <a:rPr sz="900" b="1" i="0">
                <a:solidFill>
                  <a:srgbClr val="2C3E50"/>
                </a:solidFill>
                <a:latin typeface="Calibri"/>
              </a:rPr>
              <a:t>L'audit adversarial du manuscrit assemblé.</a:t>
            </a:r>
          </a:p>
        </p:txBody>
      </p:sp>
      <p:sp>
        <p:nvSpPr>
          <p:cNvPr id="9" name="TextBox 8"/>
          <p:cNvSpPr txBox="1"/>
          <p:nvPr/>
        </p:nvSpPr>
        <p:spPr>
          <a:xfrm>
            <a:off x="365760" y="1426464"/>
            <a:ext cx="2468880" cy="3108960"/>
          </a:xfrm>
          <a:prstGeom prst="rect">
            <a:avLst/>
          </a:prstGeom>
          <a:noFill/>
        </p:spPr>
        <p:txBody>
          <a:bodyPr wrap="square" lIns="45720" rIns="45720" tIns="18288" bIns="18288" anchor="t">
            <a:spAutoFit/>
          </a:bodyPr>
          <a:lstStyle/>
          <a:p>
            <a:pPr algn="l"/>
            <a:r>
              <a:rPr sz="800" b="0" i="0">
                <a:solidFill>
                  <a:srgbClr val="5D6D7E"/>
                </a:solidFill>
                <a:latin typeface="Calibri"/>
              </a:rPr>
              <a:t>Cinq profils de relecteurs, lancés séparément, sans communication, sur le document figé : un théoricien des temps d'arrêt absent du panel d'origine, les successeurs des trois relecteurs critiques, un éditeur de revue. Mandat commun : chercher la contradiction interne. Quatre renversements de thèse et soixante-quatre pages : personne n'a encore lu l'ensemble d'un bout à l'autre en cherchant la faille.</a:t>
            </a:r>
          </a:p>
        </p:txBody>
      </p:sp>
      <p:sp>
        <p:nvSpPr>
          <p:cNvPr id="10" name="Rectangle 9"/>
          <p:cNvSpPr/>
          <p:nvPr/>
        </p:nvSpPr>
        <p:spPr>
          <a:xfrm>
            <a:off x="3063240" y="658368"/>
            <a:ext cx="2743200" cy="4005072"/>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63240" y="658368"/>
            <a:ext cx="2743200" cy="274320"/>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658368"/>
            <a:ext cx="2743200" cy="274320"/>
          </a:xfrm>
          <a:prstGeom prst="rect">
            <a:avLst/>
          </a:prstGeom>
          <a:noFill/>
        </p:spPr>
        <p:txBody>
          <a:bodyPr wrap="square" lIns="45720" rIns="45720" tIns="18288" bIns="18288" anchor="ctr">
            <a:spAutoFit/>
          </a:bodyPr>
          <a:lstStyle/>
          <a:p>
            <a:pPr algn="ctr"/>
            <a:r>
              <a:rPr sz="950" b="1" i="0">
                <a:solidFill>
                  <a:srgbClr val="FFFFFF"/>
                </a:solidFill>
                <a:latin typeface="Calibri"/>
              </a:rPr>
              <a:t>À ré-auditer</a:t>
            </a:r>
          </a:p>
        </p:txBody>
      </p:sp>
      <p:sp>
        <p:nvSpPr>
          <p:cNvPr id="13" name="TextBox 12"/>
          <p:cNvSpPr txBox="1"/>
          <p:nvPr/>
        </p:nvSpPr>
        <p:spPr>
          <a:xfrm>
            <a:off x="3154680" y="1024128"/>
            <a:ext cx="2560320" cy="365760"/>
          </a:xfrm>
          <a:prstGeom prst="rect">
            <a:avLst/>
          </a:prstGeom>
          <a:noFill/>
        </p:spPr>
        <p:txBody>
          <a:bodyPr wrap="square" lIns="45720" rIns="45720" tIns="18288" bIns="18288" anchor="t">
            <a:spAutoFit/>
          </a:bodyPr>
          <a:lstStyle/>
          <a:p>
            <a:pPr algn="l"/>
            <a:r>
              <a:rPr sz="850" b="1" i="0">
                <a:solidFill>
                  <a:srgbClr val="2C3E50"/>
                </a:solidFill>
                <a:latin typeface="Calibri"/>
              </a:rPr>
              <a:t>Résultats dont l'énoncé est plus fragile que les autres</a:t>
            </a:r>
          </a:p>
        </p:txBody>
      </p:sp>
      <p:sp>
        <p:nvSpPr>
          <p:cNvPr id="14" name="TextBox 13"/>
          <p:cNvSpPr txBox="1"/>
          <p:nvPr/>
        </p:nvSpPr>
        <p:spPr>
          <a:xfrm>
            <a:off x="3154680" y="1426464"/>
            <a:ext cx="2560320" cy="3108960"/>
          </a:xfrm>
          <a:prstGeom prst="rect">
            <a:avLst/>
          </a:prstGeom>
          <a:noFill/>
        </p:spPr>
        <p:txBody>
          <a:bodyPr wrap="square" lIns="45720" rIns="45720" tIns="18288" bIns="18288" anchor="t">
            <a:spAutoFit/>
          </a:bodyPr>
          <a:lstStyle/>
          <a:p>
            <a:pPr algn="l"/>
            <a:r>
              <a:rPr sz="800" b="1" i="0">
                <a:solidFill>
                  <a:srgbClr val="E08000"/>
                </a:solidFill>
                <a:latin typeface="Calibri"/>
              </a:rPr>
              <a:t>▪  </a:t>
            </a:r>
            <a:r>
              <a:rPr sz="800" b="1" i="0">
                <a:solidFill>
                  <a:srgbClr val="2C3E50"/>
                </a:solidFill>
                <a:latin typeface="Calibri"/>
              </a:rPr>
              <a:t>Le choix de publier deux prédicats au lieu d'un.</a:t>
            </a:r>
            <a:r>
              <a:rPr sz="800" b="0" i="0">
                <a:solidFill>
                  <a:srgbClr val="5D6D7E"/>
                </a:solidFill>
                <a:latin typeface="Calibri"/>
              </a:rPr>
              <a:t> La forme unifiée a été refusée par une règle fixée d'avance, à trois dixièmes de point d'écart. Le choix est assumé et argumenté par le mécanisme, mais il n'est pas tranché par une mesure décisive.</a:t>
            </a:r>
          </a:p>
          <a:p>
            <a:pPr algn="l"/>
            <a:r>
              <a:rPr sz="800" b="1" i="0">
                <a:solidFill>
                  <a:srgbClr val="E08000"/>
                </a:solidFill>
                <a:latin typeface="Calibri"/>
              </a:rPr>
              <a:t>▪  </a:t>
            </a:r>
            <a:r>
              <a:rPr sz="800" b="1" i="0">
                <a:solidFill>
                  <a:srgbClr val="2C3E50"/>
                </a:solidFill>
                <a:latin typeface="Calibri"/>
              </a:rPr>
              <a:t>L'exposant de la loi d'amorce.</a:t>
            </a:r>
            <a:r>
              <a:rPr sz="800" b="0" i="0">
                <a:solidFill>
                  <a:srgbClr val="5D6D7E"/>
                </a:solidFill>
                <a:latin typeface="Calibri"/>
              </a:rPr>
              <a:t> Déclaré non établi : la médiane n'est pas une loi de puissance sur le domaine valide, et la queue de grille est limitée par la résolution de la mesure.</a:t>
            </a:r>
          </a:p>
          <a:p>
            <a:pPr algn="l"/>
            <a:r>
              <a:rPr sz="800" b="1" i="0">
                <a:solidFill>
                  <a:srgbClr val="E08000"/>
                </a:solidFill>
                <a:latin typeface="Calibri"/>
              </a:rPr>
              <a:t>▪  </a:t>
            </a:r>
            <a:r>
              <a:rPr sz="800" b="1" i="0">
                <a:solidFill>
                  <a:srgbClr val="2C3E50"/>
                </a:solidFill>
                <a:latin typeface="Calibri"/>
              </a:rPr>
              <a:t>Le sommet de la cloche.</a:t>
            </a:r>
            <a:r>
              <a:rPr sz="800" b="0" i="0">
                <a:solidFill>
                  <a:srgbClr val="5D6D7E"/>
                </a:solidFill>
                <a:latin typeface="Calibri"/>
              </a:rPr>
              <a:t> Non identifiable à cent graines par amplitude. Le plateau est publié, le point ne l'est pas.</a:t>
            </a:r>
          </a:p>
          <a:p>
            <a:pPr algn="l"/>
            <a:r>
              <a:rPr sz="800" b="1" i="0">
                <a:solidFill>
                  <a:srgbClr val="E08000"/>
                </a:solidFill>
                <a:latin typeface="Calibri"/>
              </a:rPr>
              <a:t>▪  </a:t>
            </a:r>
            <a:r>
              <a:rPr sz="800" b="1" i="0">
                <a:solidFill>
                  <a:srgbClr val="2C3E50"/>
                </a:solidFill>
                <a:latin typeface="Calibri"/>
              </a:rPr>
              <a:t>L'avantage résiduel à l'extrémité dégénérée de la grille.</a:t>
            </a:r>
            <a:r>
              <a:rPr sz="800" b="0" i="0">
                <a:solidFill>
                  <a:srgbClr val="5D6D7E"/>
                </a:solidFill>
                <a:latin typeface="Calibri"/>
              </a:rPr>
              <a:t> Les intervalles chevauchent zéro ; la fenêtre de mesure y contient trop peu d'événements pour trancher.</a:t>
            </a:r>
          </a:p>
          <a:p>
            <a:pPr algn="l"/>
            <a:r>
              <a:rPr sz="800" b="1" i="0">
                <a:solidFill>
                  <a:srgbClr val="E08000"/>
                </a:solidFill>
                <a:latin typeface="Calibri"/>
              </a:rPr>
              <a:t>▪  </a:t>
            </a:r>
            <a:r>
              <a:rPr sz="800" b="1" i="0">
                <a:solidFill>
                  <a:srgbClr val="2C3E50"/>
                </a:solidFill>
                <a:latin typeface="Calibri"/>
              </a:rPr>
              <a:t>La frontière sur le jeu réel sans seuil admissible.</a:t>
            </a:r>
            <a:r>
              <a:rPr sz="800" b="0" i="0">
                <a:solidFill>
                  <a:srgbClr val="5D6D7E"/>
                </a:solidFill>
                <a:latin typeface="Calibri"/>
              </a:rPr>
              <a:t> Écrite comme limite, ses deux remèdes restent ouverts : désarmer le moniteur après détection, ou travailler sur des flux dont l'erreur revient à sa loi d'origine.</a:t>
            </a:r>
          </a:p>
        </p:txBody>
      </p:sp>
      <p:sp>
        <p:nvSpPr>
          <p:cNvPr id="15" name="Rectangle 14"/>
          <p:cNvSpPr/>
          <p:nvPr/>
        </p:nvSpPr>
        <p:spPr>
          <a:xfrm>
            <a:off x="5943600" y="658368"/>
            <a:ext cx="2926080" cy="4005072"/>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0" y="658368"/>
            <a:ext cx="2926080" cy="27432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0" y="658368"/>
            <a:ext cx="2926080" cy="274320"/>
          </a:xfrm>
          <a:prstGeom prst="rect">
            <a:avLst/>
          </a:prstGeom>
          <a:noFill/>
        </p:spPr>
        <p:txBody>
          <a:bodyPr wrap="square" lIns="45720" rIns="45720" tIns="18288" bIns="18288" anchor="ctr">
            <a:spAutoFit/>
          </a:bodyPr>
          <a:lstStyle/>
          <a:p>
            <a:pPr algn="ctr"/>
            <a:r>
              <a:rPr sz="950" b="1" i="0">
                <a:solidFill>
                  <a:srgbClr val="FFFFFF"/>
                </a:solidFill>
                <a:latin typeface="Calibri"/>
              </a:rPr>
              <a:t>Extension</a:t>
            </a:r>
          </a:p>
        </p:txBody>
      </p:sp>
      <p:sp>
        <p:nvSpPr>
          <p:cNvPr id="18" name="TextBox 17"/>
          <p:cNvSpPr txBox="1"/>
          <p:nvPr/>
        </p:nvSpPr>
        <p:spPr>
          <a:xfrm>
            <a:off x="6035040" y="1024128"/>
            <a:ext cx="2743200" cy="365760"/>
          </a:xfrm>
          <a:prstGeom prst="rect">
            <a:avLst/>
          </a:prstGeom>
          <a:noFill/>
        </p:spPr>
        <p:txBody>
          <a:bodyPr wrap="square" lIns="45720" rIns="45720" tIns="18288" bIns="18288" anchor="t">
            <a:spAutoFit/>
          </a:bodyPr>
          <a:lstStyle/>
          <a:p>
            <a:pPr algn="l"/>
            <a:r>
              <a:rPr sz="850" b="1" i="0">
                <a:solidFill>
                  <a:srgbClr val="2C3E50"/>
                </a:solidFill>
                <a:latin typeface="Calibri"/>
              </a:rPr>
              <a:t>Hors périmètre de la soumission</a:t>
            </a:r>
          </a:p>
        </p:txBody>
      </p:sp>
      <p:sp>
        <p:nvSpPr>
          <p:cNvPr id="19" name="TextBox 18"/>
          <p:cNvSpPr txBox="1"/>
          <p:nvPr/>
        </p:nvSpPr>
        <p:spPr>
          <a:xfrm>
            <a:off x="6035040" y="1426464"/>
            <a:ext cx="2743200" cy="1828800"/>
          </a:xfrm>
          <a:prstGeom prst="rect">
            <a:avLst/>
          </a:prstGeom>
          <a:noFill/>
        </p:spPr>
        <p:txBody>
          <a:bodyPr wrap="square" lIns="45720" rIns="45720" tIns="18288" bIns="18288" anchor="t">
            <a:spAutoFit/>
          </a:bodyPr>
          <a:lstStyle/>
          <a:p>
            <a:pPr algn="l"/>
            <a:r>
              <a:rPr sz="800" b="1" i="0">
                <a:solidFill>
                  <a:srgbClr val="2C3E50"/>
                </a:solidFill>
                <a:latin typeface="Calibri"/>
              </a:rPr>
              <a:t>Période réfractaire après alarme.</a:t>
            </a:r>
            <a:r>
              <a:rPr sz="800" b="0" i="0">
                <a:solidFill>
                  <a:srgbClr val="5D6D7E"/>
                </a:solidFill>
                <a:latin typeface="Calibri"/>
              </a:rPr>
              <a:t> Seul levier identifié sur l'inondation qui demande du code neuf. Réservé à la phase de révision.</a:t>
            </a:r>
          </a:p>
        </p:txBody>
      </p:sp>
      <p:sp>
        <p:nvSpPr>
          <p:cNvPr id="20" name="Rectangle 19"/>
          <p:cNvSpPr/>
          <p:nvPr/>
        </p:nvSpPr>
        <p:spPr>
          <a:xfrm>
            <a:off x="2962656" y="822960"/>
            <a:ext cx="13716" cy="3657600"/>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43016" y="822960"/>
            <a:ext cx="13716" cy="3657600"/>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Le manuscrit est figé — les chiffres de conformité</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22</a:t>
            </a:r>
          </a:p>
        </p:txBody>
      </p:sp>
      <p:sp>
        <p:nvSpPr>
          <p:cNvPr id="5" name="Rectangle 4"/>
          <p:cNvSpPr/>
          <p:nvPr/>
        </p:nvSpPr>
        <p:spPr>
          <a:xfrm>
            <a:off x="274320" y="658368"/>
            <a:ext cx="4297680" cy="2743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8368"/>
            <a:ext cx="4297680" cy="274320"/>
          </a:xfrm>
          <a:prstGeom prst="rect">
            <a:avLst/>
          </a:prstGeom>
          <a:noFill/>
        </p:spPr>
        <p:txBody>
          <a:bodyPr wrap="square" lIns="45720" rIns="45720" tIns="18288" bIns="18288" anchor="ctr">
            <a:spAutoFit/>
          </a:bodyPr>
          <a:lstStyle/>
          <a:p>
            <a:pPr algn="l"/>
            <a:r>
              <a:rPr sz="900" b="1" i="0">
                <a:solidFill>
                  <a:srgbClr val="FFFFFF"/>
                </a:solidFill>
                <a:latin typeface="Calibri"/>
              </a:rPr>
              <a:t>  Contrôle</a:t>
            </a:r>
          </a:p>
        </p:txBody>
      </p:sp>
      <p:sp>
        <p:nvSpPr>
          <p:cNvPr id="7" name="Rectangle 6"/>
          <p:cNvSpPr/>
          <p:nvPr/>
        </p:nvSpPr>
        <p:spPr>
          <a:xfrm>
            <a:off x="4572000" y="658368"/>
            <a:ext cx="4297680" cy="2743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658368"/>
            <a:ext cx="4297680" cy="274320"/>
          </a:xfrm>
          <a:prstGeom prst="rect">
            <a:avLst/>
          </a:prstGeom>
          <a:noFill/>
        </p:spPr>
        <p:txBody>
          <a:bodyPr wrap="square" lIns="45720" rIns="45720" tIns="18288" bIns="18288" anchor="ctr">
            <a:spAutoFit/>
          </a:bodyPr>
          <a:lstStyle/>
          <a:p>
            <a:pPr algn="l"/>
            <a:r>
              <a:rPr sz="900" b="1" i="0">
                <a:solidFill>
                  <a:srgbClr val="FFFFFF"/>
                </a:solidFill>
                <a:latin typeface="Calibri"/>
              </a:rPr>
              <a:t>  Résultat</a:t>
            </a:r>
          </a:p>
        </p:txBody>
      </p:sp>
      <p:sp>
        <p:nvSpPr>
          <p:cNvPr id="9" name="Rectangle 8"/>
          <p:cNvSpPr/>
          <p:nvPr/>
        </p:nvSpPr>
        <p:spPr>
          <a:xfrm>
            <a:off x="274320" y="932688"/>
            <a:ext cx="85953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932688"/>
            <a:ext cx="4160520" cy="420624"/>
          </a:xfrm>
          <a:prstGeom prst="rect">
            <a:avLst/>
          </a:prstGeom>
          <a:noFill/>
        </p:spPr>
        <p:txBody>
          <a:bodyPr wrap="square" lIns="45720" rIns="45720" tIns="18288" bIns="18288" anchor="ctr">
            <a:spAutoFit/>
          </a:bodyPr>
          <a:lstStyle/>
          <a:p>
            <a:pPr algn="l"/>
            <a:r>
              <a:rPr sz="900" b="0" i="0">
                <a:solidFill>
                  <a:srgbClr val="5D6D7E"/>
                </a:solidFill>
                <a:latin typeface="Calibri"/>
              </a:rPr>
              <a:t>Suite de tests, dépôt</a:t>
            </a:r>
          </a:p>
        </p:txBody>
      </p:sp>
      <p:sp>
        <p:nvSpPr>
          <p:cNvPr id="11" name="TextBox 10"/>
          <p:cNvSpPr txBox="1"/>
          <p:nvPr/>
        </p:nvSpPr>
        <p:spPr>
          <a:xfrm>
            <a:off x="4663440" y="932688"/>
            <a:ext cx="4160520" cy="420624"/>
          </a:xfrm>
          <a:prstGeom prst="rect">
            <a:avLst/>
          </a:prstGeom>
          <a:noFill/>
        </p:spPr>
        <p:txBody>
          <a:bodyPr wrap="square" lIns="45720" rIns="45720" tIns="18288" bIns="18288" anchor="ctr">
            <a:spAutoFit/>
          </a:bodyPr>
          <a:lstStyle/>
          <a:p>
            <a:pPr algn="l"/>
            <a:r>
              <a:rPr sz="900" b="1" i="0">
                <a:solidFill>
                  <a:srgbClr val="00748C"/>
                </a:solidFill>
                <a:latin typeface="Calibri"/>
              </a:rPr>
              <a:t>192 / 192</a:t>
            </a:r>
          </a:p>
        </p:txBody>
      </p:sp>
      <p:sp>
        <p:nvSpPr>
          <p:cNvPr id="12" name="Rectangle 11"/>
          <p:cNvSpPr/>
          <p:nvPr/>
        </p:nvSpPr>
        <p:spPr>
          <a:xfrm>
            <a:off x="274320" y="1353312"/>
            <a:ext cx="8595360" cy="420624"/>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353312"/>
            <a:ext cx="4160520" cy="420624"/>
          </a:xfrm>
          <a:prstGeom prst="rect">
            <a:avLst/>
          </a:prstGeom>
          <a:noFill/>
        </p:spPr>
        <p:txBody>
          <a:bodyPr wrap="square" lIns="45720" rIns="45720" tIns="18288" bIns="18288" anchor="ctr">
            <a:spAutoFit/>
          </a:bodyPr>
          <a:lstStyle/>
          <a:p>
            <a:pPr algn="l"/>
            <a:r>
              <a:rPr sz="900" b="0" i="0">
                <a:solidFill>
                  <a:srgbClr val="5D6D7E"/>
                </a:solidFill>
                <a:latin typeface="Calibri"/>
              </a:rPr>
              <a:t>Suite de tests, </a:t>
            </a:r>
            <a:r>
              <a:rPr sz="900" b="1" i="0">
                <a:solidFill>
                  <a:srgbClr val="2C3E50"/>
                </a:solidFill>
                <a:latin typeface="Calibri"/>
              </a:rPr>
              <a:t>depuis l'archive de soumission seule</a:t>
            </a:r>
          </a:p>
        </p:txBody>
      </p:sp>
      <p:sp>
        <p:nvSpPr>
          <p:cNvPr id="14" name="TextBox 13"/>
          <p:cNvSpPr txBox="1"/>
          <p:nvPr/>
        </p:nvSpPr>
        <p:spPr>
          <a:xfrm>
            <a:off x="4663440" y="1353312"/>
            <a:ext cx="4160520" cy="420624"/>
          </a:xfrm>
          <a:prstGeom prst="rect">
            <a:avLst/>
          </a:prstGeom>
          <a:noFill/>
        </p:spPr>
        <p:txBody>
          <a:bodyPr wrap="square" lIns="45720" rIns="45720" tIns="18288" bIns="18288" anchor="ctr">
            <a:spAutoFit/>
          </a:bodyPr>
          <a:lstStyle/>
          <a:p>
            <a:pPr algn="l"/>
            <a:r>
              <a:rPr sz="900" b="1" i="0">
                <a:solidFill>
                  <a:srgbClr val="00748C"/>
                </a:solidFill>
                <a:latin typeface="Calibri"/>
              </a:rPr>
              <a:t>173 passés, 15 sautés, 0 échec</a:t>
            </a:r>
          </a:p>
        </p:txBody>
      </p:sp>
      <p:sp>
        <p:nvSpPr>
          <p:cNvPr id="15" name="Rectangle 14"/>
          <p:cNvSpPr/>
          <p:nvPr/>
        </p:nvSpPr>
        <p:spPr>
          <a:xfrm>
            <a:off x="274320" y="1773936"/>
            <a:ext cx="85953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1773936"/>
            <a:ext cx="4160520" cy="420624"/>
          </a:xfrm>
          <a:prstGeom prst="rect">
            <a:avLst/>
          </a:prstGeom>
          <a:noFill/>
        </p:spPr>
        <p:txBody>
          <a:bodyPr wrap="square" lIns="45720" rIns="45720" tIns="18288" bIns="18288" anchor="ctr">
            <a:spAutoFit/>
          </a:bodyPr>
          <a:lstStyle/>
          <a:p>
            <a:pPr algn="l"/>
            <a:r>
              <a:rPr sz="900" b="0" i="0">
                <a:solidFill>
                  <a:srgbClr val="5D6D7E"/>
                </a:solidFill>
                <a:latin typeface="Calibri"/>
              </a:rPr>
              <a:t>Empreintes des résultats publiés</a:t>
            </a:r>
          </a:p>
        </p:txBody>
      </p:sp>
      <p:sp>
        <p:nvSpPr>
          <p:cNvPr id="17" name="TextBox 16"/>
          <p:cNvSpPr txBox="1"/>
          <p:nvPr/>
        </p:nvSpPr>
        <p:spPr>
          <a:xfrm>
            <a:off x="4663440" y="1773936"/>
            <a:ext cx="4160520" cy="420624"/>
          </a:xfrm>
          <a:prstGeom prst="rect">
            <a:avLst/>
          </a:prstGeom>
          <a:noFill/>
        </p:spPr>
        <p:txBody>
          <a:bodyPr wrap="square" lIns="45720" rIns="45720" tIns="18288" bIns="18288" anchor="ctr">
            <a:spAutoFit/>
          </a:bodyPr>
          <a:lstStyle/>
          <a:p>
            <a:pPr algn="l"/>
            <a:r>
              <a:rPr sz="900" b="1" i="0">
                <a:solidFill>
                  <a:srgbClr val="00748C"/>
                </a:solidFill>
                <a:latin typeface="Calibri"/>
              </a:rPr>
              <a:t>27 conformes, 7 écarts, tous déclarés et motivés</a:t>
            </a:r>
          </a:p>
        </p:txBody>
      </p:sp>
      <p:sp>
        <p:nvSpPr>
          <p:cNvPr id="18" name="Rectangle 17"/>
          <p:cNvSpPr/>
          <p:nvPr/>
        </p:nvSpPr>
        <p:spPr>
          <a:xfrm>
            <a:off x="274320" y="2194560"/>
            <a:ext cx="8595360" cy="420624"/>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2194560"/>
            <a:ext cx="4160520" cy="420624"/>
          </a:xfrm>
          <a:prstGeom prst="rect">
            <a:avLst/>
          </a:prstGeom>
          <a:noFill/>
        </p:spPr>
        <p:txBody>
          <a:bodyPr wrap="square" lIns="45720" rIns="45720" tIns="18288" bIns="18288" anchor="ctr">
            <a:spAutoFit/>
          </a:bodyPr>
          <a:lstStyle/>
          <a:p>
            <a:pPr algn="l"/>
            <a:r>
              <a:rPr sz="900" b="0" i="0">
                <a:solidFill>
                  <a:srgbClr val="5D6D7E"/>
                </a:solidFill>
                <a:latin typeface="Calibri"/>
              </a:rPr>
              <a:t>Compilation du manuscrit</a:t>
            </a:r>
          </a:p>
        </p:txBody>
      </p:sp>
      <p:sp>
        <p:nvSpPr>
          <p:cNvPr id="20" name="TextBox 19"/>
          <p:cNvSpPr txBox="1"/>
          <p:nvPr/>
        </p:nvSpPr>
        <p:spPr>
          <a:xfrm>
            <a:off x="4663440" y="2194560"/>
            <a:ext cx="4160520" cy="420624"/>
          </a:xfrm>
          <a:prstGeom prst="rect">
            <a:avLst/>
          </a:prstGeom>
          <a:noFill/>
        </p:spPr>
        <p:txBody>
          <a:bodyPr wrap="square" lIns="45720" rIns="45720" tIns="18288" bIns="18288" anchor="ctr">
            <a:spAutoFit/>
          </a:bodyPr>
          <a:lstStyle/>
          <a:p>
            <a:pPr algn="l"/>
            <a:r>
              <a:rPr sz="900" b="1" i="0">
                <a:solidFill>
                  <a:srgbClr val="00748C"/>
                </a:solidFill>
                <a:latin typeface="Calibri"/>
              </a:rPr>
              <a:t>64 pages</a:t>
            </a:r>
            <a:r>
              <a:rPr sz="900" b="0" i="0">
                <a:solidFill>
                  <a:srgbClr val="2C3E50"/>
                </a:solidFill>
                <a:latin typeface="Calibri"/>
              </a:rPr>
              <a:t>, zéro référence non résolue</a:t>
            </a:r>
          </a:p>
        </p:txBody>
      </p:sp>
      <p:sp>
        <p:nvSpPr>
          <p:cNvPr id="21" name="Rectangle 20"/>
          <p:cNvSpPr/>
          <p:nvPr/>
        </p:nvSpPr>
        <p:spPr>
          <a:xfrm>
            <a:off x="274320" y="2615184"/>
            <a:ext cx="85953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615184"/>
            <a:ext cx="4160520" cy="420624"/>
          </a:xfrm>
          <a:prstGeom prst="rect">
            <a:avLst/>
          </a:prstGeom>
          <a:noFill/>
        </p:spPr>
        <p:txBody>
          <a:bodyPr wrap="square" lIns="45720" rIns="45720" tIns="18288" bIns="18288" anchor="ctr">
            <a:spAutoFit/>
          </a:bodyPr>
          <a:lstStyle/>
          <a:p>
            <a:pPr algn="l"/>
            <a:r>
              <a:rPr sz="900" b="0" i="0">
                <a:solidFill>
                  <a:srgbClr val="5D6D7E"/>
                </a:solidFill>
                <a:latin typeface="Calibri"/>
              </a:rPr>
              <a:t>PDF reproductible à l'octet</a:t>
            </a:r>
          </a:p>
        </p:txBody>
      </p:sp>
      <p:sp>
        <p:nvSpPr>
          <p:cNvPr id="23" name="TextBox 22"/>
          <p:cNvSpPr txBox="1"/>
          <p:nvPr/>
        </p:nvSpPr>
        <p:spPr>
          <a:xfrm>
            <a:off x="4663440" y="2615184"/>
            <a:ext cx="4160520" cy="420624"/>
          </a:xfrm>
          <a:prstGeom prst="rect">
            <a:avLst/>
          </a:prstGeom>
          <a:noFill/>
        </p:spPr>
        <p:txBody>
          <a:bodyPr wrap="square" lIns="45720" rIns="45720" tIns="18288" bIns="18288" anchor="ctr">
            <a:spAutoFit/>
          </a:bodyPr>
          <a:lstStyle/>
          <a:p>
            <a:pPr algn="l"/>
            <a:r>
              <a:rPr sz="900" b="1" i="0">
                <a:solidFill>
                  <a:srgbClr val="00748C"/>
                </a:solidFill>
                <a:latin typeface="Calibri"/>
              </a:rPr>
              <a:t>Oui</a:t>
            </a:r>
            <a:r>
              <a:rPr sz="900" b="0" i="0">
                <a:solidFill>
                  <a:srgbClr val="2C3E50"/>
                </a:solidFill>
                <a:latin typeface="Calibri"/>
              </a:rPr>
              <a:t> — deux constructions indépendantes, même empreinte</a:t>
            </a:r>
          </a:p>
        </p:txBody>
      </p:sp>
      <p:sp>
        <p:nvSpPr>
          <p:cNvPr id="24" name="TextBox 23"/>
          <p:cNvSpPr txBox="1"/>
          <p:nvPr/>
        </p:nvSpPr>
        <p:spPr>
          <a:xfrm>
            <a:off x="274320" y="3200400"/>
            <a:ext cx="8595360" cy="822960"/>
          </a:xfrm>
          <a:prstGeom prst="rect">
            <a:avLst/>
          </a:prstGeom>
          <a:noFill/>
        </p:spPr>
        <p:txBody>
          <a:bodyPr wrap="square" lIns="45720" rIns="45720" tIns="18288" bIns="18288" anchor="t">
            <a:spAutoFit/>
          </a:bodyPr>
          <a:lstStyle/>
          <a:p>
            <a:pPr algn="l"/>
            <a:r>
              <a:rPr sz="900" b="0" i="0">
                <a:solidFill>
                  <a:srgbClr val="5D6D7E"/>
                </a:solidFill>
                <a:latin typeface="Calibri"/>
              </a:rPr>
              <a:t>•  L'archive de soumission </a:t>
            </a:r>
            <a:r>
              <a:rPr sz="900" b="1" i="0">
                <a:solidFill>
                  <a:srgbClr val="2C3E50"/>
                </a:solidFill>
                <a:latin typeface="Calibri"/>
              </a:rPr>
              <a:t>s'auto-vérifie</a:t>
            </a:r>
            <a:r>
              <a:rPr sz="900" b="0" i="0">
                <a:solidFill>
                  <a:srgbClr val="5D6D7E"/>
                </a:solidFill>
                <a:latin typeface="Calibri"/>
              </a:rPr>
              <a:t> : un évaluateur qui la décompresse fait tourner la suite et recompile le papier sans rien d'autre.</a:t>
            </a:r>
          </a:p>
          <a:p>
            <a:pPr algn="l"/>
            <a:r>
              <a:rPr sz="900" b="0" i="0">
                <a:solidFill>
                  <a:srgbClr val="5D6D7E"/>
                </a:solidFill>
                <a:latin typeface="Calibri"/>
              </a:rPr>
              <a:t>•  Les quinze tests sautés et leurs motifs sont expliqués dans le fichier d'accompagnement. Aucune zone d'ombre.</a:t>
            </a:r>
          </a:p>
          <a:p>
            <a:pPr algn="l"/>
            <a:r>
              <a:rPr sz="900" b="0" i="0">
                <a:solidFill>
                  <a:srgbClr val="5D6D7E"/>
                </a:solidFill>
                <a:latin typeface="Calibri"/>
              </a:rPr>
              <a:t>•  Chaque nombre du manuscrit est tracé jusqu'au fichier de résultat qui le porte.</a:t>
            </a:r>
          </a:p>
        </p:txBody>
      </p:sp>
      <p:sp>
        <p:nvSpPr>
          <p:cNvPr id="25" name="Rectangle 24"/>
          <p:cNvSpPr/>
          <p:nvPr/>
        </p:nvSpPr>
        <p:spPr>
          <a:xfrm>
            <a:off x="274320" y="4434840"/>
            <a:ext cx="8595360" cy="246888"/>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 y="4434840"/>
            <a:ext cx="8595360" cy="246888"/>
          </a:xfrm>
          <a:prstGeom prst="rect">
            <a:avLst/>
          </a:prstGeom>
          <a:noFill/>
        </p:spPr>
        <p:txBody>
          <a:bodyPr wrap="square" lIns="45720" rIns="45720" tIns="18288" bIns="18288" anchor="ctr">
            <a:spAutoFit/>
          </a:bodyPr>
          <a:lstStyle/>
          <a:p>
            <a:pPr algn="ctr"/>
            <a:r>
              <a:rPr sz="900" b="1" i="0">
                <a:solidFill>
                  <a:srgbClr val="E08000"/>
                </a:solidFill>
                <a:latin typeface="Calibri"/>
              </a:rPr>
              <a:t>★ C'est le point fort du dossier auprès d'une revue : le paquet de reproductibilité se vérifie tout seul.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371600"/>
            <a:ext cx="9144000" cy="237744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691640"/>
            <a:ext cx="1371600" cy="137160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91640"/>
            <a:ext cx="1371600" cy="1371600"/>
          </a:xfrm>
          <a:prstGeom prst="rect">
            <a:avLst/>
          </a:prstGeom>
          <a:noFill/>
        </p:spPr>
        <p:txBody>
          <a:bodyPr wrap="square" lIns="45720" rIns="45720" tIns="18288" bIns="18288" anchor="ctr">
            <a:spAutoFit/>
          </a:bodyPr>
          <a:lstStyle/>
          <a:p>
            <a:pPr algn="ctr"/>
            <a:r>
              <a:rPr sz="4200" b="1" i="0">
                <a:solidFill>
                  <a:srgbClr val="FFFFFF"/>
                </a:solidFill>
                <a:latin typeface="Calibri"/>
              </a:rPr>
              <a:t>E</a:t>
            </a:r>
          </a:p>
        </p:txBody>
      </p:sp>
      <p:sp>
        <p:nvSpPr>
          <p:cNvPr id="5" name="TextBox 4"/>
          <p:cNvSpPr txBox="1"/>
          <p:nvPr/>
        </p:nvSpPr>
        <p:spPr>
          <a:xfrm>
            <a:off x="2926080" y="1874519"/>
            <a:ext cx="5486400" cy="548640"/>
          </a:xfrm>
          <a:prstGeom prst="rect">
            <a:avLst/>
          </a:prstGeom>
          <a:noFill/>
        </p:spPr>
        <p:txBody>
          <a:bodyPr wrap="square" lIns="45720" rIns="45720" tIns="18288" bIns="18288" anchor="t">
            <a:spAutoFit/>
          </a:bodyPr>
          <a:lstStyle/>
          <a:p>
            <a:pPr algn="l"/>
            <a:r>
              <a:rPr sz="2600" b="1" i="0">
                <a:solidFill>
                  <a:srgbClr val="FFFFFF"/>
                </a:solidFill>
                <a:latin typeface="Calibri"/>
              </a:rPr>
              <a:t>Publication</a:t>
            </a:r>
          </a:p>
        </p:txBody>
      </p:sp>
      <p:sp>
        <p:nvSpPr>
          <p:cNvPr id="6" name="TextBox 5"/>
          <p:cNvSpPr txBox="1"/>
          <p:nvPr/>
        </p:nvSpPr>
        <p:spPr>
          <a:xfrm>
            <a:off x="2926080" y="2697480"/>
            <a:ext cx="5486400" cy="731520"/>
          </a:xfrm>
          <a:prstGeom prst="rect">
            <a:avLst/>
          </a:prstGeom>
          <a:noFill/>
        </p:spPr>
        <p:txBody>
          <a:bodyPr wrap="square" lIns="45720" rIns="45720" tIns="18288" bIns="18288" anchor="t">
            <a:spAutoFit/>
          </a:bodyPr>
          <a:lstStyle/>
          <a:p>
            <a:pPr algn="l"/>
            <a:r>
              <a:rPr sz="1200" b="0" i="0">
                <a:solidFill>
                  <a:srgbClr val="D5DBDB"/>
                </a:solidFill>
                <a:latin typeface="Calibri"/>
              </a:rPr>
              <a:t>Revue cible, et solutions de repli</a:t>
            </a:r>
          </a:p>
        </p:txBody>
      </p:sp>
      <p:sp>
        <p:nvSpPr>
          <p:cNvPr id="7" name="TextBox 6"/>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Revue cible et candidats de repli</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24</a:t>
            </a:r>
          </a:p>
        </p:txBody>
      </p:sp>
      <p:sp>
        <p:nvSpPr>
          <p:cNvPr id="5" name="Rectangle 4"/>
          <p:cNvSpPr/>
          <p:nvPr/>
        </p:nvSpPr>
        <p:spPr>
          <a:xfrm>
            <a:off x="274320" y="603504"/>
            <a:ext cx="8595360" cy="1517904"/>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603504"/>
            <a:ext cx="45720" cy="1517904"/>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40080"/>
            <a:ext cx="8366760" cy="219456"/>
          </a:xfrm>
          <a:prstGeom prst="rect">
            <a:avLst/>
          </a:prstGeom>
          <a:noFill/>
        </p:spPr>
        <p:txBody>
          <a:bodyPr wrap="square" lIns="45720" rIns="45720" tIns="18288" bIns="18288" anchor="t">
            <a:spAutoFit/>
          </a:bodyPr>
          <a:lstStyle/>
          <a:p>
            <a:pPr algn="l"/>
            <a:r>
              <a:rPr sz="1000" b="1" i="0">
                <a:solidFill>
                  <a:srgbClr val="E08000"/>
                </a:solidFill>
                <a:latin typeface="Calibri"/>
              </a:rPr>
              <a:t>Cible retenue : Machine Learning (Springer), par le Journal Track d'ECML PKDD.</a:t>
            </a:r>
          </a:p>
        </p:txBody>
      </p:sp>
      <p:sp>
        <p:nvSpPr>
          <p:cNvPr id="8" name="TextBox 7"/>
          <p:cNvSpPr txBox="1"/>
          <p:nvPr/>
        </p:nvSpPr>
        <p:spPr>
          <a:xfrm>
            <a:off x="411480" y="859536"/>
            <a:ext cx="8366760" cy="182880"/>
          </a:xfrm>
          <a:prstGeom prst="rect">
            <a:avLst/>
          </a:prstGeom>
          <a:noFill/>
        </p:spPr>
        <p:txBody>
          <a:bodyPr wrap="square" lIns="45720" rIns="45720" tIns="18288" bIns="18288" anchor="t">
            <a:spAutoFit/>
          </a:bodyPr>
          <a:lstStyle/>
          <a:p>
            <a:pPr algn="l"/>
            <a:r>
              <a:rPr sz="850" b="0" i="1">
                <a:solidFill>
                  <a:srgbClr val="5D6D7E"/>
                </a:solidFill>
                <a:latin typeface="Calibri"/>
              </a:rPr>
              <a:t>Quatre raisons, dans l'ordre de poids.</a:t>
            </a:r>
          </a:p>
        </p:txBody>
      </p:sp>
      <p:sp>
        <p:nvSpPr>
          <p:cNvPr id="9" name="TextBox 8"/>
          <p:cNvSpPr txBox="1"/>
          <p:nvPr/>
        </p:nvSpPr>
        <p:spPr>
          <a:xfrm>
            <a:off x="411480" y="1060704"/>
            <a:ext cx="8366760" cy="1005840"/>
          </a:xfrm>
          <a:prstGeom prst="rect">
            <a:avLst/>
          </a:prstGeom>
          <a:noFill/>
        </p:spPr>
        <p:txBody>
          <a:bodyPr wrap="square" lIns="45720" rIns="45720" tIns="18288" bIns="18288" anchor="t">
            <a:spAutoFit/>
          </a:bodyPr>
          <a:lstStyle/>
          <a:p>
            <a:pPr algn="l"/>
            <a:r>
              <a:rPr sz="800" b="0" i="0">
                <a:solidFill>
                  <a:srgbClr val="5D6D7E"/>
                </a:solidFill>
                <a:latin typeface="Calibri"/>
              </a:rPr>
              <a:t>•  </a:t>
            </a:r>
            <a:r>
              <a:rPr sz="800" b="1" i="0">
                <a:solidFill>
                  <a:srgbClr val="2C3E50"/>
                </a:solidFill>
                <a:latin typeface="Calibri"/>
              </a:rPr>
              <a:t>L'algorithme au cœur de l'article y a été publié</a:t>
            </a:r>
            <a:r>
              <a:rPr sz="800" b="0" i="0">
                <a:solidFill>
                  <a:srgbClr val="5D6D7E"/>
                </a:solidFill>
                <a:latin typeface="Calibri"/>
              </a:rPr>
              <a:t> — la forêt adaptative étudiée, Gomes, Bifet, Read et al., Machine Learning 106, 2017. Même revue, même objet, lectorat déjà acquis.  </a:t>
            </a:r>
            <a:r>
              <a:rPr sz="800" b="0" i="0" u="sng">
                <a:solidFill>
                  <a:srgbClr val="2980B9"/>
                </a:solidFill>
                <a:latin typeface="Calibri"/>
              </a:rPr>
              <a:t>https://doi.org/10.1007/s10994-017-5642-8</a:t>
            </a:r>
          </a:p>
          <a:p>
            <a:pPr algn="l"/>
            <a:r>
              <a:rPr sz="800" b="0" i="0">
                <a:solidFill>
                  <a:srgbClr val="5D6D7E"/>
                </a:solidFill>
                <a:latin typeface="Calibri"/>
              </a:rPr>
              <a:t>•  </a:t>
            </a:r>
            <a:r>
              <a:rPr sz="800" b="1" i="0">
                <a:solidFill>
                  <a:srgbClr val="2C3E50"/>
                </a:solidFill>
                <a:latin typeface="Calibri"/>
              </a:rPr>
              <a:t>Pas de limite de pages.</a:t>
            </a:r>
            <a:r>
              <a:rPr sz="800" b="0" i="0">
                <a:solidFill>
                  <a:srgbClr val="5D6D7E"/>
                </a:solidFill>
                <a:latin typeface="Calibri"/>
              </a:rPr>
              <a:t> Soixante-quatre pages avec annexes de preuve : aucun format court n'absorbe ce volume.</a:t>
            </a:r>
          </a:p>
          <a:p>
            <a:pPr algn="l"/>
            <a:r>
              <a:rPr sz="800" b="0" i="0">
                <a:solidFill>
                  <a:srgbClr val="5D6D7E"/>
                </a:solidFill>
                <a:latin typeface="Calibri"/>
              </a:rPr>
              <a:t>•  </a:t>
            </a:r>
            <a:r>
              <a:rPr sz="800" b="1" i="0">
                <a:solidFill>
                  <a:srgbClr val="2C3E50"/>
                </a:solidFill>
                <a:latin typeface="Calibri"/>
              </a:rPr>
              <a:t>Soumission continue</a:t>
            </a:r>
            <a:r>
              <a:rPr sz="800" b="0" i="0">
                <a:solidFill>
                  <a:srgbClr val="5D6D7E"/>
                </a:solidFill>
                <a:latin typeface="Calibri"/>
              </a:rPr>
              <a:t>, jalonnée par des dates de coupure, avec présentation en conférence en cas d'acceptation. Pas d'attente d'un cycle annuel.</a:t>
            </a:r>
          </a:p>
          <a:p>
            <a:pPr algn="l"/>
            <a:r>
              <a:rPr sz="800" b="0" i="0">
                <a:solidFill>
                  <a:srgbClr val="5D6D7E"/>
                </a:solidFill>
                <a:latin typeface="Calibri"/>
              </a:rPr>
              <a:t>•  </a:t>
            </a:r>
            <a:r>
              <a:rPr sz="800" b="1" i="0">
                <a:solidFill>
                  <a:srgbClr val="2C3E50"/>
                </a:solidFill>
                <a:latin typeface="Calibri"/>
              </a:rPr>
              <a:t>Simple aveugle</a:t>
            </a:r>
            <a:r>
              <a:rPr sz="800" b="0" i="0">
                <a:solidFill>
                  <a:srgbClr val="5D6D7E"/>
                </a:solidFill>
                <a:latin typeface="Calibri"/>
              </a:rPr>
              <a:t>, révisions complètes plutôt qu'une réfutation d'une page. Un dossier qui a changé de thèse quatre fois a besoin d'un échange, pas d'un verdict.  </a:t>
            </a:r>
            <a:r>
              <a:rPr sz="800" b="0" i="0" u="sng">
                <a:solidFill>
                  <a:srgbClr val="2980B9"/>
                </a:solidFill>
                <a:latin typeface="Calibri"/>
              </a:rPr>
              <a:t>https://ecmlpkdd.org/ — Journal Track</a:t>
            </a:r>
          </a:p>
        </p:txBody>
      </p:sp>
      <p:sp>
        <p:nvSpPr>
          <p:cNvPr id="10" name="Rectangle 9"/>
          <p:cNvSpPr/>
          <p:nvPr/>
        </p:nvSpPr>
        <p:spPr>
          <a:xfrm>
            <a:off x="274320" y="2212848"/>
            <a:ext cx="1371600" cy="237744"/>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2212848"/>
            <a:ext cx="1371600" cy="237744"/>
          </a:xfrm>
          <a:prstGeom prst="rect">
            <a:avLst/>
          </a:prstGeom>
          <a:noFill/>
        </p:spPr>
        <p:txBody>
          <a:bodyPr wrap="square" lIns="45720" rIns="45720" tIns="18288" bIns="18288" anchor="ctr">
            <a:spAutoFit/>
          </a:bodyPr>
          <a:lstStyle/>
          <a:p>
            <a:pPr algn="l"/>
            <a:r>
              <a:rPr sz="700" b="1" i="0">
                <a:solidFill>
                  <a:srgbClr val="FFFFFF"/>
                </a:solidFill>
                <a:latin typeface="Calibri"/>
              </a:rPr>
              <a:t>Conférence</a:t>
            </a:r>
          </a:p>
        </p:txBody>
      </p:sp>
      <p:sp>
        <p:nvSpPr>
          <p:cNvPr id="12" name="Rectangle 11"/>
          <p:cNvSpPr/>
          <p:nvPr/>
        </p:nvSpPr>
        <p:spPr>
          <a:xfrm>
            <a:off x="1645920" y="2212848"/>
            <a:ext cx="365760" cy="237744"/>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5920" y="2212848"/>
            <a:ext cx="365760" cy="237744"/>
          </a:xfrm>
          <a:prstGeom prst="rect">
            <a:avLst/>
          </a:prstGeom>
          <a:noFill/>
        </p:spPr>
        <p:txBody>
          <a:bodyPr wrap="square" lIns="45720" rIns="45720" tIns="18288" bIns="18288" anchor="ctr">
            <a:spAutoFit/>
          </a:bodyPr>
          <a:lstStyle/>
          <a:p>
            <a:pPr algn="ctr"/>
            <a:r>
              <a:rPr sz="700" b="1" i="0">
                <a:solidFill>
                  <a:srgbClr val="FFFFFF"/>
                </a:solidFill>
                <a:latin typeface="Calibri"/>
              </a:rPr>
              <a:t>Rang</a:t>
            </a:r>
          </a:p>
        </p:txBody>
      </p:sp>
      <p:sp>
        <p:nvSpPr>
          <p:cNvPr id="14" name="Rectangle 13"/>
          <p:cNvSpPr/>
          <p:nvPr/>
        </p:nvSpPr>
        <p:spPr>
          <a:xfrm>
            <a:off x="2011680" y="2212848"/>
            <a:ext cx="932688" cy="237744"/>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11680" y="2212848"/>
            <a:ext cx="932688" cy="237744"/>
          </a:xfrm>
          <a:prstGeom prst="rect">
            <a:avLst/>
          </a:prstGeom>
          <a:noFill/>
        </p:spPr>
        <p:txBody>
          <a:bodyPr wrap="square" lIns="45720" rIns="45720" tIns="18288" bIns="18288" anchor="ctr">
            <a:spAutoFit/>
          </a:bodyPr>
          <a:lstStyle/>
          <a:p>
            <a:pPr algn="l"/>
            <a:r>
              <a:rPr sz="700" b="1" i="0">
                <a:solidFill>
                  <a:srgbClr val="FFFFFF"/>
                </a:solidFill>
                <a:latin typeface="Calibri"/>
              </a:rPr>
              <a:t>Deadline</a:t>
            </a:r>
          </a:p>
        </p:txBody>
      </p:sp>
      <p:sp>
        <p:nvSpPr>
          <p:cNvPr id="16" name="Rectangle 15"/>
          <p:cNvSpPr/>
          <p:nvPr/>
        </p:nvSpPr>
        <p:spPr>
          <a:xfrm>
            <a:off x="2944368" y="2212848"/>
            <a:ext cx="640080" cy="237744"/>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44368" y="2212848"/>
            <a:ext cx="640080" cy="237744"/>
          </a:xfrm>
          <a:prstGeom prst="rect">
            <a:avLst/>
          </a:prstGeom>
          <a:noFill/>
        </p:spPr>
        <p:txBody>
          <a:bodyPr wrap="square" lIns="45720" rIns="45720" tIns="18288" bIns="18288" anchor="ctr">
            <a:spAutoFit/>
          </a:bodyPr>
          <a:lstStyle/>
          <a:p>
            <a:pPr algn="ctr"/>
            <a:r>
              <a:rPr sz="700" b="1" i="0">
                <a:solidFill>
                  <a:srgbClr val="FFFFFF"/>
                </a:solidFill>
                <a:latin typeface="Calibri"/>
              </a:rPr>
              <a:t>Sélect.</a:t>
            </a:r>
          </a:p>
        </p:txBody>
      </p:sp>
      <p:sp>
        <p:nvSpPr>
          <p:cNvPr id="18" name="Rectangle 17"/>
          <p:cNvSpPr/>
          <p:nvPr/>
        </p:nvSpPr>
        <p:spPr>
          <a:xfrm>
            <a:off x="3584448" y="2212848"/>
            <a:ext cx="1389888" cy="237744"/>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84448" y="2212848"/>
            <a:ext cx="1389888" cy="237744"/>
          </a:xfrm>
          <a:prstGeom prst="rect">
            <a:avLst/>
          </a:prstGeom>
          <a:noFill/>
        </p:spPr>
        <p:txBody>
          <a:bodyPr wrap="square" lIns="45720" rIns="45720" tIns="18288" bIns="18288" anchor="ctr">
            <a:spAutoFit/>
          </a:bodyPr>
          <a:lstStyle/>
          <a:p>
            <a:pPr algn="l"/>
            <a:r>
              <a:rPr sz="700" b="1" i="0">
                <a:solidFill>
                  <a:srgbClr val="FFFFFF"/>
                </a:solidFill>
                <a:latin typeface="Calibri"/>
              </a:rPr>
              <a:t>Format manuscrit</a:t>
            </a:r>
          </a:p>
        </p:txBody>
      </p:sp>
      <p:sp>
        <p:nvSpPr>
          <p:cNvPr id="20" name="Rectangle 19"/>
          <p:cNvSpPr/>
          <p:nvPr/>
        </p:nvSpPr>
        <p:spPr>
          <a:xfrm>
            <a:off x="4974336" y="2212848"/>
            <a:ext cx="713232" cy="237744"/>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74336" y="2212848"/>
            <a:ext cx="713232" cy="237744"/>
          </a:xfrm>
          <a:prstGeom prst="rect">
            <a:avLst/>
          </a:prstGeom>
          <a:noFill/>
        </p:spPr>
        <p:txBody>
          <a:bodyPr wrap="square" lIns="45720" rIns="45720" tIns="18288" bIns="18288" anchor="ctr">
            <a:spAutoFit/>
          </a:bodyPr>
          <a:lstStyle/>
          <a:p>
            <a:pPr algn="ctr"/>
            <a:r>
              <a:rPr sz="700" b="1" i="0">
                <a:solidFill>
                  <a:srgbClr val="FFFFFF"/>
                </a:solidFill>
                <a:latin typeface="Calibri"/>
              </a:rPr>
              <a:t>Présentation</a:t>
            </a:r>
          </a:p>
        </p:txBody>
      </p:sp>
      <p:sp>
        <p:nvSpPr>
          <p:cNvPr id="22" name="Rectangle 21"/>
          <p:cNvSpPr/>
          <p:nvPr/>
        </p:nvSpPr>
        <p:spPr>
          <a:xfrm>
            <a:off x="5687568" y="2212848"/>
            <a:ext cx="658368" cy="237744"/>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87568" y="2212848"/>
            <a:ext cx="658368" cy="237744"/>
          </a:xfrm>
          <a:prstGeom prst="rect">
            <a:avLst/>
          </a:prstGeom>
          <a:noFill/>
        </p:spPr>
        <p:txBody>
          <a:bodyPr wrap="square" lIns="45720" rIns="45720" tIns="18288" bIns="18288" anchor="ctr">
            <a:spAutoFit/>
          </a:bodyPr>
          <a:lstStyle/>
          <a:p>
            <a:pPr algn="ctr"/>
            <a:r>
              <a:rPr sz="700" b="1" i="0">
                <a:solidFill>
                  <a:srgbClr val="FFFFFF"/>
                </a:solidFill>
                <a:latin typeface="Calibri"/>
              </a:rPr>
              <a:t>Rebuttal</a:t>
            </a:r>
          </a:p>
        </p:txBody>
      </p:sp>
      <p:sp>
        <p:nvSpPr>
          <p:cNvPr id="24" name="Rectangle 23"/>
          <p:cNvSpPr/>
          <p:nvPr/>
        </p:nvSpPr>
        <p:spPr>
          <a:xfrm>
            <a:off x="6345936" y="2212848"/>
            <a:ext cx="475488" cy="237744"/>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45936" y="2212848"/>
            <a:ext cx="475488" cy="237744"/>
          </a:xfrm>
          <a:prstGeom prst="rect">
            <a:avLst/>
          </a:prstGeom>
          <a:noFill/>
        </p:spPr>
        <p:txBody>
          <a:bodyPr wrap="square" lIns="45720" rIns="45720" tIns="18288" bIns="18288" anchor="ctr">
            <a:spAutoFit/>
          </a:bodyPr>
          <a:lstStyle/>
          <a:p>
            <a:pPr algn="ctr"/>
            <a:r>
              <a:rPr sz="700" b="1" i="0">
                <a:solidFill>
                  <a:srgbClr val="FFFFFF"/>
                </a:solidFill>
                <a:latin typeface="Calibri"/>
              </a:rPr>
              <a:t>Adéq.</a:t>
            </a:r>
          </a:p>
        </p:txBody>
      </p:sp>
      <p:sp>
        <p:nvSpPr>
          <p:cNvPr id="26" name="Rectangle 25"/>
          <p:cNvSpPr/>
          <p:nvPr/>
        </p:nvSpPr>
        <p:spPr>
          <a:xfrm>
            <a:off x="6821424" y="2212848"/>
            <a:ext cx="475488" cy="237744"/>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2212848"/>
            <a:ext cx="475488" cy="237744"/>
          </a:xfrm>
          <a:prstGeom prst="rect">
            <a:avLst/>
          </a:prstGeom>
          <a:noFill/>
        </p:spPr>
        <p:txBody>
          <a:bodyPr wrap="square" lIns="45720" rIns="45720" tIns="18288" bIns="18288" anchor="ctr">
            <a:spAutoFit/>
          </a:bodyPr>
          <a:lstStyle/>
          <a:p>
            <a:pPr algn="ctr"/>
            <a:r>
              <a:rPr sz="700" b="1" i="0">
                <a:solidFill>
                  <a:srgbClr val="FFFFFF"/>
                </a:solidFill>
                <a:latin typeface="Calibri"/>
              </a:rPr>
              <a:t>Prio</a:t>
            </a:r>
          </a:p>
        </p:txBody>
      </p:sp>
      <p:sp>
        <p:nvSpPr>
          <p:cNvPr id="28" name="Rectangle 27"/>
          <p:cNvSpPr/>
          <p:nvPr/>
        </p:nvSpPr>
        <p:spPr>
          <a:xfrm>
            <a:off x="7296912" y="2212848"/>
            <a:ext cx="1572768" cy="237744"/>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96912" y="2212848"/>
            <a:ext cx="1572768" cy="237744"/>
          </a:xfrm>
          <a:prstGeom prst="rect">
            <a:avLst/>
          </a:prstGeom>
          <a:noFill/>
        </p:spPr>
        <p:txBody>
          <a:bodyPr wrap="square" lIns="45720" rIns="45720" tIns="18288" bIns="18288" anchor="ctr">
            <a:spAutoFit/>
          </a:bodyPr>
          <a:lstStyle/>
          <a:p>
            <a:pPr algn="l"/>
            <a:r>
              <a:rPr sz="700" b="1" i="0">
                <a:solidFill>
                  <a:srgbClr val="FFFFFF"/>
                </a:solidFill>
                <a:latin typeface="Calibri"/>
              </a:rPr>
              <a:t>Commentaire</a:t>
            </a:r>
          </a:p>
        </p:txBody>
      </p:sp>
      <p:sp>
        <p:nvSpPr>
          <p:cNvPr id="30" name="Rectangle 29"/>
          <p:cNvSpPr/>
          <p:nvPr/>
        </p:nvSpPr>
        <p:spPr>
          <a:xfrm>
            <a:off x="274320" y="2450592"/>
            <a:ext cx="8595360" cy="246888"/>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74320" y="2450592"/>
            <a:ext cx="36576" cy="24688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1751" y="2450592"/>
            <a:ext cx="1316736" cy="246888"/>
          </a:xfrm>
          <a:prstGeom prst="rect">
            <a:avLst/>
          </a:prstGeom>
          <a:noFill/>
        </p:spPr>
        <p:txBody>
          <a:bodyPr wrap="square" lIns="45720" rIns="45720" tIns="18288" bIns="18288" anchor="ctr">
            <a:spAutoFit/>
          </a:bodyPr>
          <a:lstStyle/>
          <a:p>
            <a:pPr algn="l"/>
            <a:r>
              <a:rPr sz="700" b="0" i="0">
                <a:solidFill>
                  <a:srgbClr val="2C3E50"/>
                </a:solidFill>
                <a:latin typeface="Calibri"/>
              </a:rPr>
              <a:t>ECML PKDD 2027 — Journal Track (MLJ)</a:t>
            </a:r>
          </a:p>
        </p:txBody>
      </p:sp>
      <p:sp>
        <p:nvSpPr>
          <p:cNvPr id="33" name="TextBox 32"/>
          <p:cNvSpPr txBox="1"/>
          <p:nvPr/>
        </p:nvSpPr>
        <p:spPr>
          <a:xfrm>
            <a:off x="1673352" y="2450592"/>
            <a:ext cx="310896"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a:t>
            </a:r>
          </a:p>
        </p:txBody>
      </p:sp>
      <p:sp>
        <p:nvSpPr>
          <p:cNvPr id="34" name="TextBox 33"/>
          <p:cNvSpPr txBox="1"/>
          <p:nvPr/>
        </p:nvSpPr>
        <p:spPr>
          <a:xfrm>
            <a:off x="2039112" y="2450592"/>
            <a:ext cx="877824" cy="246888"/>
          </a:xfrm>
          <a:prstGeom prst="rect">
            <a:avLst/>
          </a:prstGeom>
          <a:noFill/>
        </p:spPr>
        <p:txBody>
          <a:bodyPr wrap="square" lIns="45720" rIns="45720" tIns="18288" bIns="18288" anchor="ctr">
            <a:spAutoFit/>
          </a:bodyPr>
          <a:lstStyle/>
          <a:p>
            <a:pPr algn="l"/>
            <a:r>
              <a:rPr sz="700" b="0" i="0">
                <a:solidFill>
                  <a:srgbClr val="2C3E50"/>
                </a:solidFill>
                <a:latin typeface="Calibri"/>
              </a:rPr>
              <a:t>≈30 oct. 26 / ≈15 janv. 27 °</a:t>
            </a:r>
          </a:p>
        </p:txBody>
      </p:sp>
      <p:sp>
        <p:nvSpPr>
          <p:cNvPr id="35" name="TextBox 34"/>
          <p:cNvSpPr txBox="1"/>
          <p:nvPr/>
        </p:nvSpPr>
        <p:spPr>
          <a:xfrm>
            <a:off x="2971800" y="2450592"/>
            <a:ext cx="585215" cy="246888"/>
          </a:xfrm>
          <a:prstGeom prst="rect">
            <a:avLst/>
          </a:prstGeom>
          <a:noFill/>
        </p:spPr>
        <p:txBody>
          <a:bodyPr wrap="square" lIns="45720" rIns="45720" tIns="18288" bIns="18288" anchor="ctr">
            <a:spAutoFit/>
          </a:bodyPr>
          <a:lstStyle/>
          <a:p>
            <a:pPr algn="ctr"/>
            <a:r>
              <a:rPr sz="700" b="0" i="0">
                <a:solidFill>
                  <a:srgbClr val="2C3E50"/>
                </a:solidFill>
                <a:latin typeface="Calibri"/>
              </a:rPr>
              <a:t>n.c. (revue)</a:t>
            </a:r>
          </a:p>
        </p:txBody>
      </p:sp>
      <p:sp>
        <p:nvSpPr>
          <p:cNvPr id="36" name="TextBox 35"/>
          <p:cNvSpPr txBox="1"/>
          <p:nvPr/>
        </p:nvSpPr>
        <p:spPr>
          <a:xfrm>
            <a:off x="3611879" y="2450592"/>
            <a:ext cx="1335024" cy="246888"/>
          </a:xfrm>
          <a:prstGeom prst="rect">
            <a:avLst/>
          </a:prstGeom>
          <a:noFill/>
        </p:spPr>
        <p:txBody>
          <a:bodyPr wrap="square" lIns="45720" rIns="45720" tIns="18288" bIns="18288" anchor="ctr">
            <a:spAutoFit/>
          </a:bodyPr>
          <a:lstStyle/>
          <a:p>
            <a:pPr algn="l"/>
            <a:r>
              <a:rPr sz="700" b="0" i="0">
                <a:solidFill>
                  <a:srgbClr val="2C3E50"/>
                </a:solidFill>
                <a:latin typeface="Calibri"/>
              </a:rPr>
              <a:t>Springer MLJ, sans limite ; annexes illim.</a:t>
            </a:r>
          </a:p>
        </p:txBody>
      </p:sp>
      <p:sp>
        <p:nvSpPr>
          <p:cNvPr id="37" name="TextBox 36"/>
          <p:cNvSpPr txBox="1"/>
          <p:nvPr/>
        </p:nvSpPr>
        <p:spPr>
          <a:xfrm>
            <a:off x="5001768" y="2450592"/>
            <a:ext cx="658368" cy="246888"/>
          </a:xfrm>
          <a:prstGeom prst="rect">
            <a:avLst/>
          </a:prstGeom>
          <a:noFill/>
        </p:spPr>
        <p:txBody>
          <a:bodyPr wrap="square" lIns="45720" rIns="45720" tIns="18288" bIns="18288" anchor="ctr">
            <a:spAutoFit/>
          </a:bodyPr>
          <a:lstStyle/>
          <a:p>
            <a:pPr algn="ctr"/>
            <a:r>
              <a:rPr sz="700" b="0" i="0">
                <a:solidFill>
                  <a:srgbClr val="2C3E50"/>
                </a:solidFill>
                <a:latin typeface="Calibri"/>
              </a:rPr>
              <a:t>Exposé conf.</a:t>
            </a:r>
          </a:p>
        </p:txBody>
      </p:sp>
      <p:sp>
        <p:nvSpPr>
          <p:cNvPr id="38" name="TextBox 37"/>
          <p:cNvSpPr txBox="1"/>
          <p:nvPr/>
        </p:nvSpPr>
        <p:spPr>
          <a:xfrm>
            <a:off x="5715000" y="2450592"/>
            <a:ext cx="603503" cy="246888"/>
          </a:xfrm>
          <a:prstGeom prst="rect">
            <a:avLst/>
          </a:prstGeom>
          <a:noFill/>
        </p:spPr>
        <p:txBody>
          <a:bodyPr wrap="square" lIns="45720" rIns="45720" tIns="18288" bIns="18288" anchor="ctr">
            <a:spAutoFit/>
          </a:bodyPr>
          <a:lstStyle/>
          <a:p>
            <a:pPr algn="ctr"/>
            <a:r>
              <a:rPr sz="700" b="0" i="0">
                <a:solidFill>
                  <a:srgbClr val="2C3E50"/>
                </a:solidFill>
                <a:latin typeface="Calibri"/>
              </a:rPr>
              <a:t>Révisions complètes</a:t>
            </a:r>
          </a:p>
        </p:txBody>
      </p:sp>
      <p:sp>
        <p:nvSpPr>
          <p:cNvPr id="39" name="TextBox 38"/>
          <p:cNvSpPr txBox="1"/>
          <p:nvPr/>
        </p:nvSpPr>
        <p:spPr>
          <a:xfrm>
            <a:off x="6373368" y="2450592"/>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40" name="TextBox 39"/>
          <p:cNvSpPr txBox="1"/>
          <p:nvPr/>
        </p:nvSpPr>
        <p:spPr>
          <a:xfrm>
            <a:off x="6848856" y="2450592"/>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41" name="TextBox 40"/>
          <p:cNvSpPr txBox="1"/>
          <p:nvPr/>
        </p:nvSpPr>
        <p:spPr>
          <a:xfrm>
            <a:off x="7324344" y="2450592"/>
            <a:ext cx="1517904" cy="246888"/>
          </a:xfrm>
          <a:prstGeom prst="rect">
            <a:avLst/>
          </a:prstGeom>
          <a:noFill/>
        </p:spPr>
        <p:txBody>
          <a:bodyPr wrap="square" lIns="45720" rIns="45720" tIns="18288" bIns="18288" anchor="ctr">
            <a:spAutoFit/>
          </a:bodyPr>
          <a:lstStyle/>
          <a:p>
            <a:pPr algn="l"/>
            <a:r>
              <a:rPr sz="700" b="1" i="0">
                <a:solidFill>
                  <a:srgbClr val="E08000"/>
                </a:solidFill>
                <a:latin typeface="Calibri"/>
              </a:rPr>
              <a:t>Cible retenue</a:t>
            </a:r>
          </a:p>
        </p:txBody>
      </p:sp>
      <p:sp>
        <p:nvSpPr>
          <p:cNvPr id="42" name="Rectangle 41"/>
          <p:cNvSpPr/>
          <p:nvPr/>
        </p:nvSpPr>
        <p:spPr>
          <a:xfrm>
            <a:off x="274320" y="2697480"/>
            <a:ext cx="8595360" cy="246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01751" y="2697480"/>
            <a:ext cx="1316736" cy="246888"/>
          </a:xfrm>
          <a:prstGeom prst="rect">
            <a:avLst/>
          </a:prstGeom>
          <a:noFill/>
        </p:spPr>
        <p:txBody>
          <a:bodyPr wrap="square" lIns="45720" rIns="45720" tIns="18288" bIns="18288" anchor="ctr">
            <a:spAutoFit/>
          </a:bodyPr>
          <a:lstStyle/>
          <a:p>
            <a:pPr algn="l"/>
            <a:r>
              <a:rPr sz="700" b="0" i="0">
                <a:solidFill>
                  <a:srgbClr val="2C3E50"/>
                </a:solidFill>
                <a:latin typeface="Calibri"/>
              </a:rPr>
              <a:t>PAKDD 2027</a:t>
            </a:r>
          </a:p>
        </p:txBody>
      </p:sp>
      <p:sp>
        <p:nvSpPr>
          <p:cNvPr id="44" name="TextBox 43"/>
          <p:cNvSpPr txBox="1"/>
          <p:nvPr/>
        </p:nvSpPr>
        <p:spPr>
          <a:xfrm>
            <a:off x="1673352" y="2697480"/>
            <a:ext cx="310896" cy="246888"/>
          </a:xfrm>
          <a:prstGeom prst="rect">
            <a:avLst/>
          </a:prstGeom>
          <a:noFill/>
        </p:spPr>
        <p:txBody>
          <a:bodyPr wrap="square" lIns="45720" rIns="45720" tIns="18288" bIns="18288" anchor="ctr">
            <a:spAutoFit/>
          </a:bodyPr>
          <a:lstStyle/>
          <a:p>
            <a:pPr algn="ctr"/>
            <a:r>
              <a:rPr sz="700" b="0" i="0">
                <a:solidFill>
                  <a:srgbClr val="2C3E50"/>
                </a:solidFill>
                <a:latin typeface="Calibri"/>
              </a:rPr>
              <a:t>B</a:t>
            </a:r>
          </a:p>
        </p:txBody>
      </p:sp>
      <p:sp>
        <p:nvSpPr>
          <p:cNvPr id="45" name="TextBox 44"/>
          <p:cNvSpPr txBox="1"/>
          <p:nvPr/>
        </p:nvSpPr>
        <p:spPr>
          <a:xfrm>
            <a:off x="2039112" y="2697480"/>
            <a:ext cx="877824" cy="246888"/>
          </a:xfrm>
          <a:prstGeom prst="rect">
            <a:avLst/>
          </a:prstGeom>
          <a:noFill/>
        </p:spPr>
        <p:txBody>
          <a:bodyPr wrap="square" lIns="45720" rIns="45720" tIns="18288" bIns="18288" anchor="ctr">
            <a:spAutoFit/>
          </a:bodyPr>
          <a:lstStyle/>
          <a:p>
            <a:pPr algn="l"/>
            <a:r>
              <a:rPr sz="700" b="0" i="0">
                <a:solidFill>
                  <a:srgbClr val="2C3E50"/>
                </a:solidFill>
                <a:latin typeface="Calibri"/>
              </a:rPr>
              <a:t>15 nov. 2026 °</a:t>
            </a:r>
          </a:p>
        </p:txBody>
      </p:sp>
      <p:sp>
        <p:nvSpPr>
          <p:cNvPr id="46" name="TextBox 45"/>
          <p:cNvSpPr txBox="1"/>
          <p:nvPr/>
        </p:nvSpPr>
        <p:spPr>
          <a:xfrm>
            <a:off x="2971800" y="2697480"/>
            <a:ext cx="585215" cy="246888"/>
          </a:xfrm>
          <a:prstGeom prst="rect">
            <a:avLst/>
          </a:prstGeom>
          <a:noFill/>
        </p:spPr>
        <p:txBody>
          <a:bodyPr wrap="square" lIns="45720" rIns="45720" tIns="18288" bIns="18288" anchor="ctr">
            <a:spAutoFit/>
          </a:bodyPr>
          <a:lstStyle/>
          <a:p>
            <a:pPr algn="ctr"/>
            <a:r>
              <a:rPr sz="700" b="0" i="0">
                <a:solidFill>
                  <a:srgbClr val="2C3E50"/>
                </a:solidFill>
                <a:latin typeface="Calibri"/>
              </a:rPr>
              <a:t>≈20 % °</a:t>
            </a:r>
          </a:p>
        </p:txBody>
      </p:sp>
      <p:sp>
        <p:nvSpPr>
          <p:cNvPr id="47" name="TextBox 46"/>
          <p:cNvSpPr txBox="1"/>
          <p:nvPr/>
        </p:nvSpPr>
        <p:spPr>
          <a:xfrm>
            <a:off x="3611879" y="2697480"/>
            <a:ext cx="1335024" cy="246888"/>
          </a:xfrm>
          <a:prstGeom prst="rect">
            <a:avLst/>
          </a:prstGeom>
          <a:noFill/>
        </p:spPr>
        <p:txBody>
          <a:bodyPr wrap="square" lIns="45720" rIns="45720" tIns="18288" bIns="18288" anchor="ctr">
            <a:spAutoFit/>
          </a:bodyPr>
          <a:lstStyle/>
          <a:p>
            <a:pPr algn="l"/>
            <a:r>
              <a:rPr sz="700" b="0" i="0">
                <a:solidFill>
                  <a:srgbClr val="2C3E50"/>
                </a:solidFill>
                <a:latin typeface="Calibri"/>
              </a:rPr>
              <a:t>LNAI, ≈13 p. °</a:t>
            </a:r>
          </a:p>
        </p:txBody>
      </p:sp>
      <p:sp>
        <p:nvSpPr>
          <p:cNvPr id="48" name="TextBox 47"/>
          <p:cNvSpPr txBox="1"/>
          <p:nvPr/>
        </p:nvSpPr>
        <p:spPr>
          <a:xfrm>
            <a:off x="5001768" y="2697480"/>
            <a:ext cx="658368" cy="246888"/>
          </a:xfrm>
          <a:prstGeom prst="rect">
            <a:avLst/>
          </a:prstGeom>
          <a:noFill/>
        </p:spPr>
        <p:txBody>
          <a:bodyPr wrap="square" lIns="45720" rIns="45720" tIns="18288" bIns="18288" anchor="ctr">
            <a:spAutoFit/>
          </a:bodyPr>
          <a:lstStyle/>
          <a:p>
            <a:pPr algn="ctr"/>
            <a:r>
              <a:rPr sz="700" b="0" i="0">
                <a:solidFill>
                  <a:srgbClr val="2C3E50"/>
                </a:solidFill>
                <a:latin typeface="Calibri"/>
              </a:rPr>
              <a:t>Oral+poster</a:t>
            </a:r>
          </a:p>
        </p:txBody>
      </p:sp>
      <p:sp>
        <p:nvSpPr>
          <p:cNvPr id="49" name="TextBox 48"/>
          <p:cNvSpPr txBox="1"/>
          <p:nvPr/>
        </p:nvSpPr>
        <p:spPr>
          <a:xfrm>
            <a:off x="5715000" y="2697480"/>
            <a:ext cx="603503" cy="246888"/>
          </a:xfrm>
          <a:prstGeom prst="rect">
            <a:avLst/>
          </a:prstGeom>
          <a:noFill/>
        </p:spPr>
        <p:txBody>
          <a:bodyPr wrap="square" lIns="45720" rIns="45720" tIns="18288" bIns="18288" anchor="ctr">
            <a:spAutoFit/>
          </a:bodyPr>
          <a:lstStyle/>
          <a:p>
            <a:pPr algn="ctr"/>
            <a:r>
              <a:rPr sz="700" b="0" i="0">
                <a:solidFill>
                  <a:srgbClr val="2C3E50"/>
                </a:solidFill>
                <a:latin typeface="Calibri"/>
              </a:rPr>
              <a:t>Non °</a:t>
            </a:r>
          </a:p>
        </p:txBody>
      </p:sp>
      <p:sp>
        <p:nvSpPr>
          <p:cNvPr id="50" name="TextBox 49"/>
          <p:cNvSpPr txBox="1"/>
          <p:nvPr/>
        </p:nvSpPr>
        <p:spPr>
          <a:xfrm>
            <a:off x="6373368" y="2697480"/>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51" name="TextBox 50"/>
          <p:cNvSpPr txBox="1"/>
          <p:nvPr/>
        </p:nvSpPr>
        <p:spPr>
          <a:xfrm>
            <a:off x="6848856" y="2697480"/>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52" name="TextBox 51"/>
          <p:cNvSpPr txBox="1"/>
          <p:nvPr/>
        </p:nvSpPr>
        <p:spPr>
          <a:xfrm>
            <a:off x="7324344" y="2697480"/>
            <a:ext cx="1517904" cy="246888"/>
          </a:xfrm>
          <a:prstGeom prst="rect">
            <a:avLst/>
          </a:prstGeom>
          <a:noFill/>
        </p:spPr>
        <p:txBody>
          <a:bodyPr wrap="square" lIns="45720" rIns="45720" tIns="18288" bIns="18288" anchor="ctr">
            <a:spAutoFit/>
          </a:bodyPr>
          <a:lstStyle/>
          <a:p>
            <a:pPr algn="l"/>
            <a:r>
              <a:rPr sz="700" b="0" i="0">
                <a:solidFill>
                  <a:srgbClr val="2C3E50"/>
                </a:solidFill>
                <a:latin typeface="Calibri"/>
              </a:rPr>
              <a:t>Seule échéance courte</a:t>
            </a:r>
          </a:p>
        </p:txBody>
      </p:sp>
      <p:sp>
        <p:nvSpPr>
          <p:cNvPr id="53" name="Rectangle 52"/>
          <p:cNvSpPr/>
          <p:nvPr/>
        </p:nvSpPr>
        <p:spPr>
          <a:xfrm>
            <a:off x="274320" y="2944368"/>
            <a:ext cx="8595360" cy="24688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01751" y="2944368"/>
            <a:ext cx="1316736" cy="246888"/>
          </a:xfrm>
          <a:prstGeom prst="rect">
            <a:avLst/>
          </a:prstGeom>
          <a:noFill/>
        </p:spPr>
        <p:txBody>
          <a:bodyPr wrap="square" lIns="45720" rIns="45720" tIns="18288" bIns="18288" anchor="ctr">
            <a:spAutoFit/>
          </a:bodyPr>
          <a:lstStyle/>
          <a:p>
            <a:pPr algn="l"/>
            <a:r>
              <a:rPr sz="700" b="0" i="0">
                <a:solidFill>
                  <a:srgbClr val="2C3E50"/>
                </a:solidFill>
                <a:latin typeface="Calibri"/>
              </a:rPr>
              <a:t>KDD 2027 — Cycle 1</a:t>
            </a:r>
          </a:p>
        </p:txBody>
      </p:sp>
      <p:sp>
        <p:nvSpPr>
          <p:cNvPr id="55" name="TextBox 54"/>
          <p:cNvSpPr txBox="1"/>
          <p:nvPr/>
        </p:nvSpPr>
        <p:spPr>
          <a:xfrm>
            <a:off x="1673352" y="2944368"/>
            <a:ext cx="310896"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a:t>
            </a:r>
          </a:p>
        </p:txBody>
      </p:sp>
      <p:sp>
        <p:nvSpPr>
          <p:cNvPr id="56" name="TextBox 55"/>
          <p:cNvSpPr txBox="1"/>
          <p:nvPr/>
        </p:nvSpPr>
        <p:spPr>
          <a:xfrm>
            <a:off x="2039112" y="2944368"/>
            <a:ext cx="877824" cy="246888"/>
          </a:xfrm>
          <a:prstGeom prst="rect">
            <a:avLst/>
          </a:prstGeom>
          <a:noFill/>
        </p:spPr>
        <p:txBody>
          <a:bodyPr wrap="square" lIns="45720" rIns="45720" tIns="18288" bIns="18288" anchor="ctr">
            <a:spAutoFit/>
          </a:bodyPr>
          <a:lstStyle/>
          <a:p>
            <a:pPr algn="l"/>
            <a:r>
              <a:rPr sz="700" b="0" i="0">
                <a:solidFill>
                  <a:srgbClr val="2C3E50"/>
                </a:solidFill>
                <a:latin typeface="Calibri"/>
              </a:rPr>
              <a:t>févr. 2027 °</a:t>
            </a:r>
          </a:p>
        </p:txBody>
      </p:sp>
      <p:sp>
        <p:nvSpPr>
          <p:cNvPr id="57" name="TextBox 56"/>
          <p:cNvSpPr txBox="1"/>
          <p:nvPr/>
        </p:nvSpPr>
        <p:spPr>
          <a:xfrm>
            <a:off x="2971800" y="2944368"/>
            <a:ext cx="585215" cy="246888"/>
          </a:xfrm>
          <a:prstGeom prst="rect">
            <a:avLst/>
          </a:prstGeom>
          <a:noFill/>
        </p:spPr>
        <p:txBody>
          <a:bodyPr wrap="square" lIns="45720" rIns="45720" tIns="18288" bIns="18288" anchor="ctr">
            <a:spAutoFit/>
          </a:bodyPr>
          <a:lstStyle/>
          <a:p>
            <a:pPr algn="ctr"/>
            <a:r>
              <a:rPr sz="700" b="0" i="0">
                <a:solidFill>
                  <a:srgbClr val="2C3E50"/>
                </a:solidFill>
                <a:latin typeface="Calibri"/>
              </a:rPr>
              <a:t>≈15–20 % °</a:t>
            </a:r>
          </a:p>
        </p:txBody>
      </p:sp>
      <p:sp>
        <p:nvSpPr>
          <p:cNvPr id="58" name="TextBox 57"/>
          <p:cNvSpPr txBox="1"/>
          <p:nvPr/>
        </p:nvSpPr>
        <p:spPr>
          <a:xfrm>
            <a:off x="3611879" y="2944368"/>
            <a:ext cx="1335024" cy="246888"/>
          </a:xfrm>
          <a:prstGeom prst="rect">
            <a:avLst/>
          </a:prstGeom>
          <a:noFill/>
        </p:spPr>
        <p:txBody>
          <a:bodyPr wrap="square" lIns="45720" rIns="45720" tIns="18288" bIns="18288" anchor="ctr">
            <a:spAutoFit/>
          </a:bodyPr>
          <a:lstStyle/>
          <a:p>
            <a:pPr algn="l"/>
            <a:r>
              <a:rPr sz="700" b="0" i="0">
                <a:solidFill>
                  <a:srgbClr val="2C3E50"/>
                </a:solidFill>
                <a:latin typeface="Calibri"/>
              </a:rPr>
              <a:t>ACM, 9 p. + réf. °</a:t>
            </a:r>
          </a:p>
        </p:txBody>
      </p:sp>
      <p:sp>
        <p:nvSpPr>
          <p:cNvPr id="59" name="TextBox 58"/>
          <p:cNvSpPr txBox="1"/>
          <p:nvPr/>
        </p:nvSpPr>
        <p:spPr>
          <a:xfrm>
            <a:off x="5001768" y="2944368"/>
            <a:ext cx="658368" cy="246888"/>
          </a:xfrm>
          <a:prstGeom prst="rect">
            <a:avLst/>
          </a:prstGeom>
          <a:noFill/>
        </p:spPr>
        <p:txBody>
          <a:bodyPr wrap="square" lIns="45720" rIns="45720" tIns="18288" bIns="18288" anchor="ctr">
            <a:spAutoFit/>
          </a:bodyPr>
          <a:lstStyle/>
          <a:p>
            <a:pPr algn="ctr"/>
            <a:r>
              <a:rPr sz="700" b="0" i="0">
                <a:solidFill>
                  <a:srgbClr val="2C3E50"/>
                </a:solidFill>
                <a:latin typeface="Calibri"/>
              </a:rPr>
              <a:t>Oral+poster</a:t>
            </a:r>
          </a:p>
        </p:txBody>
      </p:sp>
      <p:sp>
        <p:nvSpPr>
          <p:cNvPr id="60" name="TextBox 59"/>
          <p:cNvSpPr txBox="1"/>
          <p:nvPr/>
        </p:nvSpPr>
        <p:spPr>
          <a:xfrm>
            <a:off x="5715000" y="2944368"/>
            <a:ext cx="603503" cy="246888"/>
          </a:xfrm>
          <a:prstGeom prst="rect">
            <a:avLst/>
          </a:prstGeom>
          <a:noFill/>
        </p:spPr>
        <p:txBody>
          <a:bodyPr wrap="square" lIns="45720" rIns="45720" tIns="18288" bIns="18288" anchor="ctr">
            <a:spAutoFit/>
          </a:bodyPr>
          <a:lstStyle/>
          <a:p>
            <a:pPr algn="ctr"/>
            <a:r>
              <a:rPr sz="700" b="0" i="0">
                <a:solidFill>
                  <a:srgbClr val="2C3E50"/>
                </a:solidFill>
                <a:latin typeface="Calibri"/>
              </a:rPr>
              <a:t>Oui</a:t>
            </a:r>
          </a:p>
        </p:txBody>
      </p:sp>
      <p:sp>
        <p:nvSpPr>
          <p:cNvPr id="61" name="TextBox 60"/>
          <p:cNvSpPr txBox="1"/>
          <p:nvPr/>
        </p:nvSpPr>
        <p:spPr>
          <a:xfrm>
            <a:off x="6373368" y="2944368"/>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62" name="TextBox 61"/>
          <p:cNvSpPr txBox="1"/>
          <p:nvPr/>
        </p:nvSpPr>
        <p:spPr>
          <a:xfrm>
            <a:off x="6848856" y="2944368"/>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63" name="TextBox 62"/>
          <p:cNvSpPr txBox="1"/>
          <p:nvPr/>
        </p:nvSpPr>
        <p:spPr>
          <a:xfrm>
            <a:off x="7324344" y="2944368"/>
            <a:ext cx="1517904" cy="246888"/>
          </a:xfrm>
          <a:prstGeom prst="rect">
            <a:avLst/>
          </a:prstGeom>
          <a:noFill/>
        </p:spPr>
        <p:txBody>
          <a:bodyPr wrap="square" lIns="45720" rIns="45720" tIns="18288" bIns="18288" anchor="ctr">
            <a:spAutoFit/>
          </a:bodyPr>
          <a:lstStyle/>
          <a:p>
            <a:pPr algn="l"/>
            <a:r>
              <a:rPr sz="700" b="0" i="0">
                <a:solidFill>
                  <a:srgbClr val="2C3E50"/>
                </a:solidFill>
                <a:latin typeface="Calibri"/>
              </a:rPr>
              <a:t>Barre très haute</a:t>
            </a:r>
          </a:p>
        </p:txBody>
      </p:sp>
      <p:sp>
        <p:nvSpPr>
          <p:cNvPr id="64" name="Rectangle 63"/>
          <p:cNvSpPr/>
          <p:nvPr/>
        </p:nvSpPr>
        <p:spPr>
          <a:xfrm>
            <a:off x="274320" y="3191256"/>
            <a:ext cx="8595360" cy="246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01751" y="3191256"/>
            <a:ext cx="1316736" cy="246888"/>
          </a:xfrm>
          <a:prstGeom prst="rect">
            <a:avLst/>
          </a:prstGeom>
          <a:noFill/>
        </p:spPr>
        <p:txBody>
          <a:bodyPr wrap="square" lIns="45720" rIns="45720" tIns="18288" bIns="18288" anchor="ctr">
            <a:spAutoFit/>
          </a:bodyPr>
          <a:lstStyle/>
          <a:p>
            <a:pPr algn="l"/>
            <a:r>
              <a:rPr sz="700" b="0" i="0">
                <a:solidFill>
                  <a:srgbClr val="2C3E50"/>
                </a:solidFill>
                <a:latin typeface="Calibri"/>
              </a:rPr>
              <a:t>ECML PKDD 2027 — Research</a:t>
            </a:r>
          </a:p>
        </p:txBody>
      </p:sp>
      <p:sp>
        <p:nvSpPr>
          <p:cNvPr id="66" name="TextBox 65"/>
          <p:cNvSpPr txBox="1"/>
          <p:nvPr/>
        </p:nvSpPr>
        <p:spPr>
          <a:xfrm>
            <a:off x="1673352" y="3191256"/>
            <a:ext cx="310896"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a:t>
            </a:r>
          </a:p>
        </p:txBody>
      </p:sp>
      <p:sp>
        <p:nvSpPr>
          <p:cNvPr id="67" name="TextBox 66"/>
          <p:cNvSpPr txBox="1"/>
          <p:nvPr/>
        </p:nvSpPr>
        <p:spPr>
          <a:xfrm>
            <a:off x="2039112" y="3191256"/>
            <a:ext cx="877824" cy="246888"/>
          </a:xfrm>
          <a:prstGeom prst="rect">
            <a:avLst/>
          </a:prstGeom>
          <a:noFill/>
        </p:spPr>
        <p:txBody>
          <a:bodyPr wrap="square" lIns="45720" rIns="45720" tIns="18288" bIns="18288" anchor="ctr">
            <a:spAutoFit/>
          </a:bodyPr>
          <a:lstStyle/>
          <a:p>
            <a:pPr algn="l"/>
            <a:r>
              <a:rPr sz="700" b="0" i="0">
                <a:solidFill>
                  <a:srgbClr val="2C3E50"/>
                </a:solidFill>
                <a:latin typeface="Calibri"/>
              </a:rPr>
              <a:t>mars 2027 °</a:t>
            </a:r>
          </a:p>
        </p:txBody>
      </p:sp>
      <p:sp>
        <p:nvSpPr>
          <p:cNvPr id="68" name="TextBox 67"/>
          <p:cNvSpPr txBox="1"/>
          <p:nvPr/>
        </p:nvSpPr>
        <p:spPr>
          <a:xfrm>
            <a:off x="2971800" y="3191256"/>
            <a:ext cx="585215" cy="246888"/>
          </a:xfrm>
          <a:prstGeom prst="rect">
            <a:avLst/>
          </a:prstGeom>
          <a:noFill/>
        </p:spPr>
        <p:txBody>
          <a:bodyPr wrap="square" lIns="45720" rIns="45720" tIns="18288" bIns="18288" anchor="ctr">
            <a:spAutoFit/>
          </a:bodyPr>
          <a:lstStyle/>
          <a:p>
            <a:pPr algn="ctr"/>
            <a:r>
              <a:rPr sz="700" b="0" i="0">
                <a:solidFill>
                  <a:srgbClr val="2C3E50"/>
                </a:solidFill>
                <a:latin typeface="Calibri"/>
              </a:rPr>
              <a:t>24 %</a:t>
            </a:r>
          </a:p>
        </p:txBody>
      </p:sp>
      <p:sp>
        <p:nvSpPr>
          <p:cNvPr id="69" name="TextBox 68"/>
          <p:cNvSpPr txBox="1"/>
          <p:nvPr/>
        </p:nvSpPr>
        <p:spPr>
          <a:xfrm>
            <a:off x="3611879" y="3191256"/>
            <a:ext cx="1335024" cy="246888"/>
          </a:xfrm>
          <a:prstGeom prst="rect">
            <a:avLst/>
          </a:prstGeom>
          <a:noFill/>
        </p:spPr>
        <p:txBody>
          <a:bodyPr wrap="square" lIns="45720" rIns="45720" tIns="18288" bIns="18288" anchor="ctr">
            <a:spAutoFit/>
          </a:bodyPr>
          <a:lstStyle/>
          <a:p>
            <a:pPr algn="l"/>
            <a:r>
              <a:rPr sz="700" b="0" i="0">
                <a:solidFill>
                  <a:srgbClr val="2C3E50"/>
                </a:solidFill>
                <a:latin typeface="Calibri"/>
              </a:rPr>
              <a:t>LNCS, ≈16 p. °</a:t>
            </a:r>
          </a:p>
        </p:txBody>
      </p:sp>
      <p:sp>
        <p:nvSpPr>
          <p:cNvPr id="70" name="TextBox 69"/>
          <p:cNvSpPr txBox="1"/>
          <p:nvPr/>
        </p:nvSpPr>
        <p:spPr>
          <a:xfrm>
            <a:off x="5001768" y="3191256"/>
            <a:ext cx="658368" cy="246888"/>
          </a:xfrm>
          <a:prstGeom prst="rect">
            <a:avLst/>
          </a:prstGeom>
          <a:noFill/>
        </p:spPr>
        <p:txBody>
          <a:bodyPr wrap="square" lIns="45720" rIns="45720" tIns="18288" bIns="18288" anchor="ctr">
            <a:spAutoFit/>
          </a:bodyPr>
          <a:lstStyle/>
          <a:p>
            <a:pPr algn="ctr"/>
            <a:r>
              <a:rPr sz="700" b="0" i="0">
                <a:solidFill>
                  <a:srgbClr val="2C3E50"/>
                </a:solidFill>
                <a:latin typeface="Calibri"/>
              </a:rPr>
              <a:t>Oral+poster</a:t>
            </a:r>
          </a:p>
        </p:txBody>
      </p:sp>
      <p:sp>
        <p:nvSpPr>
          <p:cNvPr id="71" name="TextBox 70"/>
          <p:cNvSpPr txBox="1"/>
          <p:nvPr/>
        </p:nvSpPr>
        <p:spPr>
          <a:xfrm>
            <a:off x="5715000" y="3191256"/>
            <a:ext cx="603503" cy="246888"/>
          </a:xfrm>
          <a:prstGeom prst="rect">
            <a:avLst/>
          </a:prstGeom>
          <a:noFill/>
        </p:spPr>
        <p:txBody>
          <a:bodyPr wrap="square" lIns="45720" rIns="45720" tIns="18288" bIns="18288" anchor="ctr">
            <a:spAutoFit/>
          </a:bodyPr>
          <a:lstStyle/>
          <a:p>
            <a:pPr algn="ctr"/>
            <a:r>
              <a:rPr sz="700" b="0" i="0">
                <a:solidFill>
                  <a:srgbClr val="2C3E50"/>
                </a:solidFill>
                <a:latin typeface="Calibri"/>
              </a:rPr>
              <a:t>Oui</a:t>
            </a:r>
          </a:p>
        </p:txBody>
      </p:sp>
      <p:sp>
        <p:nvSpPr>
          <p:cNvPr id="72" name="TextBox 71"/>
          <p:cNvSpPr txBox="1"/>
          <p:nvPr/>
        </p:nvSpPr>
        <p:spPr>
          <a:xfrm>
            <a:off x="6373368" y="3191256"/>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73" name="TextBox 72"/>
          <p:cNvSpPr txBox="1"/>
          <p:nvPr/>
        </p:nvSpPr>
        <p:spPr>
          <a:xfrm>
            <a:off x="6848856" y="3191256"/>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74" name="TextBox 73"/>
          <p:cNvSpPr txBox="1"/>
          <p:nvPr/>
        </p:nvSpPr>
        <p:spPr>
          <a:xfrm>
            <a:off x="7324344" y="3191256"/>
            <a:ext cx="1517904" cy="246888"/>
          </a:xfrm>
          <a:prstGeom prst="rect">
            <a:avLst/>
          </a:prstGeom>
          <a:noFill/>
        </p:spPr>
        <p:txBody>
          <a:bodyPr wrap="square" lIns="45720" rIns="45720" tIns="18288" bIns="18288" anchor="ctr">
            <a:spAutoFit/>
          </a:bodyPr>
          <a:lstStyle/>
          <a:p>
            <a:pPr algn="l"/>
            <a:r>
              <a:rPr sz="700" b="0" i="0">
                <a:solidFill>
                  <a:srgbClr val="2C3E50"/>
                </a:solidFill>
                <a:latin typeface="Calibri"/>
              </a:rPr>
              <a:t>Repli format court</a:t>
            </a:r>
          </a:p>
        </p:txBody>
      </p:sp>
      <p:sp>
        <p:nvSpPr>
          <p:cNvPr id="75" name="Rectangle 74"/>
          <p:cNvSpPr/>
          <p:nvPr/>
        </p:nvSpPr>
        <p:spPr>
          <a:xfrm>
            <a:off x="274320" y="3438144"/>
            <a:ext cx="8595360" cy="24688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01751" y="3438144"/>
            <a:ext cx="1316736" cy="246888"/>
          </a:xfrm>
          <a:prstGeom prst="rect">
            <a:avLst/>
          </a:prstGeom>
          <a:noFill/>
        </p:spPr>
        <p:txBody>
          <a:bodyPr wrap="square" lIns="45720" rIns="45720" tIns="18288" bIns="18288" anchor="ctr">
            <a:spAutoFit/>
          </a:bodyPr>
          <a:lstStyle/>
          <a:p>
            <a:pPr algn="l"/>
            <a:r>
              <a:rPr sz="700" b="0" i="0">
                <a:solidFill>
                  <a:srgbClr val="2C3E50"/>
                </a:solidFill>
                <a:latin typeface="Calibri"/>
              </a:rPr>
              <a:t>SDM 2027</a:t>
            </a:r>
          </a:p>
        </p:txBody>
      </p:sp>
      <p:sp>
        <p:nvSpPr>
          <p:cNvPr id="77" name="TextBox 76"/>
          <p:cNvSpPr txBox="1"/>
          <p:nvPr/>
        </p:nvSpPr>
        <p:spPr>
          <a:xfrm>
            <a:off x="1673352" y="3438144"/>
            <a:ext cx="310896"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a:t>
            </a:r>
          </a:p>
        </p:txBody>
      </p:sp>
      <p:sp>
        <p:nvSpPr>
          <p:cNvPr id="78" name="TextBox 77"/>
          <p:cNvSpPr txBox="1"/>
          <p:nvPr/>
        </p:nvSpPr>
        <p:spPr>
          <a:xfrm>
            <a:off x="2039112" y="3438144"/>
            <a:ext cx="877824" cy="246888"/>
          </a:xfrm>
          <a:prstGeom prst="rect">
            <a:avLst/>
          </a:prstGeom>
          <a:noFill/>
        </p:spPr>
        <p:txBody>
          <a:bodyPr wrap="square" lIns="45720" rIns="45720" tIns="18288" bIns="18288" anchor="ctr">
            <a:spAutoFit/>
          </a:bodyPr>
          <a:lstStyle/>
          <a:p>
            <a:pPr algn="l"/>
            <a:r>
              <a:rPr sz="700" b="0" i="0">
                <a:solidFill>
                  <a:srgbClr val="2C3E50"/>
                </a:solidFill>
                <a:latin typeface="Calibri"/>
              </a:rPr>
              <a:t>avr. 2027 °</a:t>
            </a:r>
          </a:p>
        </p:txBody>
      </p:sp>
      <p:sp>
        <p:nvSpPr>
          <p:cNvPr id="79" name="TextBox 78"/>
          <p:cNvSpPr txBox="1"/>
          <p:nvPr/>
        </p:nvSpPr>
        <p:spPr>
          <a:xfrm>
            <a:off x="2971800" y="3438144"/>
            <a:ext cx="585215" cy="246888"/>
          </a:xfrm>
          <a:prstGeom prst="rect">
            <a:avLst/>
          </a:prstGeom>
          <a:noFill/>
        </p:spPr>
        <p:txBody>
          <a:bodyPr wrap="square" lIns="45720" rIns="45720" tIns="18288" bIns="18288" anchor="ctr">
            <a:spAutoFit/>
          </a:bodyPr>
          <a:lstStyle/>
          <a:p>
            <a:pPr algn="ctr"/>
            <a:r>
              <a:rPr sz="700" b="0" i="0">
                <a:solidFill>
                  <a:srgbClr val="2C3E50"/>
                </a:solidFill>
                <a:latin typeface="Calibri"/>
              </a:rPr>
              <a:t>≈25–30 % °</a:t>
            </a:r>
          </a:p>
        </p:txBody>
      </p:sp>
      <p:sp>
        <p:nvSpPr>
          <p:cNvPr id="80" name="TextBox 79"/>
          <p:cNvSpPr txBox="1"/>
          <p:nvPr/>
        </p:nvSpPr>
        <p:spPr>
          <a:xfrm>
            <a:off x="3611879" y="3438144"/>
            <a:ext cx="1335024" cy="246888"/>
          </a:xfrm>
          <a:prstGeom prst="rect">
            <a:avLst/>
          </a:prstGeom>
          <a:noFill/>
        </p:spPr>
        <p:txBody>
          <a:bodyPr wrap="square" lIns="45720" rIns="45720" tIns="18288" bIns="18288" anchor="ctr">
            <a:spAutoFit/>
          </a:bodyPr>
          <a:lstStyle/>
          <a:p>
            <a:pPr algn="l"/>
            <a:r>
              <a:rPr sz="700" b="0" i="0">
                <a:solidFill>
                  <a:srgbClr val="2C3E50"/>
                </a:solidFill>
                <a:latin typeface="Calibri"/>
              </a:rPr>
              <a:t>SIAM, 8 p. ; annexes illim.</a:t>
            </a:r>
          </a:p>
        </p:txBody>
      </p:sp>
      <p:sp>
        <p:nvSpPr>
          <p:cNvPr id="81" name="TextBox 80"/>
          <p:cNvSpPr txBox="1"/>
          <p:nvPr/>
        </p:nvSpPr>
        <p:spPr>
          <a:xfrm>
            <a:off x="5001768" y="3438144"/>
            <a:ext cx="658368" cy="246888"/>
          </a:xfrm>
          <a:prstGeom prst="rect">
            <a:avLst/>
          </a:prstGeom>
          <a:noFill/>
        </p:spPr>
        <p:txBody>
          <a:bodyPr wrap="square" lIns="45720" rIns="45720" tIns="18288" bIns="18288" anchor="ctr">
            <a:spAutoFit/>
          </a:bodyPr>
          <a:lstStyle/>
          <a:p>
            <a:pPr algn="ctr"/>
            <a:r>
              <a:rPr sz="700" b="0" i="0">
                <a:solidFill>
                  <a:srgbClr val="2C3E50"/>
                </a:solidFill>
                <a:latin typeface="Calibri"/>
              </a:rPr>
              <a:t>Oral+poster</a:t>
            </a:r>
          </a:p>
        </p:txBody>
      </p:sp>
      <p:sp>
        <p:nvSpPr>
          <p:cNvPr id="82" name="TextBox 81"/>
          <p:cNvSpPr txBox="1"/>
          <p:nvPr/>
        </p:nvSpPr>
        <p:spPr>
          <a:xfrm>
            <a:off x="5715000" y="3438144"/>
            <a:ext cx="603503" cy="246888"/>
          </a:xfrm>
          <a:prstGeom prst="rect">
            <a:avLst/>
          </a:prstGeom>
          <a:noFill/>
        </p:spPr>
        <p:txBody>
          <a:bodyPr wrap="square" lIns="45720" rIns="45720" tIns="18288" bIns="18288" anchor="ctr">
            <a:spAutoFit/>
          </a:bodyPr>
          <a:lstStyle/>
          <a:p>
            <a:pPr algn="ctr"/>
            <a:r>
              <a:rPr sz="700" b="0" i="0">
                <a:solidFill>
                  <a:srgbClr val="2C3E50"/>
                </a:solidFill>
                <a:latin typeface="Calibri"/>
              </a:rPr>
              <a:t>Non °</a:t>
            </a:r>
          </a:p>
        </p:txBody>
      </p:sp>
      <p:sp>
        <p:nvSpPr>
          <p:cNvPr id="83" name="TextBox 82"/>
          <p:cNvSpPr txBox="1"/>
          <p:nvPr/>
        </p:nvSpPr>
        <p:spPr>
          <a:xfrm>
            <a:off x="6373368" y="3438144"/>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84" name="TextBox 83"/>
          <p:cNvSpPr txBox="1"/>
          <p:nvPr/>
        </p:nvSpPr>
        <p:spPr>
          <a:xfrm>
            <a:off x="6848856" y="3438144"/>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85" name="TextBox 84"/>
          <p:cNvSpPr txBox="1"/>
          <p:nvPr/>
        </p:nvSpPr>
        <p:spPr>
          <a:xfrm>
            <a:off x="7324344" y="3438144"/>
            <a:ext cx="1517904" cy="246888"/>
          </a:xfrm>
          <a:prstGeom prst="rect">
            <a:avLst/>
          </a:prstGeom>
          <a:noFill/>
        </p:spPr>
        <p:txBody>
          <a:bodyPr wrap="square" lIns="45720" rIns="45720" tIns="18288" bIns="18288" anchor="ctr">
            <a:spAutoFit/>
          </a:bodyPr>
          <a:lstStyle/>
          <a:p>
            <a:pPr algn="l"/>
            <a:r>
              <a:rPr sz="700" b="0" i="0">
                <a:solidFill>
                  <a:srgbClr val="2C3E50"/>
                </a:solidFill>
                <a:latin typeface="Calibri"/>
              </a:rPr>
              <a:t>Annexes illimitées</a:t>
            </a:r>
          </a:p>
        </p:txBody>
      </p:sp>
      <p:sp>
        <p:nvSpPr>
          <p:cNvPr id="86" name="Rectangle 85"/>
          <p:cNvSpPr/>
          <p:nvPr/>
        </p:nvSpPr>
        <p:spPr>
          <a:xfrm>
            <a:off x="274320" y="3685032"/>
            <a:ext cx="8595360" cy="246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01751" y="3685032"/>
            <a:ext cx="1316736" cy="246888"/>
          </a:xfrm>
          <a:prstGeom prst="rect">
            <a:avLst/>
          </a:prstGeom>
          <a:noFill/>
        </p:spPr>
        <p:txBody>
          <a:bodyPr wrap="square" lIns="45720" rIns="45720" tIns="18288" bIns="18288" anchor="ctr">
            <a:spAutoFit/>
          </a:bodyPr>
          <a:lstStyle/>
          <a:p>
            <a:pPr algn="l"/>
            <a:r>
              <a:rPr sz="700" b="0" i="0">
                <a:solidFill>
                  <a:srgbClr val="2C3E50"/>
                </a:solidFill>
                <a:latin typeface="Calibri"/>
              </a:rPr>
              <a:t>CIKM 2027</a:t>
            </a:r>
          </a:p>
        </p:txBody>
      </p:sp>
      <p:sp>
        <p:nvSpPr>
          <p:cNvPr id="88" name="TextBox 87"/>
          <p:cNvSpPr txBox="1"/>
          <p:nvPr/>
        </p:nvSpPr>
        <p:spPr>
          <a:xfrm>
            <a:off x="1673352" y="3685032"/>
            <a:ext cx="310896"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a:t>
            </a:r>
          </a:p>
        </p:txBody>
      </p:sp>
      <p:sp>
        <p:nvSpPr>
          <p:cNvPr id="89" name="TextBox 88"/>
          <p:cNvSpPr txBox="1"/>
          <p:nvPr/>
        </p:nvSpPr>
        <p:spPr>
          <a:xfrm>
            <a:off x="2039112" y="3685032"/>
            <a:ext cx="877824" cy="246888"/>
          </a:xfrm>
          <a:prstGeom prst="rect">
            <a:avLst/>
          </a:prstGeom>
          <a:noFill/>
        </p:spPr>
        <p:txBody>
          <a:bodyPr wrap="square" lIns="45720" rIns="45720" tIns="18288" bIns="18288" anchor="ctr">
            <a:spAutoFit/>
          </a:bodyPr>
          <a:lstStyle/>
          <a:p>
            <a:pPr algn="l"/>
            <a:r>
              <a:rPr sz="700" b="0" i="0">
                <a:solidFill>
                  <a:srgbClr val="2C3E50"/>
                </a:solidFill>
                <a:latin typeface="Calibri"/>
              </a:rPr>
              <a:t>mai 2027 °</a:t>
            </a:r>
          </a:p>
        </p:txBody>
      </p:sp>
      <p:sp>
        <p:nvSpPr>
          <p:cNvPr id="90" name="TextBox 89"/>
          <p:cNvSpPr txBox="1"/>
          <p:nvPr/>
        </p:nvSpPr>
        <p:spPr>
          <a:xfrm>
            <a:off x="2971800" y="3685032"/>
            <a:ext cx="585215" cy="246888"/>
          </a:xfrm>
          <a:prstGeom prst="rect">
            <a:avLst/>
          </a:prstGeom>
          <a:noFill/>
        </p:spPr>
        <p:txBody>
          <a:bodyPr wrap="square" lIns="45720" rIns="45720" tIns="18288" bIns="18288" anchor="ctr">
            <a:spAutoFit/>
          </a:bodyPr>
          <a:lstStyle/>
          <a:p>
            <a:pPr algn="ctr"/>
            <a:r>
              <a:rPr sz="700" b="0" i="0">
                <a:solidFill>
                  <a:srgbClr val="2C3E50"/>
                </a:solidFill>
                <a:latin typeface="Calibri"/>
              </a:rPr>
              <a:t>27 % (2025)</a:t>
            </a:r>
          </a:p>
        </p:txBody>
      </p:sp>
      <p:sp>
        <p:nvSpPr>
          <p:cNvPr id="91" name="TextBox 90"/>
          <p:cNvSpPr txBox="1"/>
          <p:nvPr/>
        </p:nvSpPr>
        <p:spPr>
          <a:xfrm>
            <a:off x="3611879" y="3685032"/>
            <a:ext cx="1335024" cy="246888"/>
          </a:xfrm>
          <a:prstGeom prst="rect">
            <a:avLst/>
          </a:prstGeom>
          <a:noFill/>
        </p:spPr>
        <p:txBody>
          <a:bodyPr wrap="square" lIns="45720" rIns="45720" tIns="18288" bIns="18288" anchor="ctr">
            <a:spAutoFit/>
          </a:bodyPr>
          <a:lstStyle/>
          <a:p>
            <a:pPr algn="l"/>
            <a:r>
              <a:rPr sz="700" b="0" i="0">
                <a:solidFill>
                  <a:srgbClr val="2C3E50"/>
                </a:solidFill>
                <a:latin typeface="Calibri"/>
              </a:rPr>
              <a:t>ACM, ≈9 p. °</a:t>
            </a:r>
          </a:p>
        </p:txBody>
      </p:sp>
      <p:sp>
        <p:nvSpPr>
          <p:cNvPr id="92" name="TextBox 91"/>
          <p:cNvSpPr txBox="1"/>
          <p:nvPr/>
        </p:nvSpPr>
        <p:spPr>
          <a:xfrm>
            <a:off x="5001768" y="3685032"/>
            <a:ext cx="658368" cy="246888"/>
          </a:xfrm>
          <a:prstGeom prst="rect">
            <a:avLst/>
          </a:prstGeom>
          <a:noFill/>
        </p:spPr>
        <p:txBody>
          <a:bodyPr wrap="square" lIns="45720" rIns="45720" tIns="18288" bIns="18288" anchor="ctr">
            <a:spAutoFit/>
          </a:bodyPr>
          <a:lstStyle/>
          <a:p>
            <a:pPr algn="ctr"/>
            <a:r>
              <a:rPr sz="700" b="0" i="0">
                <a:solidFill>
                  <a:srgbClr val="2C3E50"/>
                </a:solidFill>
                <a:latin typeface="Calibri"/>
              </a:rPr>
              <a:t>Oral</a:t>
            </a:r>
          </a:p>
        </p:txBody>
      </p:sp>
      <p:sp>
        <p:nvSpPr>
          <p:cNvPr id="93" name="TextBox 92"/>
          <p:cNvSpPr txBox="1"/>
          <p:nvPr/>
        </p:nvSpPr>
        <p:spPr>
          <a:xfrm>
            <a:off x="5715000" y="3685032"/>
            <a:ext cx="603503" cy="246888"/>
          </a:xfrm>
          <a:prstGeom prst="rect">
            <a:avLst/>
          </a:prstGeom>
          <a:noFill/>
        </p:spPr>
        <p:txBody>
          <a:bodyPr wrap="square" lIns="45720" rIns="45720" tIns="18288" bIns="18288" anchor="ctr">
            <a:spAutoFit/>
          </a:bodyPr>
          <a:lstStyle/>
          <a:p>
            <a:pPr algn="ctr"/>
            <a:r>
              <a:rPr sz="700" b="0" i="0">
                <a:solidFill>
                  <a:srgbClr val="2C3E50"/>
                </a:solidFill>
                <a:latin typeface="Calibri"/>
              </a:rPr>
              <a:t>Oui °</a:t>
            </a:r>
          </a:p>
        </p:txBody>
      </p:sp>
      <p:sp>
        <p:nvSpPr>
          <p:cNvPr id="94" name="TextBox 93"/>
          <p:cNvSpPr txBox="1"/>
          <p:nvPr/>
        </p:nvSpPr>
        <p:spPr>
          <a:xfrm>
            <a:off x="6373368" y="3685032"/>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95" name="TextBox 94"/>
          <p:cNvSpPr txBox="1"/>
          <p:nvPr/>
        </p:nvSpPr>
        <p:spPr>
          <a:xfrm>
            <a:off x="6848856" y="3685032"/>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96" name="TextBox 95"/>
          <p:cNvSpPr txBox="1"/>
          <p:nvPr/>
        </p:nvSpPr>
        <p:spPr>
          <a:xfrm>
            <a:off x="7324344" y="3685032"/>
            <a:ext cx="1517904" cy="246888"/>
          </a:xfrm>
          <a:prstGeom prst="rect">
            <a:avLst/>
          </a:prstGeom>
          <a:noFill/>
        </p:spPr>
        <p:txBody>
          <a:bodyPr wrap="square" lIns="45720" rIns="45720" tIns="18288" bIns="18288" anchor="ctr">
            <a:spAutoFit/>
          </a:bodyPr>
          <a:lstStyle/>
          <a:p>
            <a:pPr algn="l"/>
            <a:r>
              <a:rPr sz="700" b="0" i="0">
                <a:solidFill>
                  <a:srgbClr val="2C3E50"/>
                </a:solidFill>
                <a:latin typeface="Calibri"/>
              </a:rPr>
              <a:t>Thématique peu alignée</a:t>
            </a:r>
          </a:p>
        </p:txBody>
      </p:sp>
      <p:sp>
        <p:nvSpPr>
          <p:cNvPr id="97" name="Rectangle 96"/>
          <p:cNvSpPr/>
          <p:nvPr/>
        </p:nvSpPr>
        <p:spPr>
          <a:xfrm>
            <a:off x="274320" y="3931920"/>
            <a:ext cx="8595360" cy="24688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01751" y="3931920"/>
            <a:ext cx="1316736" cy="246888"/>
          </a:xfrm>
          <a:prstGeom prst="rect">
            <a:avLst/>
          </a:prstGeom>
          <a:noFill/>
        </p:spPr>
        <p:txBody>
          <a:bodyPr wrap="square" lIns="45720" rIns="45720" tIns="18288" bIns="18288" anchor="ctr">
            <a:spAutoFit/>
          </a:bodyPr>
          <a:lstStyle/>
          <a:p>
            <a:pPr algn="l"/>
            <a:r>
              <a:rPr sz="700" b="0" i="0">
                <a:solidFill>
                  <a:srgbClr val="2C3E50"/>
                </a:solidFill>
                <a:latin typeface="Calibri"/>
              </a:rPr>
              <a:t>ICDM 2027</a:t>
            </a:r>
          </a:p>
        </p:txBody>
      </p:sp>
      <p:sp>
        <p:nvSpPr>
          <p:cNvPr id="99" name="TextBox 98"/>
          <p:cNvSpPr txBox="1"/>
          <p:nvPr/>
        </p:nvSpPr>
        <p:spPr>
          <a:xfrm>
            <a:off x="1673352" y="3931920"/>
            <a:ext cx="310896"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a:t>
            </a:r>
          </a:p>
        </p:txBody>
      </p:sp>
      <p:sp>
        <p:nvSpPr>
          <p:cNvPr id="100" name="TextBox 99"/>
          <p:cNvSpPr txBox="1"/>
          <p:nvPr/>
        </p:nvSpPr>
        <p:spPr>
          <a:xfrm>
            <a:off x="2039112" y="3931920"/>
            <a:ext cx="877824" cy="246888"/>
          </a:xfrm>
          <a:prstGeom prst="rect">
            <a:avLst/>
          </a:prstGeom>
          <a:noFill/>
        </p:spPr>
        <p:txBody>
          <a:bodyPr wrap="square" lIns="45720" rIns="45720" tIns="18288" bIns="18288" anchor="ctr">
            <a:spAutoFit/>
          </a:bodyPr>
          <a:lstStyle/>
          <a:p>
            <a:pPr algn="l"/>
            <a:r>
              <a:rPr sz="700" b="0" i="0">
                <a:solidFill>
                  <a:srgbClr val="2C3E50"/>
                </a:solidFill>
                <a:latin typeface="Calibri"/>
              </a:rPr>
              <a:t>juin 2027 °</a:t>
            </a:r>
          </a:p>
        </p:txBody>
      </p:sp>
      <p:sp>
        <p:nvSpPr>
          <p:cNvPr id="101" name="TextBox 100"/>
          <p:cNvSpPr txBox="1"/>
          <p:nvPr/>
        </p:nvSpPr>
        <p:spPr>
          <a:xfrm>
            <a:off x="2971800" y="3931920"/>
            <a:ext cx="585215" cy="246888"/>
          </a:xfrm>
          <a:prstGeom prst="rect">
            <a:avLst/>
          </a:prstGeom>
          <a:noFill/>
        </p:spPr>
        <p:txBody>
          <a:bodyPr wrap="square" lIns="45720" rIns="45720" tIns="18288" bIns="18288" anchor="ctr">
            <a:spAutoFit/>
          </a:bodyPr>
          <a:lstStyle/>
          <a:p>
            <a:pPr algn="ctr"/>
            <a:r>
              <a:rPr sz="700" b="0" i="0">
                <a:solidFill>
                  <a:srgbClr val="2C3E50"/>
                </a:solidFill>
                <a:latin typeface="Calibri"/>
              </a:rPr>
              <a:t>≈10–13 %</a:t>
            </a:r>
          </a:p>
        </p:txBody>
      </p:sp>
      <p:sp>
        <p:nvSpPr>
          <p:cNvPr id="102" name="TextBox 101"/>
          <p:cNvSpPr txBox="1"/>
          <p:nvPr/>
        </p:nvSpPr>
        <p:spPr>
          <a:xfrm>
            <a:off x="3611879" y="3931920"/>
            <a:ext cx="1335024" cy="246888"/>
          </a:xfrm>
          <a:prstGeom prst="rect">
            <a:avLst/>
          </a:prstGeom>
          <a:noFill/>
        </p:spPr>
        <p:txBody>
          <a:bodyPr wrap="square" lIns="45720" rIns="45720" tIns="18288" bIns="18288" anchor="ctr">
            <a:spAutoFit/>
          </a:bodyPr>
          <a:lstStyle/>
          <a:p>
            <a:pPr algn="l"/>
            <a:r>
              <a:rPr sz="700" b="0" i="0">
                <a:solidFill>
                  <a:srgbClr val="2C3E50"/>
                </a:solidFill>
                <a:latin typeface="Calibri"/>
              </a:rPr>
              <a:t>IEEE, 10 p. tout inclus</a:t>
            </a:r>
          </a:p>
        </p:txBody>
      </p:sp>
      <p:sp>
        <p:nvSpPr>
          <p:cNvPr id="103" name="TextBox 102"/>
          <p:cNvSpPr txBox="1"/>
          <p:nvPr/>
        </p:nvSpPr>
        <p:spPr>
          <a:xfrm>
            <a:off x="5001768" y="3931920"/>
            <a:ext cx="658368" cy="246888"/>
          </a:xfrm>
          <a:prstGeom prst="rect">
            <a:avLst/>
          </a:prstGeom>
          <a:noFill/>
        </p:spPr>
        <p:txBody>
          <a:bodyPr wrap="square" lIns="45720" rIns="45720" tIns="18288" bIns="18288" anchor="ctr">
            <a:spAutoFit/>
          </a:bodyPr>
          <a:lstStyle/>
          <a:p>
            <a:pPr algn="ctr"/>
            <a:r>
              <a:rPr sz="700" b="0" i="0">
                <a:solidFill>
                  <a:srgbClr val="2C3E50"/>
                </a:solidFill>
                <a:latin typeface="Calibri"/>
              </a:rPr>
              <a:t>Reg./short</a:t>
            </a:r>
          </a:p>
        </p:txBody>
      </p:sp>
      <p:sp>
        <p:nvSpPr>
          <p:cNvPr id="104" name="TextBox 103"/>
          <p:cNvSpPr txBox="1"/>
          <p:nvPr/>
        </p:nvSpPr>
        <p:spPr>
          <a:xfrm>
            <a:off x="5715000" y="3931920"/>
            <a:ext cx="603503" cy="246888"/>
          </a:xfrm>
          <a:prstGeom prst="rect">
            <a:avLst/>
          </a:prstGeom>
          <a:noFill/>
        </p:spPr>
        <p:txBody>
          <a:bodyPr wrap="square" lIns="45720" rIns="45720" tIns="18288" bIns="18288" anchor="ctr">
            <a:spAutoFit/>
          </a:bodyPr>
          <a:lstStyle/>
          <a:p>
            <a:pPr algn="ctr"/>
            <a:r>
              <a:rPr sz="700" b="0" i="0">
                <a:solidFill>
                  <a:srgbClr val="2C3E50"/>
                </a:solidFill>
                <a:latin typeface="Calibri"/>
              </a:rPr>
              <a:t>Non</a:t>
            </a:r>
          </a:p>
        </p:txBody>
      </p:sp>
      <p:sp>
        <p:nvSpPr>
          <p:cNvPr id="105" name="TextBox 104"/>
          <p:cNvSpPr txBox="1"/>
          <p:nvPr/>
        </p:nvSpPr>
        <p:spPr>
          <a:xfrm>
            <a:off x="6373368" y="3931920"/>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106" name="TextBox 105"/>
          <p:cNvSpPr txBox="1"/>
          <p:nvPr/>
        </p:nvSpPr>
        <p:spPr>
          <a:xfrm>
            <a:off x="6848856" y="3931920"/>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107" name="TextBox 106"/>
          <p:cNvSpPr txBox="1"/>
          <p:nvPr/>
        </p:nvSpPr>
        <p:spPr>
          <a:xfrm>
            <a:off x="7324344" y="3931920"/>
            <a:ext cx="1517904" cy="246888"/>
          </a:xfrm>
          <a:prstGeom prst="rect">
            <a:avLst/>
          </a:prstGeom>
          <a:noFill/>
        </p:spPr>
        <p:txBody>
          <a:bodyPr wrap="square" lIns="45720" rIns="45720" tIns="18288" bIns="18288" anchor="ctr">
            <a:spAutoFit/>
          </a:bodyPr>
          <a:lstStyle/>
          <a:p>
            <a:pPr algn="l"/>
            <a:r>
              <a:rPr sz="700" b="0" i="0">
                <a:solidFill>
                  <a:srgbClr val="2C3E50"/>
                </a:solidFill>
                <a:latin typeface="Calibri"/>
              </a:rPr>
              <a:t>Retour possible, comité renouvelé</a:t>
            </a:r>
          </a:p>
        </p:txBody>
      </p:sp>
      <p:sp>
        <p:nvSpPr>
          <p:cNvPr id="108" name="Rectangle 107"/>
          <p:cNvSpPr/>
          <p:nvPr/>
        </p:nvSpPr>
        <p:spPr>
          <a:xfrm>
            <a:off x="274320" y="4178808"/>
            <a:ext cx="8595360" cy="246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01751" y="4178808"/>
            <a:ext cx="1316736" cy="246888"/>
          </a:xfrm>
          <a:prstGeom prst="rect">
            <a:avLst/>
          </a:prstGeom>
          <a:noFill/>
        </p:spPr>
        <p:txBody>
          <a:bodyPr wrap="square" lIns="45720" rIns="45720" tIns="18288" bIns="18288" anchor="ctr">
            <a:spAutoFit/>
          </a:bodyPr>
          <a:lstStyle/>
          <a:p>
            <a:pPr algn="l"/>
            <a:r>
              <a:rPr sz="700" b="0" i="0">
                <a:solidFill>
                  <a:srgbClr val="2C3E50"/>
                </a:solidFill>
                <a:latin typeface="Calibri"/>
              </a:rPr>
              <a:t>DSAA 2027</a:t>
            </a:r>
          </a:p>
        </p:txBody>
      </p:sp>
      <p:sp>
        <p:nvSpPr>
          <p:cNvPr id="110" name="TextBox 109"/>
          <p:cNvSpPr txBox="1"/>
          <p:nvPr/>
        </p:nvSpPr>
        <p:spPr>
          <a:xfrm>
            <a:off x="1673352" y="4178808"/>
            <a:ext cx="310896" cy="246888"/>
          </a:xfrm>
          <a:prstGeom prst="rect">
            <a:avLst/>
          </a:prstGeom>
          <a:noFill/>
        </p:spPr>
        <p:txBody>
          <a:bodyPr wrap="square" lIns="45720" rIns="45720" tIns="18288" bIns="18288" anchor="ctr">
            <a:spAutoFit/>
          </a:bodyPr>
          <a:lstStyle/>
          <a:p>
            <a:pPr algn="ctr"/>
            <a:r>
              <a:rPr sz="700" b="0" i="0">
                <a:solidFill>
                  <a:srgbClr val="2C3E50"/>
                </a:solidFill>
                <a:latin typeface="Calibri"/>
              </a:rPr>
              <a:t>B</a:t>
            </a:r>
          </a:p>
        </p:txBody>
      </p:sp>
      <p:sp>
        <p:nvSpPr>
          <p:cNvPr id="111" name="TextBox 110"/>
          <p:cNvSpPr txBox="1"/>
          <p:nvPr/>
        </p:nvSpPr>
        <p:spPr>
          <a:xfrm>
            <a:off x="2039112" y="4178808"/>
            <a:ext cx="877824" cy="246888"/>
          </a:xfrm>
          <a:prstGeom prst="rect">
            <a:avLst/>
          </a:prstGeom>
          <a:noFill/>
        </p:spPr>
        <p:txBody>
          <a:bodyPr wrap="square" lIns="45720" rIns="45720" tIns="18288" bIns="18288" anchor="ctr">
            <a:spAutoFit/>
          </a:bodyPr>
          <a:lstStyle/>
          <a:p>
            <a:pPr algn="l"/>
            <a:r>
              <a:rPr sz="700" b="0" i="0">
                <a:solidFill>
                  <a:srgbClr val="2C3E50"/>
                </a:solidFill>
                <a:latin typeface="Calibri"/>
              </a:rPr>
              <a:t>juin 2027 °</a:t>
            </a:r>
          </a:p>
        </p:txBody>
      </p:sp>
      <p:sp>
        <p:nvSpPr>
          <p:cNvPr id="112" name="TextBox 111"/>
          <p:cNvSpPr txBox="1"/>
          <p:nvPr/>
        </p:nvSpPr>
        <p:spPr>
          <a:xfrm>
            <a:off x="2971800" y="4178808"/>
            <a:ext cx="585215" cy="246888"/>
          </a:xfrm>
          <a:prstGeom prst="rect">
            <a:avLst/>
          </a:prstGeom>
          <a:noFill/>
        </p:spPr>
        <p:txBody>
          <a:bodyPr wrap="square" lIns="45720" rIns="45720" tIns="18288" bIns="18288" anchor="ctr">
            <a:spAutoFit/>
          </a:bodyPr>
          <a:lstStyle/>
          <a:p>
            <a:pPr algn="ctr"/>
            <a:r>
              <a:rPr sz="700" b="0" i="0">
                <a:solidFill>
                  <a:srgbClr val="2C3E50"/>
                </a:solidFill>
                <a:latin typeface="Calibri"/>
              </a:rPr>
              <a:t>≈20–25 % °</a:t>
            </a:r>
          </a:p>
        </p:txBody>
      </p:sp>
      <p:sp>
        <p:nvSpPr>
          <p:cNvPr id="113" name="TextBox 112"/>
          <p:cNvSpPr txBox="1"/>
          <p:nvPr/>
        </p:nvSpPr>
        <p:spPr>
          <a:xfrm>
            <a:off x="3611879" y="4178808"/>
            <a:ext cx="1335024" cy="246888"/>
          </a:xfrm>
          <a:prstGeom prst="rect">
            <a:avLst/>
          </a:prstGeom>
          <a:noFill/>
        </p:spPr>
        <p:txBody>
          <a:bodyPr wrap="square" lIns="45720" rIns="45720" tIns="18288" bIns="18288" anchor="ctr">
            <a:spAutoFit/>
          </a:bodyPr>
          <a:lstStyle/>
          <a:p>
            <a:pPr algn="l"/>
            <a:r>
              <a:rPr sz="700" b="0" i="0">
                <a:solidFill>
                  <a:srgbClr val="2C3E50"/>
                </a:solidFill>
                <a:latin typeface="Calibri"/>
              </a:rPr>
              <a:t>IEEE, 10 p. °</a:t>
            </a:r>
          </a:p>
        </p:txBody>
      </p:sp>
      <p:sp>
        <p:nvSpPr>
          <p:cNvPr id="114" name="TextBox 113"/>
          <p:cNvSpPr txBox="1"/>
          <p:nvPr/>
        </p:nvSpPr>
        <p:spPr>
          <a:xfrm>
            <a:off x="5001768" y="4178808"/>
            <a:ext cx="658368" cy="246888"/>
          </a:xfrm>
          <a:prstGeom prst="rect">
            <a:avLst/>
          </a:prstGeom>
          <a:noFill/>
        </p:spPr>
        <p:txBody>
          <a:bodyPr wrap="square" lIns="45720" rIns="45720" tIns="18288" bIns="18288" anchor="ctr">
            <a:spAutoFit/>
          </a:bodyPr>
          <a:lstStyle/>
          <a:p>
            <a:pPr algn="ctr"/>
            <a:r>
              <a:rPr sz="700" b="0" i="0">
                <a:solidFill>
                  <a:srgbClr val="2C3E50"/>
                </a:solidFill>
                <a:latin typeface="Calibri"/>
              </a:rPr>
              <a:t>Oral</a:t>
            </a:r>
          </a:p>
        </p:txBody>
      </p:sp>
      <p:sp>
        <p:nvSpPr>
          <p:cNvPr id="115" name="TextBox 114"/>
          <p:cNvSpPr txBox="1"/>
          <p:nvPr/>
        </p:nvSpPr>
        <p:spPr>
          <a:xfrm>
            <a:off x="5715000" y="4178808"/>
            <a:ext cx="603503" cy="246888"/>
          </a:xfrm>
          <a:prstGeom prst="rect">
            <a:avLst/>
          </a:prstGeom>
          <a:noFill/>
        </p:spPr>
        <p:txBody>
          <a:bodyPr wrap="square" lIns="45720" rIns="45720" tIns="18288" bIns="18288" anchor="ctr">
            <a:spAutoFit/>
          </a:bodyPr>
          <a:lstStyle/>
          <a:p>
            <a:pPr algn="ctr"/>
            <a:r>
              <a:rPr sz="700" b="0" i="0">
                <a:solidFill>
                  <a:srgbClr val="2C3E50"/>
                </a:solidFill>
                <a:latin typeface="Calibri"/>
              </a:rPr>
              <a:t>Non °</a:t>
            </a:r>
          </a:p>
        </p:txBody>
      </p:sp>
      <p:sp>
        <p:nvSpPr>
          <p:cNvPr id="116" name="TextBox 115"/>
          <p:cNvSpPr txBox="1"/>
          <p:nvPr/>
        </p:nvSpPr>
        <p:spPr>
          <a:xfrm>
            <a:off x="6373368" y="4178808"/>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117" name="TextBox 116"/>
          <p:cNvSpPr txBox="1"/>
          <p:nvPr/>
        </p:nvSpPr>
        <p:spPr>
          <a:xfrm>
            <a:off x="6848856" y="4178808"/>
            <a:ext cx="420624" cy="246888"/>
          </a:xfrm>
          <a:prstGeom prst="rect">
            <a:avLst/>
          </a:prstGeom>
          <a:noFill/>
        </p:spPr>
        <p:txBody>
          <a:bodyPr wrap="square" lIns="45720" rIns="45720" tIns="18288" bIns="18288" anchor="ctr">
            <a:spAutoFit/>
          </a:bodyPr>
          <a:lstStyle/>
          <a:p>
            <a:pPr algn="ctr"/>
            <a:r>
              <a:rPr sz="700" b="0" i="0">
                <a:solidFill>
                  <a:srgbClr val="2C3E50"/>
                </a:solidFill>
                <a:latin typeface="Calibri"/>
              </a:rPr>
              <a:t>★★☆☆☆</a:t>
            </a:r>
          </a:p>
        </p:txBody>
      </p:sp>
      <p:sp>
        <p:nvSpPr>
          <p:cNvPr id="118" name="TextBox 117"/>
          <p:cNvSpPr txBox="1"/>
          <p:nvPr/>
        </p:nvSpPr>
        <p:spPr>
          <a:xfrm>
            <a:off x="7324344" y="4178808"/>
            <a:ext cx="1517904" cy="246888"/>
          </a:xfrm>
          <a:prstGeom prst="rect">
            <a:avLst/>
          </a:prstGeom>
          <a:noFill/>
        </p:spPr>
        <p:txBody>
          <a:bodyPr wrap="square" lIns="45720" rIns="45720" tIns="18288" bIns="18288" anchor="ctr">
            <a:spAutoFit/>
          </a:bodyPr>
          <a:lstStyle/>
          <a:p>
            <a:pPr algn="l"/>
            <a:r>
              <a:rPr sz="700" b="0" i="0">
                <a:solidFill>
                  <a:srgbClr val="2C3E50"/>
                </a:solidFill>
                <a:latin typeface="Calibri"/>
              </a:rPr>
              <a:t>Repli tardif</a:t>
            </a:r>
          </a:p>
        </p:txBody>
      </p:sp>
      <p:sp>
        <p:nvSpPr>
          <p:cNvPr id="119" name="TextBox 118"/>
          <p:cNvSpPr txBox="1"/>
          <p:nvPr/>
        </p:nvSpPr>
        <p:spPr>
          <a:xfrm>
            <a:off x="274320" y="4462272"/>
            <a:ext cx="8595360" cy="182880"/>
          </a:xfrm>
          <a:prstGeom prst="rect">
            <a:avLst/>
          </a:prstGeom>
          <a:noFill/>
        </p:spPr>
        <p:txBody>
          <a:bodyPr wrap="square" lIns="45720" rIns="45720" tIns="18288" bIns="18288" anchor="t">
            <a:spAutoFit/>
          </a:bodyPr>
          <a:lstStyle/>
          <a:p>
            <a:pPr algn="l"/>
            <a:r>
              <a:rPr sz="750" b="0" i="1">
                <a:solidFill>
                  <a:srgbClr val="8A9BB0"/>
                </a:solidFill>
                <a:latin typeface="Calibri"/>
              </a:rPr>
              <a:t>° Dates 2027 projetées depuis l'édition 2026, à confirmer sur les appels officiels.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Annexe — La borne réparée, étape par étape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25</a:t>
            </a:r>
          </a:p>
        </p:txBody>
      </p:sp>
      <p:sp>
        <p:nvSpPr>
          <p:cNvPr id="5" name="TextBox 4"/>
          <p:cNvSpPr txBox="1"/>
          <p:nvPr/>
        </p:nvSpPr>
        <p:spPr>
          <a:xfrm>
            <a:off x="274320" y="658368"/>
            <a:ext cx="5074920" cy="1737360"/>
          </a:xfrm>
          <a:prstGeom prst="rect">
            <a:avLst/>
          </a:prstGeom>
          <a:noFill/>
        </p:spPr>
        <p:txBody>
          <a:bodyPr wrap="square" lIns="45720" rIns="45720" tIns="18288" bIns="18288" anchor="t">
            <a:spAutoFit/>
          </a:bodyPr>
          <a:lstStyle/>
          <a:p>
            <a:pPr algn="l"/>
            <a:r>
              <a:rPr sz="850" b="0" i="0">
                <a:solidFill>
                  <a:srgbClr val="5D6D7E"/>
                </a:solidFill>
                <a:latin typeface="Calibri"/>
              </a:rPr>
              <a:t>•  Le compteur est une marche réfléchie : il repart de zéro dès que le cumul devient négatif. Franchir le seuil, c'est donc le franchir depuis l'un quelconque des points de remise à zéro.</a:t>
            </a:r>
          </a:p>
          <a:p>
            <a:pPr algn="l"/>
            <a:r>
              <a:rPr sz="850" b="0" i="0">
                <a:solidFill>
                  <a:srgbClr val="5D6D7E"/>
                </a:solidFill>
                <a:latin typeface="Calibri"/>
              </a:rPr>
              <a:t>•  Une réunion sur ces points de redémarrage, puis l'inégalité maximale de Doob appliquée à la martingale exponentielle, puis la concentration d'Azuma–Hoeffding pour des incréments bornés dans un intervalle de longueur 1.</a:t>
            </a:r>
          </a:p>
          <a:p>
            <a:pPr algn="l"/>
            <a:r>
              <a:rPr sz="850" b="0" i="0">
                <a:solidFill>
                  <a:srgbClr val="5D6D7E"/>
                </a:solidFill>
                <a:latin typeface="Calibri"/>
              </a:rPr>
              <a:t>•  Le niveau du compteur à l'instant de la rupture n'est pas nul : il suit la loi stationnaire de la marche réfléchie, dont la queue est exponentielle. Il entre dans l'énoncé, il n'est pas escamoté.</a:t>
            </a:r>
          </a:p>
          <a:p>
            <a:pPr algn="l"/>
            <a:r>
              <a:rPr sz="850" b="0" i="0">
                <a:solidFill>
                  <a:srgbClr val="5D6D7E"/>
                </a:solidFill>
                <a:latin typeface="Calibri"/>
              </a:rPr>
              <a:t>•  La frontière qui en découle fait apparaître la fluctuation explicitement.</a:t>
            </a:r>
          </a:p>
        </p:txBody>
      </p:sp>
      <p:sp>
        <p:nvSpPr>
          <p:cNvPr id="6" name="Rectangle 5"/>
          <p:cNvSpPr/>
          <p:nvPr/>
        </p:nvSpPr>
        <p:spPr>
          <a:xfrm>
            <a:off x="274320" y="2514600"/>
            <a:ext cx="5074920" cy="86868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560320"/>
            <a:ext cx="4892040" cy="237744"/>
          </a:xfrm>
          <a:prstGeom prst="rect">
            <a:avLst/>
          </a:prstGeom>
          <a:noFill/>
        </p:spPr>
        <p:txBody>
          <a:bodyPr wrap="square" lIns="45720" rIns="45720" tIns="18288" bIns="18288" anchor="t">
            <a:spAutoFit/>
          </a:bodyPr>
          <a:lstStyle/>
          <a:p>
            <a:pPr algn="l"/>
            <a:r>
              <a:rPr sz="1000" b="0" i="1">
                <a:solidFill>
                  <a:srgbClr val="2D3748"/>
                </a:solidFill>
                <a:latin typeface="Calibri"/>
              </a:rPr>
              <a:t>λ_starve(W ; ε) = μW + √((W/2)·ln(W/ε))</a:t>
            </a:r>
          </a:p>
        </p:txBody>
      </p:sp>
      <p:sp>
        <p:nvSpPr>
          <p:cNvPr id="8" name="TextBox 7"/>
          <p:cNvSpPr txBox="1"/>
          <p:nvPr/>
        </p:nvSpPr>
        <p:spPr>
          <a:xfrm>
            <a:off x="365760" y="2807208"/>
            <a:ext cx="4892040" cy="539496"/>
          </a:xfrm>
          <a:prstGeom prst="rect">
            <a:avLst/>
          </a:prstGeom>
          <a:noFill/>
        </p:spPr>
        <p:txBody>
          <a:bodyPr wrap="square" lIns="45720" rIns="45720" tIns="18288" bIns="18288" anchor="t">
            <a:spAutoFit/>
          </a:bodyPr>
          <a:lstStyle/>
          <a:p>
            <a:pPr algn="l"/>
            <a:r>
              <a:rPr sz="750" b="0" i="0">
                <a:solidFill>
                  <a:srgbClr val="5D6D7E"/>
                </a:solidFill>
                <a:latin typeface="Calibri"/>
              </a:rPr>
              <a:t>La frontière de famine. En régime de dérive faible, le second terme domine le premier.</a:t>
            </a:r>
          </a:p>
        </p:txBody>
      </p:sp>
      <p:sp>
        <p:nvSpPr>
          <p:cNvPr id="9" name="Rectangle 8"/>
          <p:cNvSpPr/>
          <p:nvPr/>
        </p:nvSpPr>
        <p:spPr>
          <a:xfrm>
            <a:off x="5486400" y="658368"/>
            <a:ext cx="3383280" cy="393192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23560" y="749808"/>
            <a:ext cx="3108960" cy="3749039"/>
          </a:xfrm>
          <a:prstGeom prst="rect">
            <a:avLst/>
          </a:prstGeom>
          <a:noFill/>
        </p:spPr>
        <p:txBody>
          <a:bodyPr wrap="square" lIns="45720" rIns="45720" tIns="18288" bIns="18288" anchor="ctr">
            <a:spAutoFit/>
          </a:bodyPr>
          <a:lstStyle/>
          <a:p>
            <a:pPr algn="ctr"/>
            <a:r>
              <a:rPr sz="900" b="0" i="1">
                <a:solidFill>
                  <a:srgbClr val="8A9BB0"/>
                </a:solidFill>
                <a:latin typeface="Calibri"/>
              </a:rPr>
              <a:t>[FIGURE]  Trajectoire en dents de scie du compteur, avec remises à zéro visibles et trois seuils horizontaux. Zone ombrée sur la fenêtre post-rupture.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Annexe — Pourquoi le budget de preuve forme une cloche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26</a:t>
            </a:r>
          </a:p>
        </p:txBody>
      </p:sp>
      <p:sp>
        <p:nvSpPr>
          <p:cNvPr id="5" name="TextBox 4"/>
          <p:cNvSpPr txBox="1"/>
          <p:nvPr/>
        </p:nvSpPr>
        <p:spPr>
          <a:xfrm>
            <a:off x="274320" y="658368"/>
            <a:ext cx="8595360" cy="1463040"/>
          </a:xfrm>
          <a:prstGeom prst="rect">
            <a:avLst/>
          </a:prstGeom>
          <a:noFill/>
        </p:spPr>
        <p:txBody>
          <a:bodyPr wrap="square" lIns="45720" rIns="45720" tIns="18288" bIns="18288" anchor="t">
            <a:spAutoFit/>
          </a:bodyPr>
          <a:lstStyle/>
          <a:p>
            <a:pPr algn="l"/>
            <a:r>
              <a:rPr sz="850" b="0" i="0">
                <a:solidFill>
                  <a:srgbClr val="5D6D7E"/>
                </a:solidFill>
                <a:latin typeface="Calibri"/>
              </a:rPr>
              <a:t>•  </a:t>
            </a:r>
            <a:r>
              <a:rPr sz="850" b="1" i="0">
                <a:solidFill>
                  <a:srgbClr val="2C3E50"/>
                </a:solidFill>
                <a:latin typeface="Calibri"/>
              </a:rPr>
              <a:t>Montée, à gauche.</a:t>
            </a:r>
            <a:r>
              <a:rPr sz="850" b="0" i="0">
                <a:solidFill>
                  <a:srgbClr val="5D6D7E"/>
                </a:solidFill>
                <a:latin typeface="Calibri"/>
              </a:rPr>
              <a:t> Le saut d'erreur est faible ; le transitoire est long, mais l'excès accumulé par pas est minuscule. Le budget reste bas.</a:t>
            </a:r>
          </a:p>
          <a:p>
            <a:pPr algn="l"/>
            <a:r>
              <a:rPr sz="850" b="0" i="0">
                <a:solidFill>
                  <a:srgbClr val="5D6D7E"/>
                </a:solidFill>
                <a:latin typeface="Calibri"/>
              </a:rPr>
              <a:t>•  </a:t>
            </a:r>
            <a:r>
              <a:rPr sz="850" b="1" i="0">
                <a:solidFill>
                  <a:srgbClr val="2C3E50"/>
                </a:solidFill>
                <a:latin typeface="Calibri"/>
              </a:rPr>
              <a:t>Plateau, au milieu.</a:t>
            </a:r>
            <a:r>
              <a:rPr sz="850" b="0" i="0">
                <a:solidFill>
                  <a:srgbClr val="5D6D7E"/>
                </a:solidFill>
                <a:latin typeface="Calibri"/>
              </a:rPr>
              <a:t> Le saut est assez fort pour accumuler vite, et le transitoire encore assez long pour que l'accumulation se produise.</a:t>
            </a:r>
          </a:p>
          <a:p>
            <a:pPr algn="l"/>
            <a:r>
              <a:rPr sz="850" b="0" i="0">
                <a:solidFill>
                  <a:srgbClr val="5D6D7E"/>
                </a:solidFill>
                <a:latin typeface="Calibri"/>
              </a:rPr>
              <a:t>•  </a:t>
            </a:r>
            <a:r>
              <a:rPr sz="850" b="1" i="0">
                <a:solidFill>
                  <a:srgbClr val="2C3E50"/>
                </a:solidFill>
                <a:latin typeface="Calibri"/>
              </a:rPr>
              <a:t>Descente, à droite.</a:t>
            </a:r>
            <a:r>
              <a:rPr sz="850" b="0" i="0">
                <a:solidFill>
                  <a:srgbClr val="5D6D7E"/>
                </a:solidFill>
                <a:latin typeface="Calibri"/>
              </a:rPr>
              <a:t> Le saut est fort, mais l'adaptation consomme le transitoire plus vite que la marche n'accumule. Et la latence du premier remplacement sature autour de 29 pas : elle ne peut plus raccourcir. L'intégrale rétrécit par le haut, pas par la durée.</a:t>
            </a:r>
          </a:p>
          <a:p>
            <a:pPr algn="l"/>
            <a:r>
              <a:rPr sz="850" b="0" i="0">
                <a:solidFill>
                  <a:srgbClr val="5D6D7E"/>
                </a:solidFill>
                <a:latin typeface="Calibri"/>
              </a:rPr>
              <a:t>•  La pente locale en échelle logarithmique parcourt un facteur trois sur le domaine valide, mais les points de droite sont limités par la résolution de la médiane : l'ensemble de la queue tient en quatre demi-pas. Aucune pente ne s'y lit, dans aucun sens.</a:t>
            </a:r>
          </a:p>
          <a:p>
            <a:pPr algn="l"/>
            <a:r>
              <a:rPr sz="850" b="0" i="0">
                <a:solidFill>
                  <a:srgbClr val="5D6D7E"/>
                </a:solidFill>
                <a:latin typeface="Calibri"/>
              </a:rPr>
              <a:t>•  La courbure agrégée, elle, tient : </a:t>
            </a:r>
            <a:r>
              <a:rPr sz="850" b="1" i="0">
                <a:solidFill>
                  <a:srgbClr val="2C3E50"/>
                </a:solidFill>
                <a:latin typeface="Calibri"/>
              </a:rPr>
              <a:t>0,500</a:t>
            </a:r>
            <a:r>
              <a:rPr sz="850" b="0" i="0">
                <a:solidFill>
                  <a:srgbClr val="5D6D7E"/>
                </a:solidFill>
                <a:latin typeface="Calibri"/>
              </a:rPr>
              <a:t> [0,296 ; 0,759], et elle </a:t>
            </a:r>
            <a:r>
              <a:rPr sz="850" b="1" i="0">
                <a:solidFill>
                  <a:srgbClr val="2C3E50"/>
                </a:solidFill>
                <a:latin typeface="Calibri"/>
              </a:rPr>
              <a:t>augmente</a:t>
            </a:r>
            <a:r>
              <a:rPr sz="850" b="0" i="0">
                <a:solidFill>
                  <a:srgbClr val="5D6D7E"/>
                </a:solidFill>
                <a:latin typeface="Calibri"/>
              </a:rPr>
              <a:t> quand on retire la queue quantifiée.</a:t>
            </a:r>
          </a:p>
        </p:txBody>
      </p:sp>
      <p:sp>
        <p:nvSpPr>
          <p:cNvPr id="6" name="Rectangle 5"/>
          <p:cNvSpPr/>
          <p:nvPr/>
        </p:nvSpPr>
        <p:spPr>
          <a:xfrm>
            <a:off x="274320" y="2240280"/>
            <a:ext cx="8595360" cy="242316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2331720"/>
            <a:ext cx="8321040" cy="2240279"/>
          </a:xfrm>
          <a:prstGeom prst="rect">
            <a:avLst/>
          </a:prstGeom>
          <a:noFill/>
        </p:spPr>
        <p:txBody>
          <a:bodyPr wrap="square" lIns="45720" rIns="45720" tIns="18288" bIns="18288" anchor="ctr">
            <a:spAutoFit/>
          </a:bodyPr>
          <a:lstStyle/>
          <a:p>
            <a:pPr algn="ctr"/>
            <a:r>
              <a:rPr sz="900" b="0" i="1">
                <a:solidFill>
                  <a:srgbClr val="8A9BB0"/>
                </a:solidFill>
                <a:latin typeface="Calibri"/>
              </a:rPr>
              <a:t>[FIGURE]  La cloche, avec trois zones annotées « accumulation lente », « plateau », « transitoire consommé ». Sous l'axe, une bande grise sur les six dernières amplitudes annotée « résolution de mesure : 4 demi-pas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Annexe — Le retard d'étiquetage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27</a:t>
            </a:r>
          </a:p>
        </p:txBody>
      </p:sp>
      <p:sp>
        <p:nvSpPr>
          <p:cNvPr id="5" name="TextBox 4"/>
          <p:cNvSpPr txBox="1"/>
          <p:nvPr/>
        </p:nvSpPr>
        <p:spPr>
          <a:xfrm>
            <a:off x="274320" y="658368"/>
            <a:ext cx="8595360" cy="1325880"/>
          </a:xfrm>
          <a:prstGeom prst="rect">
            <a:avLst/>
          </a:prstGeom>
          <a:noFill/>
        </p:spPr>
        <p:txBody>
          <a:bodyPr wrap="square" lIns="45720" rIns="45720" tIns="18288" bIns="18288" anchor="t">
            <a:spAutoFit/>
          </a:bodyPr>
          <a:lstStyle/>
          <a:p>
            <a:pPr algn="l"/>
            <a:r>
              <a:rPr sz="850" b="0" i="0">
                <a:solidFill>
                  <a:srgbClr val="5D6D7E"/>
                </a:solidFill>
                <a:latin typeface="Calibri"/>
              </a:rPr>
              <a:t>•  Un moniteur externe lit un flux d'erreur, donc il lui faut des étiquettes. Elles arrivent rarement à l'instant de la prédiction.</a:t>
            </a:r>
          </a:p>
          <a:p>
            <a:pPr algn="l"/>
            <a:r>
              <a:rPr sz="850" b="0" i="0">
                <a:solidFill>
                  <a:srgbClr val="5D6D7E"/>
                </a:solidFill>
                <a:latin typeface="Calibri"/>
              </a:rPr>
              <a:t>•  Deux régimes, et ils ne se comportent pas pareil.</a:t>
            </a:r>
          </a:p>
          <a:p>
            <a:pPr algn="l"/>
            <a:r>
              <a:rPr sz="850" b="0" i="0">
                <a:solidFill>
                  <a:srgbClr val="5D6D7E"/>
                </a:solidFill>
                <a:latin typeface="Calibri"/>
              </a:rPr>
              <a:t>•  </a:t>
            </a:r>
            <a:r>
              <a:rPr sz="850" b="1" i="0">
                <a:solidFill>
                  <a:srgbClr val="2C3E50"/>
                </a:solidFill>
                <a:latin typeface="Calibri"/>
              </a:rPr>
              <a:t>Le moniteur seul est retardé.</a:t>
            </a:r>
            <a:r>
              <a:rPr sz="850" b="0" i="0">
                <a:solidFill>
                  <a:srgbClr val="5D6D7E"/>
                </a:solidFill>
                <a:latin typeface="Calibri"/>
              </a:rPr>
              <a:t> Il lit en retard une erreur que le classifieur a déjà commencé à effacer. La fenêtre exploitable rétrécit mécaniquement : la latence pénalise.</a:t>
            </a:r>
          </a:p>
          <a:p>
            <a:pPr algn="l"/>
            <a:r>
              <a:rPr sz="850" b="0" i="0">
                <a:solidFill>
                  <a:srgbClr val="5D6D7E"/>
                </a:solidFill>
                <a:latin typeface="Calibri"/>
              </a:rPr>
              <a:t>•  </a:t>
            </a:r>
            <a:r>
              <a:rPr sz="850" b="1" i="0">
                <a:solidFill>
                  <a:srgbClr val="2C3E50"/>
                </a:solidFill>
                <a:latin typeface="Calibri"/>
              </a:rPr>
              <a:t>Le classifieur et le moniteur partagent la latence.</a:t>
            </a:r>
            <a:r>
              <a:rPr sz="850" b="0" i="0">
                <a:solidFill>
                  <a:srgbClr val="5D6D7E"/>
                </a:solidFill>
                <a:latin typeface="Calibri"/>
              </a:rPr>
              <a:t> Le classifieur apprend aussi en retard, donc il efface plus tard. L'instant d'effacement recule de presque exactement la latence — coefficient mesuré </a:t>
            </a:r>
            <a:r>
              <a:rPr sz="850" b="1" i="0">
                <a:solidFill>
                  <a:srgbClr val="2C3E50"/>
                </a:solidFill>
                <a:latin typeface="Calibri"/>
              </a:rPr>
              <a:t>0,998</a:t>
            </a:r>
            <a:r>
              <a:rPr sz="850" b="0" i="0">
                <a:solidFill>
                  <a:srgbClr val="5D6D7E"/>
                </a:solidFill>
                <a:latin typeface="Calibri"/>
              </a:rPr>
              <a:t>. La fenêtre exploitable se </a:t>
            </a:r>
            <a:r>
              <a:rPr sz="850" b="1" i="0">
                <a:solidFill>
                  <a:srgbClr val="2C3E50"/>
                </a:solidFill>
                <a:latin typeface="Calibri"/>
              </a:rPr>
              <a:t>ré-élargit</a:t>
            </a:r>
            <a:r>
              <a:rPr sz="850" b="0" i="0">
                <a:solidFill>
                  <a:srgbClr val="5D6D7E"/>
                </a:solidFill>
                <a:latin typeface="Calibri"/>
              </a:rPr>
              <a:t>.</a:t>
            </a:r>
          </a:p>
          <a:p>
            <a:pPr algn="l"/>
            <a:r>
              <a:rPr sz="850" b="0" i="0">
                <a:solidFill>
                  <a:srgbClr val="5D6D7E"/>
                </a:solidFill>
                <a:latin typeface="Calibri"/>
              </a:rPr>
              <a:t>•  Conséquence de conception : dans un système où les étiquettes arrivent tard pour tout le monde, le retard n'aggrave pas l'angle mort. Dans un système où seul le moniteur attend, il l'aggrave.</a:t>
            </a:r>
          </a:p>
        </p:txBody>
      </p:sp>
      <p:pic>
        <p:nvPicPr>
          <p:cNvPr id="6" name="Picture 5" descr="fig6_retard_etiquetage.png"/>
          <p:cNvPicPr>
            <a:picLocks noChangeAspect="1"/>
          </p:cNvPicPr>
          <p:nvPr/>
        </p:nvPicPr>
        <p:blipFill>
          <a:blip r:embed="rId2"/>
          <a:stretch>
            <a:fillRect/>
          </a:stretch>
        </p:blipFill>
        <p:spPr>
          <a:xfrm>
            <a:off x="274320" y="2103120"/>
            <a:ext cx="8595360" cy="23876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Annexe — Les deux prédicats, et pourquoi ils ne fusionnent pas</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28</a:t>
            </a:r>
          </a:p>
        </p:txBody>
      </p:sp>
      <p:sp>
        <p:nvSpPr>
          <p:cNvPr id="5" name="TextBox 4"/>
          <p:cNvSpPr txBox="1"/>
          <p:nvPr/>
        </p:nvSpPr>
        <p:spPr>
          <a:xfrm>
            <a:off x="274320" y="658368"/>
            <a:ext cx="4983480" cy="3931920"/>
          </a:xfrm>
          <a:prstGeom prst="rect">
            <a:avLst/>
          </a:prstGeom>
          <a:noFill/>
        </p:spPr>
        <p:txBody>
          <a:bodyPr wrap="square" lIns="45720" rIns="45720" tIns="18288" bIns="18288" anchor="t">
            <a:spAutoFit/>
          </a:bodyPr>
          <a:lstStyle/>
          <a:p>
            <a:pPr algn="l"/>
            <a:r>
              <a:rPr sz="850" b="0" i="0">
                <a:solidFill>
                  <a:srgbClr val="5D6D7E"/>
                </a:solidFill>
                <a:latin typeface="Calibri"/>
              </a:rPr>
              <a:t>•  </a:t>
            </a:r>
            <a:r>
              <a:rPr sz="850" b="1" i="0">
                <a:solidFill>
                  <a:srgbClr val="2C3E50"/>
                </a:solidFill>
                <a:latin typeface="Calibri"/>
              </a:rPr>
              <a:t>Un compteur cumulatif dépense une intégrale.</a:t>
            </a:r>
            <a:r>
              <a:rPr sz="850" b="0" i="0">
                <a:solidFill>
                  <a:srgbClr val="5D6D7E"/>
                </a:solidFill>
                <a:latin typeface="Calibri"/>
              </a:rPr>
              <a:t> Il additionne l'excès d'erreur pas à pas et compare la somme à son seuil. Ce qu'il lui faut, c'est une aire.</a:t>
            </a:r>
          </a:p>
          <a:p>
            <a:pPr algn="l"/>
            <a:r>
              <a:rPr sz="850" b="0" i="0">
                <a:solidFill>
                  <a:srgbClr val="5D6D7E"/>
                </a:solidFill>
                <a:latin typeface="Calibri"/>
              </a:rPr>
              <a:t>•  </a:t>
            </a:r>
            <a:r>
              <a:rPr sz="850" b="1" i="0">
                <a:solidFill>
                  <a:srgbClr val="2C3E50"/>
                </a:solidFill>
                <a:latin typeface="Calibri"/>
              </a:rPr>
              <a:t>Un test à deux échantillons dépense du contraste.</a:t>
            </a:r>
            <a:r>
              <a:rPr sz="850" b="0" i="0">
                <a:solidFill>
                  <a:srgbClr val="5D6D7E"/>
                </a:solidFill>
                <a:latin typeface="Calibri"/>
              </a:rPr>
              <a:t> Il compare deux fenêtres et n'a besoin que d'un écart assez net à l'intérieur de ce qu'il regarde. Allonger le transitoire au-delà de sa fenêtre ne lui apporte rien.</a:t>
            </a:r>
          </a:p>
          <a:p>
            <a:pPr algn="l"/>
            <a:r>
              <a:rPr sz="850" b="0" i="0">
                <a:solidFill>
                  <a:srgbClr val="5D6D7E"/>
                </a:solidFill>
                <a:latin typeface="Calibri"/>
              </a:rPr>
              <a:t>•  La mesure tranche : quand l'amplitude augmente, le budget disponible chute de 24,0 à 1,2 pendant que la détection du second monte de 0,00 à 1,00. Un moniteur qui détecte davantage quand son budget rétrécit ne dépense pas ce budget.</a:t>
            </a:r>
          </a:p>
          <a:p>
            <a:pPr algn="l"/>
            <a:r>
              <a:rPr sz="850" b="0" i="0">
                <a:solidFill>
                  <a:srgbClr val="5D6D7E"/>
                </a:solidFill>
                <a:latin typeface="Calibri"/>
              </a:rPr>
              <a:t>•  Le modèle de contraste reproduit les mesures à </a:t>
            </a:r>
            <a:r>
              <a:rPr sz="850" b="1" i="0">
                <a:solidFill>
                  <a:srgbClr val="2C3E50"/>
                </a:solidFill>
                <a:latin typeface="Calibri"/>
              </a:rPr>
              <a:t>93,1 %</a:t>
            </a:r>
            <a:r>
              <a:rPr sz="850" b="0" i="0">
                <a:solidFill>
                  <a:srgbClr val="5D6D7E"/>
                </a:solidFill>
                <a:latin typeface="Calibri"/>
              </a:rPr>
              <a:t> sur la grille entière, contre 85,0 % pour la forme unifiée — et l'écart se creuse exactement là où le transitoire dépasse la fenêtre de lecture.</a:t>
            </a:r>
          </a:p>
          <a:p>
            <a:pPr algn="l"/>
            <a:r>
              <a:rPr sz="850" b="0" i="0">
                <a:solidFill>
                  <a:srgbClr val="5D6D7E"/>
                </a:solidFill>
                <a:latin typeface="Calibri"/>
              </a:rPr>
              <a:t>•  La généralisation avait été pré-enregistrée avec son seuil d'acceptation. Elle a été refusée par la règle, pas par une préférence.</a:t>
            </a:r>
          </a:p>
        </p:txBody>
      </p:sp>
      <p:sp>
        <p:nvSpPr>
          <p:cNvPr id="6" name="Rectangle 5"/>
          <p:cNvSpPr/>
          <p:nvPr/>
        </p:nvSpPr>
        <p:spPr>
          <a:xfrm>
            <a:off x="5394960" y="658368"/>
            <a:ext cx="3474720" cy="393192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32120" y="749808"/>
            <a:ext cx="3200400" cy="3749039"/>
          </a:xfrm>
          <a:prstGeom prst="rect">
            <a:avLst/>
          </a:prstGeom>
          <a:noFill/>
        </p:spPr>
        <p:txBody>
          <a:bodyPr wrap="square" lIns="45720" rIns="45720" tIns="18288" bIns="18288" anchor="ctr">
            <a:spAutoFit/>
          </a:bodyPr>
          <a:lstStyle/>
          <a:p>
            <a:pPr algn="ctr"/>
            <a:r>
              <a:rPr sz="900" b="0" i="1">
                <a:solidFill>
                  <a:srgbClr val="8A9BB0"/>
                </a:solidFill>
                <a:latin typeface="Calibri"/>
              </a:rPr>
              <a:t>[FIGURE]  Deux schémas côte à côte : à gauche, une courbe d'erreur avec l'aire sous la courbe hachurée, annotée « intégrale » ; à droite, deux fenêtres adjacentes avec la différence de leurs moyennes en flèche verticale, annotée « contraste ». Sous les deux, la barre d'accord 93,1 % contre 85,0 %.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Annexe — Ce que le manuscrit publie, et ce qu'il retire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29</a:t>
            </a:r>
          </a:p>
        </p:txBody>
      </p:sp>
      <p:sp>
        <p:nvSpPr>
          <p:cNvPr id="5" name="Rectangle 4"/>
          <p:cNvSpPr/>
          <p:nvPr/>
        </p:nvSpPr>
        <p:spPr>
          <a:xfrm>
            <a:off x="274320" y="658368"/>
            <a:ext cx="2761488" cy="29260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8368"/>
            <a:ext cx="2761488" cy="292608"/>
          </a:xfrm>
          <a:prstGeom prst="rect">
            <a:avLst/>
          </a:prstGeom>
          <a:noFill/>
        </p:spPr>
        <p:txBody>
          <a:bodyPr wrap="square" lIns="45720" rIns="45720" tIns="18288" bIns="18288" anchor="ctr">
            <a:spAutoFit/>
          </a:bodyPr>
          <a:lstStyle/>
          <a:p>
            <a:pPr algn="ctr"/>
            <a:r>
              <a:rPr sz="900" b="1" i="0">
                <a:solidFill>
                  <a:srgbClr val="FFFFFF"/>
                </a:solidFill>
                <a:latin typeface="Calibri"/>
              </a:rPr>
              <a:t>Publié avec sa preuve ou sa mesure</a:t>
            </a:r>
          </a:p>
        </p:txBody>
      </p:sp>
      <p:sp>
        <p:nvSpPr>
          <p:cNvPr id="7" name="TextBox 6"/>
          <p:cNvSpPr txBox="1"/>
          <p:nvPr/>
        </p:nvSpPr>
        <p:spPr>
          <a:xfrm>
            <a:off x="320040" y="1097280"/>
            <a:ext cx="2670048" cy="3566160"/>
          </a:xfrm>
          <a:prstGeom prst="rect">
            <a:avLst/>
          </a:prstGeom>
          <a:noFill/>
        </p:spPr>
        <p:txBody>
          <a:bodyPr wrap="square" lIns="45720" rIns="45720" tIns="18288" bIns="18288" anchor="t">
            <a:spAutoFit/>
          </a:bodyPr>
          <a:lstStyle/>
          <a:p>
            <a:pPr algn="l"/>
            <a:r>
              <a:rPr sz="850" b="1" i="0">
                <a:solidFill>
                  <a:srgbClr val="27AE60"/>
                </a:solidFill>
                <a:latin typeface="Calibri"/>
              </a:rPr>
              <a:t>✓  </a:t>
            </a:r>
            <a:r>
              <a:rPr sz="850" b="0" i="0">
                <a:solidFill>
                  <a:srgbClr val="5D6D7E"/>
                </a:solidFill>
                <a:latin typeface="Calibri"/>
              </a:rPr>
              <a:t>La borne à horizon fini, avec son domaine d'informativité délimité</a:t>
            </a:r>
          </a:p>
          <a:p>
            <a:pPr algn="l"/>
            <a:r>
              <a:rPr sz="850" b="1" i="0">
                <a:solidFill>
                  <a:srgbClr val="27AE60"/>
                </a:solidFill>
                <a:latin typeface="Calibri"/>
              </a:rPr>
              <a:t>✓  </a:t>
            </a:r>
            <a:r>
              <a:rPr sz="850" b="0" i="0">
                <a:solidFill>
                  <a:srgbClr val="5D6D7E"/>
                </a:solidFill>
                <a:latin typeface="Calibri"/>
              </a:rPr>
              <a:t>Le certificat déterministe sur le budget mesuré</a:t>
            </a:r>
          </a:p>
          <a:p>
            <a:pPr algn="l"/>
            <a:r>
              <a:rPr sz="850" b="1" i="0">
                <a:solidFill>
                  <a:srgbClr val="27AE60"/>
                </a:solidFill>
                <a:latin typeface="Calibri"/>
              </a:rPr>
              <a:t>✓  </a:t>
            </a:r>
            <a:r>
              <a:rPr sz="850" b="0" i="0">
                <a:solidFill>
                  <a:srgbClr val="5D6D7E"/>
                </a:solidFill>
                <a:latin typeface="Calibri"/>
              </a:rPr>
              <a:t>La borne sans hypothèse de dépendance</a:t>
            </a:r>
          </a:p>
          <a:p>
            <a:pPr algn="l"/>
            <a:r>
              <a:rPr sz="850" b="1" i="0">
                <a:solidFill>
                  <a:srgbClr val="27AE60"/>
                </a:solidFill>
                <a:latin typeface="Calibri"/>
              </a:rPr>
              <a:t>✓  </a:t>
            </a:r>
            <a:r>
              <a:rPr sz="850" b="0" i="0">
                <a:solidFill>
                  <a:srgbClr val="5D6D7E"/>
                </a:solidFill>
                <a:latin typeface="Calibri"/>
              </a:rPr>
              <a:t>La condition suffisante de calibration, et ses deux prédicats</a:t>
            </a:r>
          </a:p>
          <a:p>
            <a:pPr algn="l"/>
            <a:r>
              <a:rPr sz="850" b="1" i="0">
                <a:solidFill>
                  <a:srgbClr val="27AE60"/>
                </a:solidFill>
                <a:latin typeface="Calibri"/>
              </a:rPr>
              <a:t>✓  </a:t>
            </a:r>
            <a:r>
              <a:rPr sz="850" b="0" i="0">
                <a:solidFill>
                  <a:srgbClr val="5D6D7E"/>
                </a:solidFill>
                <a:latin typeface="Calibri"/>
              </a:rPr>
              <a:t>Le plancher de détectabilité et le seuil opérationnel</a:t>
            </a:r>
          </a:p>
          <a:p>
            <a:pPr algn="l"/>
            <a:r>
              <a:rPr sz="850" b="1" i="0">
                <a:solidFill>
                  <a:srgbClr val="27AE60"/>
                </a:solidFill>
                <a:latin typeface="Calibri"/>
              </a:rPr>
              <a:t>✓  </a:t>
            </a:r>
            <a:r>
              <a:rPr sz="850" b="0" i="0">
                <a:solidFill>
                  <a:srgbClr val="5D6D7E"/>
                </a:solidFill>
                <a:latin typeface="Calibri"/>
              </a:rPr>
              <a:t>La cloche d'évidence et la carte de détection</a:t>
            </a:r>
          </a:p>
        </p:txBody>
      </p:sp>
      <p:sp>
        <p:nvSpPr>
          <p:cNvPr id="8" name="Rectangle 7"/>
          <p:cNvSpPr/>
          <p:nvPr/>
        </p:nvSpPr>
        <p:spPr>
          <a:xfrm>
            <a:off x="3191256" y="658368"/>
            <a:ext cx="2761488" cy="2926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91256" y="658368"/>
            <a:ext cx="2761488" cy="292608"/>
          </a:xfrm>
          <a:prstGeom prst="rect">
            <a:avLst/>
          </a:prstGeom>
          <a:noFill/>
        </p:spPr>
        <p:txBody>
          <a:bodyPr wrap="square" lIns="45720" rIns="45720" tIns="18288" bIns="18288" anchor="ctr">
            <a:spAutoFit/>
          </a:bodyPr>
          <a:lstStyle/>
          <a:p>
            <a:pPr algn="ctr"/>
            <a:r>
              <a:rPr sz="900" b="1" i="0">
                <a:solidFill>
                  <a:srgbClr val="FFFFFF"/>
                </a:solidFill>
                <a:latin typeface="Calibri"/>
              </a:rPr>
              <a:t>Retiré, avec le motif écrit</a:t>
            </a:r>
          </a:p>
        </p:txBody>
      </p:sp>
      <p:sp>
        <p:nvSpPr>
          <p:cNvPr id="10" name="TextBox 9"/>
          <p:cNvSpPr txBox="1"/>
          <p:nvPr/>
        </p:nvSpPr>
        <p:spPr>
          <a:xfrm>
            <a:off x="3236976" y="1097280"/>
            <a:ext cx="2670048" cy="3566160"/>
          </a:xfrm>
          <a:prstGeom prst="rect">
            <a:avLst/>
          </a:prstGeom>
          <a:noFill/>
        </p:spPr>
        <p:txBody>
          <a:bodyPr wrap="square" lIns="45720" rIns="45720" tIns="18288" bIns="18288" anchor="t">
            <a:spAutoFit/>
          </a:bodyPr>
          <a:lstStyle/>
          <a:p>
            <a:pPr algn="l"/>
            <a:r>
              <a:rPr sz="850" b="1" i="0">
                <a:solidFill>
                  <a:srgbClr val="C0392B"/>
                </a:solidFill>
                <a:latin typeface="Calibri"/>
              </a:rPr>
              <a:t>✗  </a:t>
            </a:r>
            <a:r>
              <a:rPr sz="850" b="0" i="0">
                <a:solidFill>
                  <a:srgbClr val="5D6D7E"/>
                </a:solidFill>
                <a:latin typeface="Calibri"/>
              </a:rPr>
              <a:t>Le biconditionnel du principe de découplage</a:t>
            </a:r>
          </a:p>
          <a:p>
            <a:pPr algn="l"/>
            <a:r>
              <a:rPr sz="850" b="1" i="0">
                <a:solidFill>
                  <a:srgbClr val="C0392B"/>
                </a:solidFill>
                <a:latin typeface="Calibri"/>
              </a:rPr>
              <a:t>✗  </a:t>
            </a:r>
            <a:r>
              <a:rPr sz="850" b="0" i="0">
                <a:solidFill>
                  <a:srgbClr val="5D6D7E"/>
                </a:solidFill>
                <a:latin typeface="Calibri"/>
              </a:rPr>
              <a:t>La taille critique d'ensemble</a:t>
            </a:r>
          </a:p>
          <a:p>
            <a:pPr algn="l"/>
            <a:r>
              <a:rPr sz="850" b="1" i="0">
                <a:solidFill>
                  <a:srgbClr val="C0392B"/>
                </a:solidFill>
                <a:latin typeface="Calibri"/>
              </a:rPr>
              <a:t>✗  </a:t>
            </a:r>
            <a:r>
              <a:rPr sz="850" b="0" i="0">
                <a:solidFill>
                  <a:srgbClr val="5D6D7E"/>
                </a:solidFill>
                <a:latin typeface="Calibri"/>
              </a:rPr>
              <a:t>Le substitut rectangulaire du budget de preuve</a:t>
            </a:r>
          </a:p>
          <a:p>
            <a:pPr algn="l"/>
            <a:r>
              <a:rPr sz="850" b="1" i="0">
                <a:solidFill>
                  <a:srgbClr val="C0392B"/>
                </a:solidFill>
                <a:latin typeface="Calibri"/>
              </a:rPr>
              <a:t>✗  </a:t>
            </a:r>
            <a:r>
              <a:rPr sz="850" b="0" i="0">
                <a:solidFill>
                  <a:srgbClr val="5D6D7E"/>
                </a:solidFill>
                <a:latin typeface="Calibri"/>
              </a:rPr>
              <a:t>L'exigence de preuve du détecteur à distances entre erreurs</a:t>
            </a:r>
          </a:p>
          <a:p>
            <a:pPr algn="l"/>
            <a:r>
              <a:rPr sz="850" b="1" i="0">
                <a:solidFill>
                  <a:srgbClr val="C0392B"/>
                </a:solidFill>
                <a:latin typeface="Calibri"/>
              </a:rPr>
              <a:t>✗  </a:t>
            </a:r>
            <a:r>
              <a:rPr sz="850" b="0" i="0">
                <a:solidFill>
                  <a:srgbClr val="5D6D7E"/>
                </a:solidFill>
                <a:latin typeface="Calibri"/>
              </a:rPr>
              <a:t>L'immunité structurelle du détecteur à fenêtres</a:t>
            </a:r>
          </a:p>
          <a:p>
            <a:pPr algn="l"/>
            <a:r>
              <a:rPr sz="850" b="1" i="0">
                <a:solidFill>
                  <a:srgbClr val="C0392B"/>
                </a:solidFill>
                <a:latin typeface="Calibri"/>
              </a:rPr>
              <a:t>✗  </a:t>
            </a:r>
            <a:r>
              <a:rPr sz="850" b="0" i="0">
                <a:solidFill>
                  <a:srgbClr val="5D6D7E"/>
                </a:solidFill>
                <a:latin typeface="Calibri"/>
              </a:rPr>
              <a:t>Toute affirmation de plancher de latence</a:t>
            </a:r>
          </a:p>
        </p:txBody>
      </p:sp>
      <p:sp>
        <p:nvSpPr>
          <p:cNvPr id="11" name="Rectangle 10"/>
          <p:cNvSpPr/>
          <p:nvPr/>
        </p:nvSpPr>
        <p:spPr>
          <a:xfrm>
            <a:off x="6108192" y="658368"/>
            <a:ext cx="2761488" cy="292608"/>
          </a:xfrm>
          <a:prstGeom prst="rect">
            <a:avLst/>
          </a:prstGeom>
          <a:solidFill>
            <a:srgbClr val="5D6D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08192" y="658368"/>
            <a:ext cx="2761488" cy="292608"/>
          </a:xfrm>
          <a:prstGeom prst="rect">
            <a:avLst/>
          </a:prstGeom>
          <a:noFill/>
        </p:spPr>
        <p:txBody>
          <a:bodyPr wrap="square" lIns="45720" rIns="45720" tIns="18288" bIns="18288" anchor="ctr">
            <a:spAutoFit/>
          </a:bodyPr>
          <a:lstStyle/>
          <a:p>
            <a:pPr algn="ctr"/>
            <a:r>
              <a:rPr sz="900" b="1" i="0">
                <a:solidFill>
                  <a:srgbClr val="FFFFFF"/>
                </a:solidFill>
                <a:latin typeface="Calibri"/>
              </a:rPr>
              <a:t>Déclaré non mesurable</a:t>
            </a:r>
          </a:p>
        </p:txBody>
      </p:sp>
      <p:sp>
        <p:nvSpPr>
          <p:cNvPr id="13" name="TextBox 12"/>
          <p:cNvSpPr txBox="1"/>
          <p:nvPr/>
        </p:nvSpPr>
        <p:spPr>
          <a:xfrm>
            <a:off x="6153912" y="1097280"/>
            <a:ext cx="2670048" cy="3566160"/>
          </a:xfrm>
          <a:prstGeom prst="rect">
            <a:avLst/>
          </a:prstGeom>
          <a:noFill/>
        </p:spPr>
        <p:txBody>
          <a:bodyPr wrap="square" lIns="45720" rIns="45720" tIns="18288" bIns="18288" anchor="t">
            <a:spAutoFit/>
          </a:bodyPr>
          <a:lstStyle/>
          <a:p>
            <a:pPr algn="l"/>
            <a:r>
              <a:rPr sz="850" b="1" i="0">
                <a:solidFill>
                  <a:srgbClr val="8A9BB0"/>
                </a:solidFill>
                <a:latin typeface="Calibri"/>
              </a:rPr>
              <a:t>?  </a:t>
            </a:r>
            <a:r>
              <a:rPr sz="850" b="0" i="0">
                <a:solidFill>
                  <a:srgbClr val="5D6D7E"/>
                </a:solidFill>
                <a:latin typeface="Calibri"/>
              </a:rPr>
              <a:t>Le biais de fenêtre du socle d'erreur — les traces ne portent pas de phase pré-rupture assez longue. Aucune constante ne le remplace.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Annexe — Références</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30</a:t>
            </a:r>
          </a:p>
        </p:txBody>
      </p:sp>
      <p:sp>
        <p:nvSpPr>
          <p:cNvPr id="5" name="TextBox 4"/>
          <p:cNvSpPr txBox="1"/>
          <p:nvPr/>
        </p:nvSpPr>
        <p:spPr>
          <a:xfrm>
            <a:off x="274320" y="658368"/>
            <a:ext cx="8595360" cy="201168"/>
          </a:xfrm>
          <a:prstGeom prst="rect">
            <a:avLst/>
          </a:prstGeom>
          <a:noFill/>
        </p:spPr>
        <p:txBody>
          <a:bodyPr wrap="square" lIns="45720" rIns="45720" tIns="18288" bIns="18288" anchor="t">
            <a:spAutoFit/>
          </a:bodyPr>
          <a:lstStyle/>
          <a:p>
            <a:pPr algn="l"/>
            <a:r>
              <a:rPr sz="900" b="1" i="0">
                <a:solidFill>
                  <a:srgbClr val="E08000"/>
                </a:solidFill>
                <a:latin typeface="Calibri"/>
              </a:rPr>
              <a:t>Apprentissage sur flux</a:t>
            </a:r>
          </a:p>
        </p:txBody>
      </p:sp>
      <p:sp>
        <p:nvSpPr>
          <p:cNvPr id="6" name="TextBox 5"/>
          <p:cNvSpPr txBox="1"/>
          <p:nvPr/>
        </p:nvSpPr>
        <p:spPr>
          <a:xfrm>
            <a:off x="274320" y="877824"/>
            <a:ext cx="8595360" cy="731520"/>
          </a:xfrm>
          <a:prstGeom prst="rect">
            <a:avLst/>
          </a:prstGeom>
          <a:noFill/>
        </p:spPr>
        <p:txBody>
          <a:bodyPr wrap="square" lIns="45720" rIns="45720" tIns="18288" bIns="18288" anchor="t">
            <a:spAutoFit/>
          </a:bodyPr>
          <a:lstStyle/>
          <a:p>
            <a:pPr algn="l"/>
            <a:r>
              <a:rPr sz="800" b="0" i="0">
                <a:solidFill>
                  <a:srgbClr val="5D6D7E"/>
                </a:solidFill>
                <a:latin typeface="Calibri"/>
              </a:rPr>
              <a:t>Gomes, Bifet, Read et al. (2017), </a:t>
            </a:r>
            <a:r>
              <a:rPr sz="800" b="0" i="1">
                <a:solidFill>
                  <a:srgbClr val="2C3E50"/>
                </a:solidFill>
                <a:latin typeface="Calibri"/>
              </a:rPr>
              <a:t>Adaptive random forests for evolving data stream classification</a:t>
            </a:r>
            <a:r>
              <a:rPr sz="800" b="0" i="0">
                <a:solidFill>
                  <a:srgbClr val="5D6D7E"/>
                </a:solidFill>
                <a:latin typeface="Calibri"/>
              </a:rPr>
              <a:t>, Machine Learning 106 — </a:t>
            </a:r>
            <a:r>
              <a:rPr sz="800" b="0" i="0" u="sng">
                <a:solidFill>
                  <a:srgbClr val="2980B9"/>
                </a:solidFill>
                <a:latin typeface="Calibri"/>
              </a:rPr>
              <a:t>https://doi.org/10.1007/s10994-017-5642-8</a:t>
            </a:r>
          </a:p>
          <a:p>
            <a:pPr algn="l"/>
            <a:r>
              <a:rPr sz="800" b="0" i="0">
                <a:solidFill>
                  <a:srgbClr val="5D6D7E"/>
                </a:solidFill>
                <a:latin typeface="Calibri"/>
              </a:rPr>
              <a:t>Bifet &amp; Gavaldà (2007), </a:t>
            </a:r>
            <a:r>
              <a:rPr sz="800" b="0" i="1">
                <a:solidFill>
                  <a:srgbClr val="2C3E50"/>
                </a:solidFill>
                <a:latin typeface="Calibri"/>
              </a:rPr>
              <a:t>Learning from time-changing data with adaptive windowing</a:t>
            </a:r>
            <a:r>
              <a:rPr sz="800" b="0" i="0">
                <a:solidFill>
                  <a:srgbClr val="5D6D7E"/>
                </a:solidFill>
                <a:latin typeface="Calibri"/>
              </a:rPr>
              <a:t>, SDM</a:t>
            </a:r>
          </a:p>
          <a:p>
            <a:pPr algn="l"/>
            <a:r>
              <a:rPr sz="800" b="0" i="0">
                <a:solidFill>
                  <a:srgbClr val="5D6D7E"/>
                </a:solidFill>
                <a:latin typeface="Calibri"/>
              </a:rPr>
              <a:t>Montiel, Halford, Mastelini et al. (2021), </a:t>
            </a:r>
            <a:r>
              <a:rPr sz="800" b="0" i="1">
                <a:solidFill>
                  <a:srgbClr val="2C3E50"/>
                </a:solidFill>
                <a:latin typeface="Calibri"/>
              </a:rPr>
              <a:t>River: machine learning for streaming data in Python</a:t>
            </a:r>
            <a:r>
              <a:rPr sz="800" b="0" i="0">
                <a:solidFill>
                  <a:srgbClr val="5D6D7E"/>
                </a:solidFill>
                <a:latin typeface="Calibri"/>
              </a:rPr>
              <a:t>, JMLR 22 — </a:t>
            </a:r>
            <a:r>
              <a:rPr sz="800" b="0" i="0" u="sng">
                <a:solidFill>
                  <a:srgbClr val="2980B9"/>
                </a:solidFill>
                <a:latin typeface="Calibri"/>
              </a:rPr>
              <a:t>https://jmlr.org/papers/v22/20-1380.html</a:t>
            </a:r>
          </a:p>
          <a:p>
            <a:pPr algn="l"/>
            <a:r>
              <a:rPr sz="800" b="0" i="0">
                <a:solidFill>
                  <a:srgbClr val="5D6D7E"/>
                </a:solidFill>
                <a:latin typeface="Calibri"/>
              </a:rPr>
              <a:t>Gama, Žliobaitė, Bifet et al. (2014), </a:t>
            </a:r>
            <a:r>
              <a:rPr sz="800" b="0" i="1">
                <a:solidFill>
                  <a:srgbClr val="2C3E50"/>
                </a:solidFill>
                <a:latin typeface="Calibri"/>
              </a:rPr>
              <a:t>A survey on concept drift adaptation</a:t>
            </a:r>
            <a:r>
              <a:rPr sz="800" b="0" i="0">
                <a:solidFill>
                  <a:srgbClr val="5D6D7E"/>
                </a:solidFill>
                <a:latin typeface="Calibri"/>
              </a:rPr>
              <a:t>, ACM Computing Surveys 46 — </a:t>
            </a:r>
            <a:r>
              <a:rPr sz="800" b="0" i="0" u="sng">
                <a:solidFill>
                  <a:srgbClr val="2980B9"/>
                </a:solidFill>
                <a:latin typeface="Calibri"/>
              </a:rPr>
              <a:t>https://doi.org/10.1145/2523813</a:t>
            </a:r>
          </a:p>
        </p:txBody>
      </p:sp>
      <p:sp>
        <p:nvSpPr>
          <p:cNvPr id="7" name="TextBox 6"/>
          <p:cNvSpPr txBox="1"/>
          <p:nvPr/>
        </p:nvSpPr>
        <p:spPr>
          <a:xfrm>
            <a:off x="274320" y="1536192"/>
            <a:ext cx="8595360" cy="201168"/>
          </a:xfrm>
          <a:prstGeom prst="rect">
            <a:avLst/>
          </a:prstGeom>
          <a:noFill/>
        </p:spPr>
        <p:txBody>
          <a:bodyPr wrap="square" lIns="45720" rIns="45720" tIns="18288" bIns="18288" anchor="t">
            <a:spAutoFit/>
          </a:bodyPr>
          <a:lstStyle/>
          <a:p>
            <a:pPr algn="l"/>
            <a:r>
              <a:rPr sz="900" b="1" i="0">
                <a:solidFill>
                  <a:srgbClr val="E08000"/>
                </a:solidFill>
                <a:latin typeface="Calibri"/>
              </a:rPr>
              <a:t>Détection séquentielle de rupture</a:t>
            </a:r>
          </a:p>
        </p:txBody>
      </p:sp>
      <p:sp>
        <p:nvSpPr>
          <p:cNvPr id="8" name="TextBox 7"/>
          <p:cNvSpPr txBox="1"/>
          <p:nvPr/>
        </p:nvSpPr>
        <p:spPr>
          <a:xfrm>
            <a:off x="274320" y="1755648"/>
            <a:ext cx="8595360" cy="868680"/>
          </a:xfrm>
          <a:prstGeom prst="rect">
            <a:avLst/>
          </a:prstGeom>
          <a:noFill/>
        </p:spPr>
        <p:txBody>
          <a:bodyPr wrap="square" lIns="45720" rIns="45720" tIns="18288" bIns="18288" anchor="t">
            <a:spAutoFit/>
          </a:bodyPr>
          <a:lstStyle/>
          <a:p>
            <a:pPr algn="l"/>
            <a:r>
              <a:rPr sz="800" b="0" i="0">
                <a:solidFill>
                  <a:srgbClr val="5D6D7E"/>
                </a:solidFill>
                <a:latin typeface="Calibri"/>
              </a:rPr>
              <a:t>Page (1954), </a:t>
            </a:r>
            <a:r>
              <a:rPr sz="800" b="0" i="1">
                <a:solidFill>
                  <a:srgbClr val="2C3E50"/>
                </a:solidFill>
                <a:latin typeface="Calibri"/>
              </a:rPr>
              <a:t>Continuous inspection schemes</a:t>
            </a:r>
            <a:r>
              <a:rPr sz="800" b="0" i="0">
                <a:solidFill>
                  <a:srgbClr val="5D6D7E"/>
                </a:solidFill>
                <a:latin typeface="Calibri"/>
              </a:rPr>
              <a:t>, Biometrika 41 — </a:t>
            </a:r>
            <a:r>
              <a:rPr sz="800" b="0" i="0" u="sng">
                <a:solidFill>
                  <a:srgbClr val="2980B9"/>
                </a:solidFill>
                <a:latin typeface="Calibri"/>
              </a:rPr>
              <a:t>https://doi.org/10.1093/biomet/41.1-2.100</a:t>
            </a:r>
          </a:p>
          <a:p>
            <a:pPr algn="l"/>
            <a:r>
              <a:rPr sz="800" b="0" i="0">
                <a:solidFill>
                  <a:srgbClr val="5D6D7E"/>
                </a:solidFill>
                <a:latin typeface="Calibri"/>
              </a:rPr>
              <a:t>Lorden (1971), </a:t>
            </a:r>
            <a:r>
              <a:rPr sz="800" b="0" i="1">
                <a:solidFill>
                  <a:srgbClr val="2C3E50"/>
                </a:solidFill>
                <a:latin typeface="Calibri"/>
              </a:rPr>
              <a:t>Procedures for reacting to a change in distribution</a:t>
            </a:r>
            <a:r>
              <a:rPr sz="800" b="0" i="0">
                <a:solidFill>
                  <a:srgbClr val="5D6D7E"/>
                </a:solidFill>
                <a:latin typeface="Calibri"/>
              </a:rPr>
              <a:t>, Annals of Mathematical Statistics 42</a:t>
            </a:r>
          </a:p>
          <a:p>
            <a:pPr algn="l"/>
            <a:r>
              <a:rPr sz="800" b="0" i="0">
                <a:solidFill>
                  <a:srgbClr val="5D6D7E"/>
                </a:solidFill>
                <a:latin typeface="Calibri"/>
              </a:rPr>
              <a:t>Moustakides (1986), </a:t>
            </a:r>
            <a:r>
              <a:rPr sz="800" b="0" i="1">
                <a:solidFill>
                  <a:srgbClr val="2C3E50"/>
                </a:solidFill>
                <a:latin typeface="Calibri"/>
              </a:rPr>
              <a:t>Optimal stopping times for detecting changes in distributions</a:t>
            </a:r>
            <a:r>
              <a:rPr sz="800" b="0" i="0">
                <a:solidFill>
                  <a:srgbClr val="5D6D7E"/>
                </a:solidFill>
                <a:latin typeface="Calibri"/>
              </a:rPr>
              <a:t>, Annals of Statistics 14</a:t>
            </a:r>
          </a:p>
          <a:p>
            <a:pPr algn="l"/>
            <a:r>
              <a:rPr sz="800" b="0" i="0">
                <a:solidFill>
                  <a:srgbClr val="5D6D7E"/>
                </a:solidFill>
                <a:latin typeface="Calibri"/>
              </a:rPr>
              <a:t>Siegmund (1985), </a:t>
            </a:r>
            <a:r>
              <a:rPr sz="800" b="0" i="1">
                <a:solidFill>
                  <a:srgbClr val="2C3E50"/>
                </a:solidFill>
                <a:latin typeface="Calibri"/>
              </a:rPr>
              <a:t>Sequential Analysis</a:t>
            </a:r>
            <a:r>
              <a:rPr sz="800" b="0" i="0">
                <a:solidFill>
                  <a:srgbClr val="5D6D7E"/>
                </a:solidFill>
                <a:latin typeface="Calibri"/>
              </a:rPr>
              <a:t>, Springer</a:t>
            </a:r>
          </a:p>
          <a:p>
            <a:pPr algn="l"/>
            <a:r>
              <a:rPr sz="800" b="0" i="0">
                <a:solidFill>
                  <a:srgbClr val="5D6D7E"/>
                </a:solidFill>
                <a:latin typeface="Calibri"/>
              </a:rPr>
              <a:t>Tartakovsky, Nikiforov &amp; Basseville (2014), </a:t>
            </a:r>
            <a:r>
              <a:rPr sz="800" b="0" i="1">
                <a:solidFill>
                  <a:srgbClr val="2C3E50"/>
                </a:solidFill>
                <a:latin typeface="Calibri"/>
              </a:rPr>
              <a:t>Sequential Analysis</a:t>
            </a:r>
            <a:r>
              <a:rPr sz="800" b="0" i="0">
                <a:solidFill>
                  <a:srgbClr val="5D6D7E"/>
                </a:solidFill>
                <a:latin typeface="Calibri"/>
              </a:rPr>
              <a:t>, CRC Press</a:t>
            </a:r>
          </a:p>
        </p:txBody>
      </p:sp>
      <p:sp>
        <p:nvSpPr>
          <p:cNvPr id="9" name="TextBox 8"/>
          <p:cNvSpPr txBox="1"/>
          <p:nvPr/>
        </p:nvSpPr>
        <p:spPr>
          <a:xfrm>
            <a:off x="274320" y="2551176"/>
            <a:ext cx="8595360" cy="201168"/>
          </a:xfrm>
          <a:prstGeom prst="rect">
            <a:avLst/>
          </a:prstGeom>
          <a:noFill/>
        </p:spPr>
        <p:txBody>
          <a:bodyPr wrap="square" lIns="45720" rIns="45720" tIns="18288" bIns="18288" anchor="t">
            <a:spAutoFit/>
          </a:bodyPr>
          <a:lstStyle/>
          <a:p>
            <a:pPr algn="l"/>
            <a:r>
              <a:rPr sz="900" b="1" i="0">
                <a:solidFill>
                  <a:srgbClr val="E08000"/>
                </a:solidFill>
                <a:latin typeface="Calibri"/>
              </a:rPr>
              <a:t>Concentration et dépendance</a:t>
            </a:r>
          </a:p>
        </p:txBody>
      </p:sp>
      <p:sp>
        <p:nvSpPr>
          <p:cNvPr id="10" name="TextBox 9"/>
          <p:cNvSpPr txBox="1"/>
          <p:nvPr/>
        </p:nvSpPr>
        <p:spPr>
          <a:xfrm>
            <a:off x="274320" y="2770632"/>
            <a:ext cx="8595360" cy="594359"/>
          </a:xfrm>
          <a:prstGeom prst="rect">
            <a:avLst/>
          </a:prstGeom>
          <a:noFill/>
        </p:spPr>
        <p:txBody>
          <a:bodyPr wrap="square" lIns="45720" rIns="45720" tIns="18288" bIns="18288" anchor="t">
            <a:spAutoFit/>
          </a:bodyPr>
          <a:lstStyle/>
          <a:p>
            <a:pPr algn="l"/>
            <a:r>
              <a:rPr sz="800" b="0" i="0">
                <a:solidFill>
                  <a:srgbClr val="5D6D7E"/>
                </a:solidFill>
                <a:latin typeface="Calibri"/>
              </a:rPr>
              <a:t>Hoeffding (1963), </a:t>
            </a:r>
            <a:r>
              <a:rPr sz="800" b="0" i="1">
                <a:solidFill>
                  <a:srgbClr val="2C3E50"/>
                </a:solidFill>
                <a:latin typeface="Calibri"/>
              </a:rPr>
              <a:t>Probability inequalities for sums of bounded random variables</a:t>
            </a:r>
            <a:r>
              <a:rPr sz="800" b="0" i="0">
                <a:solidFill>
                  <a:srgbClr val="5D6D7E"/>
                </a:solidFill>
                <a:latin typeface="Calibri"/>
              </a:rPr>
              <a:t>, JASA 58 — </a:t>
            </a:r>
            <a:r>
              <a:rPr sz="800" b="0" i="0" u="sng">
                <a:solidFill>
                  <a:srgbClr val="2980B9"/>
                </a:solidFill>
                <a:latin typeface="Calibri"/>
              </a:rPr>
              <a:t>https://doi.org/10.1080/01621459.1963.10500830</a:t>
            </a:r>
          </a:p>
          <a:p>
            <a:pPr algn="l"/>
            <a:r>
              <a:rPr sz="800" b="0" i="0">
                <a:solidFill>
                  <a:srgbClr val="5D6D7E"/>
                </a:solidFill>
                <a:latin typeface="Calibri"/>
              </a:rPr>
              <a:t>Esary, Proschan &amp; Walkup (1967), </a:t>
            </a:r>
            <a:r>
              <a:rPr sz="800" b="0" i="1">
                <a:solidFill>
                  <a:srgbClr val="2C3E50"/>
                </a:solidFill>
                <a:latin typeface="Calibri"/>
              </a:rPr>
              <a:t>Association of random variables</a:t>
            </a:r>
            <a:r>
              <a:rPr sz="800" b="0" i="0">
                <a:solidFill>
                  <a:srgbClr val="5D6D7E"/>
                </a:solidFill>
                <a:latin typeface="Calibri"/>
              </a:rPr>
              <a:t>, Annals of Mathematical Statistics 38</a:t>
            </a:r>
          </a:p>
          <a:p>
            <a:pPr algn="l"/>
            <a:r>
              <a:rPr sz="800" b="0" i="0">
                <a:solidFill>
                  <a:srgbClr val="5D6D7E"/>
                </a:solidFill>
                <a:latin typeface="Calibri"/>
              </a:rPr>
              <a:t>Fine &amp; Gray (1999), </a:t>
            </a:r>
            <a:r>
              <a:rPr sz="800" b="0" i="1">
                <a:solidFill>
                  <a:srgbClr val="2C3E50"/>
                </a:solidFill>
                <a:latin typeface="Calibri"/>
              </a:rPr>
              <a:t>A proportional hazards model for the subdistribution of a competing risk</a:t>
            </a:r>
            <a:r>
              <a:rPr sz="800" b="0" i="0">
                <a:solidFill>
                  <a:srgbClr val="5D6D7E"/>
                </a:solidFill>
                <a:latin typeface="Calibri"/>
              </a:rPr>
              <a:t>, JASA 94</a:t>
            </a:r>
          </a:p>
        </p:txBody>
      </p:sp>
      <p:sp>
        <p:nvSpPr>
          <p:cNvPr id="11" name="TextBox 10"/>
          <p:cNvSpPr txBox="1"/>
          <p:nvPr/>
        </p:nvSpPr>
        <p:spPr>
          <a:xfrm>
            <a:off x="274320" y="3291840"/>
            <a:ext cx="8595360" cy="201168"/>
          </a:xfrm>
          <a:prstGeom prst="rect">
            <a:avLst/>
          </a:prstGeom>
          <a:noFill/>
        </p:spPr>
        <p:txBody>
          <a:bodyPr wrap="square" lIns="45720" rIns="45720" tIns="18288" bIns="18288" anchor="t">
            <a:spAutoFit/>
          </a:bodyPr>
          <a:lstStyle/>
          <a:p>
            <a:pPr algn="l"/>
            <a:r>
              <a:rPr sz="900" b="1" i="0">
                <a:solidFill>
                  <a:srgbClr val="E08000"/>
                </a:solidFill>
                <a:latin typeface="Calibri"/>
              </a:rPr>
              <a:t>Détection de défaut en boucle fermée</a:t>
            </a:r>
          </a:p>
        </p:txBody>
      </p:sp>
      <p:sp>
        <p:nvSpPr>
          <p:cNvPr id="12" name="TextBox 11"/>
          <p:cNvSpPr txBox="1"/>
          <p:nvPr/>
        </p:nvSpPr>
        <p:spPr>
          <a:xfrm>
            <a:off x="274320" y="3511296"/>
            <a:ext cx="8595360" cy="457200"/>
          </a:xfrm>
          <a:prstGeom prst="rect">
            <a:avLst/>
          </a:prstGeom>
          <a:noFill/>
        </p:spPr>
        <p:txBody>
          <a:bodyPr wrap="square" lIns="45720" rIns="45720" tIns="18288" bIns="18288" anchor="t">
            <a:spAutoFit/>
          </a:bodyPr>
          <a:lstStyle/>
          <a:p>
            <a:pPr algn="l"/>
            <a:r>
              <a:rPr sz="800" b="0" i="0">
                <a:solidFill>
                  <a:srgbClr val="5D6D7E"/>
                </a:solidFill>
                <a:latin typeface="Calibri"/>
              </a:rPr>
              <a:t>Chen &amp; Patton (1999), </a:t>
            </a:r>
            <a:r>
              <a:rPr sz="800" b="0" i="1">
                <a:solidFill>
                  <a:srgbClr val="2C3E50"/>
                </a:solidFill>
                <a:latin typeface="Calibri"/>
              </a:rPr>
              <a:t>Robust Model-Based Fault Diagnosis for Dynamic Systems</a:t>
            </a:r>
            <a:r>
              <a:rPr sz="800" b="0" i="0">
                <a:solidFill>
                  <a:srgbClr val="5D6D7E"/>
                </a:solidFill>
                <a:latin typeface="Calibri"/>
              </a:rPr>
              <a:t>, Springer</a:t>
            </a:r>
          </a:p>
          <a:p>
            <a:pPr algn="l"/>
            <a:r>
              <a:rPr sz="800" b="0" i="0">
                <a:solidFill>
                  <a:srgbClr val="5D6D7E"/>
                </a:solidFill>
                <a:latin typeface="Calibri"/>
              </a:rPr>
              <a:t>Isermann (2006), </a:t>
            </a:r>
            <a:r>
              <a:rPr sz="800" b="0" i="1">
                <a:solidFill>
                  <a:srgbClr val="2C3E50"/>
                </a:solidFill>
                <a:latin typeface="Calibri"/>
              </a:rPr>
              <a:t>Fault-Diagnosis Systems</a:t>
            </a:r>
            <a:r>
              <a:rPr sz="800" b="0" i="0">
                <a:solidFill>
                  <a:srgbClr val="5D6D7E"/>
                </a:solidFill>
                <a:latin typeface="Calibri"/>
              </a:rPr>
              <a:t>, Springer</a:t>
            </a:r>
          </a:p>
        </p:txBody>
      </p:sp>
      <p:sp>
        <p:nvSpPr>
          <p:cNvPr id="13" name="TextBox 12"/>
          <p:cNvSpPr txBox="1"/>
          <p:nvPr/>
        </p:nvSpPr>
        <p:spPr>
          <a:xfrm>
            <a:off x="274320" y="3895344"/>
            <a:ext cx="8595360" cy="201168"/>
          </a:xfrm>
          <a:prstGeom prst="rect">
            <a:avLst/>
          </a:prstGeom>
          <a:noFill/>
        </p:spPr>
        <p:txBody>
          <a:bodyPr wrap="square" lIns="45720" rIns="45720" tIns="18288" bIns="18288" anchor="t">
            <a:spAutoFit/>
          </a:bodyPr>
          <a:lstStyle/>
          <a:p>
            <a:pPr algn="l"/>
            <a:r>
              <a:rPr sz="900" b="1" i="0">
                <a:solidFill>
                  <a:srgbClr val="E08000"/>
                </a:solidFill>
                <a:latin typeface="Calibri"/>
              </a:rPr>
              <a:t>Cadre réglementaire</a:t>
            </a:r>
          </a:p>
        </p:txBody>
      </p:sp>
      <p:sp>
        <p:nvSpPr>
          <p:cNvPr id="14" name="TextBox 13"/>
          <p:cNvSpPr txBox="1"/>
          <p:nvPr/>
        </p:nvSpPr>
        <p:spPr>
          <a:xfrm>
            <a:off x="274320" y="4114800"/>
            <a:ext cx="8595360" cy="320040"/>
          </a:xfrm>
          <a:prstGeom prst="rect">
            <a:avLst/>
          </a:prstGeom>
          <a:noFill/>
        </p:spPr>
        <p:txBody>
          <a:bodyPr wrap="square" lIns="45720" rIns="45720" tIns="18288" bIns="18288" anchor="t">
            <a:spAutoFit/>
          </a:bodyPr>
          <a:lstStyle/>
          <a:p>
            <a:pPr algn="l"/>
            <a:r>
              <a:rPr sz="800" b="0" i="0">
                <a:solidFill>
                  <a:srgbClr val="5D6D7E"/>
                </a:solidFill>
                <a:latin typeface="Calibri"/>
              </a:rPr>
              <a:t>Règlement (UE) 2024/1689 sur l'intelligence artificielle — </a:t>
            </a:r>
            <a:r>
              <a:rPr sz="800" b="0" i="0" u="sng">
                <a:solidFill>
                  <a:srgbClr val="2980B9"/>
                </a:solidFill>
                <a:latin typeface="Calibri"/>
              </a:rPr>
              <a:t>https://eur-lex.europa.eu/eli/reg/2024/1689/oj</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